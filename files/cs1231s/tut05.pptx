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13" r:id="rId3"/>
    <p:sldId id="372" r:id="rId4"/>
    <p:sldId id="385" r:id="rId5"/>
    <p:sldId id="389" r:id="rId6"/>
    <p:sldId id="390" r:id="rId7"/>
    <p:sldId id="371" r:id="rId8"/>
    <p:sldId id="378" r:id="rId9"/>
    <p:sldId id="379" r:id="rId10"/>
    <p:sldId id="380" r:id="rId11"/>
    <p:sldId id="348" r:id="rId12"/>
    <p:sldId id="373" r:id="rId13"/>
    <p:sldId id="374" r:id="rId14"/>
    <p:sldId id="381" r:id="rId15"/>
    <p:sldId id="382" r:id="rId16"/>
    <p:sldId id="391" r:id="rId17"/>
    <p:sldId id="351" r:id="rId18"/>
    <p:sldId id="388" r:id="rId19"/>
    <p:sldId id="386" r:id="rId20"/>
    <p:sldId id="360" r:id="rId21"/>
    <p:sldId id="387" r:id="rId22"/>
    <p:sldId id="384" r:id="rId23"/>
    <p:sldId id="3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jay Saha" initials="SS" lastIdx="1" clrIdx="0">
    <p:extLst>
      <p:ext uri="{19B8F6BF-5375-455C-9EA6-DF929625EA0E}">
        <p15:presenceInfo xmlns:p15="http://schemas.microsoft.com/office/powerpoint/2012/main" userId="Sanjay S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0000FF"/>
    <a:srgbClr val="FFFFCC"/>
    <a:srgbClr val="FFCCCC"/>
    <a:srgbClr val="CCECFF"/>
    <a:srgbClr val="006600"/>
    <a:srgbClr val="000099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5" autoAdjust="0"/>
    <p:restoredTop sz="69374" autoAdjust="0"/>
  </p:normalViewPr>
  <p:slideViewPr>
    <p:cSldViewPr snapToGrid="0" snapToObjects="1">
      <p:cViewPr varScale="1">
        <p:scale>
          <a:sx n="64" d="100"/>
          <a:sy n="64" d="100"/>
        </p:scale>
        <p:origin x="1408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E0D1F-4E0B-470D-BE89-8B98D1F65AE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7DDD6-A43A-4F1F-AB30-FF9862BC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Should be short question. Not partial order, not antisymmetric.</a:t>
            </a:r>
          </a:p>
          <a:p>
            <a:r>
              <a:rPr lang="en-SG" dirty="0"/>
              <a:t>Counterexample: “</a:t>
            </a:r>
            <a:r>
              <a:rPr lang="en-SG" dirty="0" err="1"/>
              <a:t>su</a:t>
            </a:r>
            <a:r>
              <a:rPr lang="en-SG" dirty="0"/>
              <a:t>” R “us” and “us” R “</a:t>
            </a:r>
            <a:r>
              <a:rPr lang="en-SG" dirty="0" err="1"/>
              <a:t>su</a:t>
            </a:r>
            <a:r>
              <a:rPr lang="en-SG" dirty="0"/>
              <a:t> but “us” != “</a:t>
            </a:r>
            <a:r>
              <a:rPr lang="en-SG" dirty="0" err="1"/>
              <a:t>su</a:t>
            </a:r>
            <a:r>
              <a:rPr lang="en-SG" dirty="0"/>
              <a:t>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44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Short question.</a:t>
            </a:r>
          </a:p>
          <a:p>
            <a:r>
              <a:rPr lang="en-SG" dirty="0"/>
              <a:t>21 !R 7</a:t>
            </a:r>
          </a:p>
          <a:p>
            <a:r>
              <a:rPr lang="en-SG" dirty="0"/>
              <a:t>2   99</a:t>
            </a:r>
          </a:p>
          <a:p>
            <a:r>
              <a:rPr lang="en-SG" dirty="0"/>
              <a:t>3   30 </a:t>
            </a:r>
          </a:p>
          <a:p>
            <a:r>
              <a:rPr lang="en-SG" dirty="0"/>
              <a:t>5   21 84</a:t>
            </a:r>
          </a:p>
          <a:p>
            <a:r>
              <a:rPr lang="en-SG" dirty="0"/>
              <a:t>7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30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xRz</a:t>
            </a:r>
            <a:r>
              <a:rPr lang="en-SG" dirty="0"/>
              <a:t> </a:t>
            </a:r>
            <a:r>
              <a:rPr lang="en-SG" dirty="0" err="1"/>
              <a:t>iff</a:t>
            </a:r>
            <a:r>
              <a:rPr lang="en-SG" dirty="0"/>
              <a:t> either x = z, or the no. of x’s divisors &lt; the no. of z’s divisors.</a:t>
            </a:r>
          </a:p>
          <a:p>
            <a:r>
              <a:rPr lang="en-GB" dirty="0"/>
              <a:t>Minimal: thing with least divisors: 11, 13</a:t>
            </a:r>
          </a:p>
          <a:p>
            <a:r>
              <a:rPr lang="en-GB" dirty="0"/>
              <a:t>Smallest: none, since nothing is above one element</a:t>
            </a:r>
          </a:p>
          <a:p>
            <a:r>
              <a:rPr lang="en-GB" dirty="0"/>
              <a:t>Maximal: 12, with most divisors</a:t>
            </a:r>
          </a:p>
          <a:p>
            <a:r>
              <a:rPr lang="en-GB" dirty="0"/>
              <a:t>Largest: 12, since everything is below 12</a:t>
            </a:r>
          </a:p>
          <a:p>
            <a:endParaRPr lang="en-GB" dirty="0"/>
          </a:p>
          <a:p>
            <a:r>
              <a:rPr lang="en-GB" dirty="0"/>
              <a:t>Test: why do we have to have the first part of the partial order?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11, 13 at same position</a:t>
            </a:r>
          </a:p>
          <a:p>
            <a:r>
              <a:rPr lang="en-SG" dirty="0"/>
              <a:t>14, 15 at same position with 4 divisors</a:t>
            </a:r>
          </a:p>
          <a:p>
            <a:r>
              <a:rPr lang="en-SG" dirty="0"/>
              <a:t>16 with 16 divisors</a:t>
            </a:r>
          </a:p>
          <a:p>
            <a:r>
              <a:rPr lang="en-SG" dirty="0"/>
              <a:t>12: 6 divisors</a:t>
            </a:r>
          </a:p>
          <a:p>
            <a:endParaRPr lang="en-SG" dirty="0"/>
          </a:p>
          <a:p>
            <a:r>
              <a:rPr lang="en-SG" dirty="0"/>
              <a:t>Therefore, we only have 4 total </a:t>
            </a:r>
            <a:r>
              <a:rPr lang="en-SG" dirty="0" err="1"/>
              <a:t>linearizations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72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POSET: prove all parts</a:t>
            </a:r>
          </a:p>
          <a:p>
            <a:pPr marL="171450" indent="-171450">
              <a:buFontTx/>
              <a:buChar char="-"/>
            </a:pPr>
            <a:r>
              <a:rPr lang="en-SG" dirty="0"/>
              <a:t>Reflexivity: S subset of S by </a:t>
            </a:r>
            <a:r>
              <a:rPr lang="en-SG" dirty="0" err="1"/>
              <a:t>defn</a:t>
            </a:r>
            <a:endParaRPr lang="en-SG" dirty="0"/>
          </a:p>
          <a:p>
            <a:pPr marL="171450" indent="-171450">
              <a:buFontTx/>
              <a:buChar char="-"/>
            </a:pPr>
            <a:r>
              <a:rPr lang="en-SG" dirty="0" err="1"/>
              <a:t>Antisymmetry</a:t>
            </a:r>
            <a:r>
              <a:rPr lang="en-SG" dirty="0"/>
              <a:t>: S subset of T and T subset of S -&gt; S = T by </a:t>
            </a:r>
            <a:r>
              <a:rPr lang="en-SG" dirty="0" err="1"/>
              <a:t>defn</a:t>
            </a:r>
            <a:r>
              <a:rPr lang="en-SG" dirty="0"/>
              <a:t> of set equality</a:t>
            </a:r>
          </a:p>
          <a:p>
            <a:pPr marL="171450" indent="-171450">
              <a:buFontTx/>
              <a:buChar char="-"/>
            </a:pPr>
            <a:r>
              <a:rPr lang="en-SG" dirty="0"/>
              <a:t>Transitiviy: Theorem 6.2.1</a:t>
            </a:r>
          </a:p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34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SG" dirty="0"/>
              <a:t>Reflexivity quite trivial</a:t>
            </a:r>
          </a:p>
          <a:p>
            <a:pPr marL="171450" indent="-171450">
              <a:buFontTx/>
              <a:buChar char="-"/>
            </a:pPr>
            <a:r>
              <a:rPr lang="en-SG" dirty="0" err="1"/>
              <a:t>Antisymmetry</a:t>
            </a:r>
            <a:r>
              <a:rPr lang="en-SG" dirty="0"/>
              <a:t>: quite trivial, means that a = c and b = d BY ANTISYMMETRY OF &lt;=</a:t>
            </a:r>
            <a:r>
              <a:rPr lang="en-GB" dirty="0"/>
              <a:t>.</a:t>
            </a:r>
          </a:p>
          <a:p>
            <a:pPr marL="0" indent="0">
              <a:buFontTx/>
              <a:buNone/>
            </a:pPr>
            <a:r>
              <a:rPr lang="en-GB" dirty="0"/>
              <a:t>Therefore (</a:t>
            </a:r>
            <a:r>
              <a:rPr lang="en-GB" dirty="0" err="1"/>
              <a:t>a,b</a:t>
            </a:r>
            <a:r>
              <a:rPr lang="en-GB" dirty="0"/>
              <a:t>) = (</a:t>
            </a:r>
            <a:r>
              <a:rPr lang="en-GB" dirty="0" err="1"/>
              <a:t>c,d</a:t>
            </a:r>
            <a:r>
              <a:rPr lang="en-GB" dirty="0"/>
              <a:t>) by EQUALITY OF ORDERED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6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- Transitivity: again, just use transitivity of &lt;=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05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Hasse Diagram: just </a:t>
            </a:r>
            <a:r>
              <a:rPr lang="en-SG" dirty="0" err="1"/>
              <a:t>repr</a:t>
            </a:r>
            <a:r>
              <a:rPr lang="en-SG" dirty="0"/>
              <a:t> of partial order, with simplified arrows </a:t>
            </a:r>
            <a:r>
              <a:rPr lang="en-SG" dirty="0" err="1"/>
              <a:t>reperesentating</a:t>
            </a:r>
            <a:r>
              <a:rPr lang="en-SG" dirty="0"/>
              <a:t> relations.</a:t>
            </a:r>
          </a:p>
          <a:p>
            <a:r>
              <a:rPr lang="en-SG" dirty="0"/>
              <a:t>Maximal: (1,1)</a:t>
            </a:r>
          </a:p>
          <a:p>
            <a:r>
              <a:rPr lang="en-SG" dirty="0"/>
              <a:t>Largest: (1,1)</a:t>
            </a:r>
          </a:p>
          <a:p>
            <a:r>
              <a:rPr lang="en-SG" dirty="0"/>
              <a:t>Minimal: (0,0)</a:t>
            </a:r>
          </a:p>
          <a:p>
            <a:r>
              <a:rPr lang="en-SG" dirty="0"/>
              <a:t>Smallest: (0,0)</a:t>
            </a:r>
          </a:p>
          <a:p>
            <a:r>
              <a:rPr lang="en-SG" dirty="0"/>
              <a:t>Well-ordered </a:t>
            </a:r>
            <a:r>
              <a:rPr lang="en-SG" dirty="0" err="1"/>
              <a:t>defn</a:t>
            </a:r>
            <a:r>
              <a:rPr lang="en-SG" dirty="0"/>
              <a:t>: total order &amp;</a:t>
            </a:r>
          </a:p>
          <a:p>
            <a:r>
              <a:rPr lang="en-SG" dirty="0"/>
              <a:t>Total order: everything is the set A is comparable to one another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82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a) By definition of S, </a:t>
            </a:r>
            <a:r>
              <a:rPr lang="en-SG" dirty="0" err="1"/>
              <a:t>ez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43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Just by </a:t>
            </a:r>
            <a:r>
              <a:rPr lang="en-SG" dirty="0" err="1"/>
              <a:t>defn</a:t>
            </a:r>
            <a:r>
              <a:rPr lang="en-SG" dirty="0"/>
              <a:t> of 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46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(</a:t>
            </a:r>
            <a:r>
              <a:rPr lang="en-SG" dirty="0" err="1"/>
              <a:t>x,y</a:t>
            </a:r>
            <a:r>
              <a:rPr lang="en-SG" dirty="0"/>
              <a:t>) element of S</a:t>
            </a:r>
          </a:p>
          <a:p>
            <a:r>
              <a:rPr lang="en-SG" dirty="0"/>
              <a:t>Either x = y or </a:t>
            </a:r>
            <a:r>
              <a:rPr lang="en-SG" dirty="0" err="1"/>
              <a:t>xRy</a:t>
            </a:r>
            <a:endParaRPr lang="en-SG" dirty="0"/>
          </a:p>
          <a:p>
            <a:r>
              <a:rPr lang="en-SG" dirty="0" err="1"/>
              <a:t>xRx</a:t>
            </a:r>
            <a:r>
              <a:rPr lang="en-SG" dirty="0"/>
              <a:t> by reflexivity of S’</a:t>
            </a:r>
          </a:p>
          <a:p>
            <a:r>
              <a:rPr lang="en-SG" dirty="0"/>
              <a:t>Or </a:t>
            </a:r>
            <a:r>
              <a:rPr lang="en-SG" dirty="0" err="1"/>
              <a:t>xRy</a:t>
            </a:r>
            <a:r>
              <a:rPr lang="en-SG" dirty="0"/>
              <a:t>, means (</a:t>
            </a:r>
            <a:r>
              <a:rPr lang="en-SG" dirty="0" err="1"/>
              <a:t>x,y</a:t>
            </a:r>
            <a:r>
              <a:rPr lang="en-SG" dirty="0"/>
              <a:t>) element of R</a:t>
            </a:r>
          </a:p>
          <a:p>
            <a:r>
              <a:rPr lang="en-SG" dirty="0"/>
              <a:t>By subset, (</a:t>
            </a:r>
            <a:r>
              <a:rPr lang="en-SG" dirty="0" err="1"/>
              <a:t>x,y</a:t>
            </a:r>
            <a:r>
              <a:rPr lang="en-SG" dirty="0"/>
              <a:t>) element of S’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76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Asymmetry -&gt; </a:t>
            </a:r>
            <a:r>
              <a:rPr lang="en-SG" dirty="0" err="1"/>
              <a:t>Antisymmetry</a:t>
            </a:r>
            <a:r>
              <a:rPr lang="en-SG" dirty="0"/>
              <a:t>.</a:t>
            </a:r>
          </a:p>
          <a:p>
            <a:r>
              <a:rPr lang="en-SG" dirty="0"/>
              <a:t>But for asymmetry, it cannot be ‘reflexive’.</a:t>
            </a:r>
          </a:p>
          <a:p>
            <a:pPr marL="228600" indent="-228600">
              <a:buAutoNum type="alphaLcParenR"/>
            </a:pPr>
            <a:r>
              <a:rPr lang="en-SG" dirty="0"/>
              <a:t>Just use a ‘typical’ case of </a:t>
            </a:r>
            <a:r>
              <a:rPr lang="en-SG" dirty="0" err="1"/>
              <a:t>antisymmetry</a:t>
            </a:r>
            <a:endParaRPr lang="en-SG" dirty="0"/>
          </a:p>
          <a:p>
            <a:pPr marL="228600" indent="-228600">
              <a:buAutoNum type="alphaLcParenR"/>
            </a:pPr>
            <a:r>
              <a:rPr lang="en-SG" dirty="0"/>
              <a:t>Case of </a:t>
            </a:r>
            <a:r>
              <a:rPr lang="en-SG" dirty="0" err="1"/>
              <a:t>antisymmetry</a:t>
            </a:r>
            <a:r>
              <a:rPr lang="en-SG" dirty="0"/>
              <a:t> with reflexive case</a:t>
            </a:r>
          </a:p>
          <a:p>
            <a:pPr marL="228600" indent="-228600">
              <a:buAutoNum type="alphaLcParenR"/>
            </a:pPr>
            <a:r>
              <a:rPr lang="en-SG" dirty="0"/>
              <a:t>Does not exist!</a:t>
            </a:r>
          </a:p>
          <a:p>
            <a:pPr marL="228600" indent="-228600">
              <a:buAutoNum type="alphaLcParenR"/>
            </a:pPr>
            <a:r>
              <a:rPr lang="en-SG" dirty="0"/>
              <a:t>A typical symmetric case</a:t>
            </a:r>
          </a:p>
          <a:p>
            <a:pPr marL="228600" indent="-228600">
              <a:buAutoNum type="alphaLcParenR"/>
            </a:pPr>
            <a:endParaRPr lang="en-SG" dirty="0"/>
          </a:p>
          <a:p>
            <a:pPr marL="228600" indent="-228600">
              <a:buAutoNum type="alphaLcParenR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4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Just show this very quickly</a:t>
            </a:r>
          </a:p>
          <a:p>
            <a:r>
              <a:rPr lang="en-SG" dirty="0"/>
              <a:t>Use of implication -&gt; </a:t>
            </a:r>
            <a:r>
              <a:rPr lang="en-SG" dirty="0" err="1"/>
              <a:t>genen</a:t>
            </a:r>
            <a:r>
              <a:rPr lang="en-SG" dirty="0"/>
              <a:t> -&gt; de Morgan’s - &gt;implication</a:t>
            </a:r>
          </a:p>
          <a:p>
            <a:endParaRPr lang="en-SG" dirty="0"/>
          </a:p>
          <a:p>
            <a:r>
              <a:rPr lang="en-SG" dirty="0"/>
              <a:t>Asymmetry </a:t>
            </a:r>
            <a:r>
              <a:rPr lang="en-SG" dirty="0">
                <a:sym typeface="Wingdings" panose="05000000000000000000" pitchFamily="2" charset="2"/>
              </a:rPr>
              <a:t> </a:t>
            </a:r>
            <a:r>
              <a:rPr lang="en-SG" dirty="0" err="1">
                <a:sym typeface="Wingdings" panose="05000000000000000000" pitchFamily="2" charset="2"/>
              </a:rPr>
              <a:t>Antisymmetry</a:t>
            </a:r>
            <a:r>
              <a:rPr lang="en-SG" dirty="0">
                <a:sym typeface="Wingdings" panose="05000000000000000000" pitchFamily="2" charset="2"/>
              </a:rPr>
              <a:t> and (NOT reflexive)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89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1764-7C3D-DE55-03A9-BF756F45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79603-9F14-5B3A-0308-6424E5205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D4057-4F00-88FA-1190-799C85E0A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Just show this very quickly</a:t>
            </a:r>
          </a:p>
          <a:p>
            <a:r>
              <a:rPr lang="en-SG" dirty="0"/>
              <a:t>Use of implication -&gt; </a:t>
            </a:r>
            <a:r>
              <a:rPr lang="en-SG" dirty="0" err="1"/>
              <a:t>genen</a:t>
            </a:r>
            <a:r>
              <a:rPr lang="en-SG" dirty="0"/>
              <a:t> -&gt; de Morgan’s - &gt;implication</a:t>
            </a:r>
          </a:p>
          <a:p>
            <a:endParaRPr lang="en-SG" dirty="0"/>
          </a:p>
          <a:p>
            <a:r>
              <a:rPr lang="en-SG" dirty="0"/>
              <a:t>Asymmetry </a:t>
            </a:r>
            <a:r>
              <a:rPr lang="en-SG" dirty="0">
                <a:sym typeface="Wingdings" panose="05000000000000000000" pitchFamily="2" charset="2"/>
              </a:rPr>
              <a:t> </a:t>
            </a:r>
            <a:r>
              <a:rPr lang="en-SG" dirty="0" err="1">
                <a:sym typeface="Wingdings" panose="05000000000000000000" pitchFamily="2" charset="2"/>
              </a:rPr>
              <a:t>Antisymmetry</a:t>
            </a:r>
            <a:r>
              <a:rPr lang="en-SG" dirty="0">
                <a:sym typeface="Wingdings" panose="05000000000000000000" pitchFamily="2" charset="2"/>
              </a:rPr>
              <a:t> and (NOT reflexive)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8CCB1-3085-9B35-1DFA-C1A55B690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26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Just manual, quickly show.</a:t>
            </a:r>
          </a:p>
          <a:p>
            <a:r>
              <a:rPr lang="en-SG" dirty="0"/>
              <a:t>-&gt; New addition can be on the same level, but also can be on separate levels.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5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Intuitition</a:t>
            </a:r>
            <a:r>
              <a:rPr lang="en-SG" dirty="0"/>
              <a:t>: maximal chain is a chain where:</a:t>
            </a:r>
            <a:endParaRPr lang="en-GB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You cannot add anything else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Must be one straight line</a:t>
            </a:r>
            <a:r>
              <a:rPr lang="en-SG" dirty="0"/>
              <a:t>, cos if not, sth is not comparable to another thing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SG" dirty="0"/>
          </a:p>
          <a:p>
            <a:pPr marL="228600" indent="-228600">
              <a:buFont typeface="Wingdings" panose="05000000000000000000" pitchFamily="2" charset="2"/>
              <a:buAutoNum type="alphaLcParenR"/>
            </a:pPr>
            <a:r>
              <a:rPr lang="en-SG" dirty="0"/>
              <a:t>Just from 0 -&gt; all elements</a:t>
            </a:r>
          </a:p>
          <a:p>
            <a:pPr marL="228600" indent="-228600">
              <a:buFont typeface="Wingdings" panose="05000000000000000000" pitchFamily="2" charset="2"/>
              <a:buAutoNum type="alphaLcParenR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43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Many possible chains possible.</a:t>
            </a:r>
          </a:p>
          <a:p>
            <a:r>
              <a:rPr lang="en-SG" dirty="0"/>
              <a:t>What if switch the elements inside the set?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8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r>
              <a:rPr lang="en-SG" dirty="0"/>
              <a:t>True with pretty trivial proof. Just quickly show for time’s sake.</a:t>
            </a:r>
          </a:p>
          <a:p>
            <a:pPr marL="0" indent="0">
              <a:buNone/>
            </a:pPr>
            <a:r>
              <a:rPr lang="en-SG" dirty="0"/>
              <a:t>If comparable, set c = b. thus auto compatible.</a:t>
            </a:r>
          </a:p>
          <a:p>
            <a:pPr marL="0" indent="0">
              <a:buNone/>
            </a:pPr>
            <a:r>
              <a:rPr lang="en-SG" dirty="0"/>
              <a:t>Highlight WLOG here.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b) Give counterexample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58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553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9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998F76-E9E3-4463-817F-D8C0D573D975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30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7F3F-66F1-4062-AD20-D4050B2E2316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A186-BC58-4E38-9D6B-E2530ED488D7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9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92B9-BF38-4C9C-90F6-943069E9EDF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3BD-47A2-4767-947D-2AE1001298C3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6707-B7B2-4F97-BB0F-04E2D97E588E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6F7F-EEFF-4A48-AE97-650E1D713802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8CA2C-FFF8-457B-A6F2-A82A2E070B4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92C9-6F7B-471B-93D4-A5C041E70C69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78D06-5A9E-4B3F-952F-1E0761201B9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4F4B-6828-4512-B9A2-CDE95FB1308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60B06E-A043-4080-8A6B-3C15F51235E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6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511.png"/><Relationship Id="rId4" Type="http://schemas.openxmlformats.org/officeDocument/2006/relationships/image" Target="../media/image41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71.png"/><Relationship Id="rId4" Type="http://schemas.openxmlformats.org/officeDocument/2006/relationships/image" Target="../media/image3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90.png"/><Relationship Id="rId4" Type="http://schemas.openxmlformats.org/officeDocument/2006/relationships/image" Target="../media/image3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8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811.png"/><Relationship Id="rId5" Type="http://schemas.openxmlformats.org/officeDocument/2006/relationships/image" Target="../media/image45.png"/><Relationship Id="rId10" Type="http://schemas.openxmlformats.org/officeDocument/2006/relationships/image" Target="../media/image21.png"/><Relationship Id="rId4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1.png"/><Relationship Id="rId4" Type="http://schemas.openxmlformats.org/officeDocument/2006/relationships/image" Target="../media/image6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36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35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0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0.png"/><Relationship Id="rId10" Type="http://schemas.openxmlformats.org/officeDocument/2006/relationships/image" Target="../media/image78.png"/><Relationship Id="rId4" Type="http://schemas.openxmlformats.org/officeDocument/2006/relationships/image" Target="../media/image720.png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5" Type="http://schemas.openxmlformats.org/officeDocument/2006/relationships/image" Target="../media/image430.png"/><Relationship Id="rId4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B366-077F-5141-BDDB-5136E07F8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Cs1231S</a:t>
            </a:r>
            <a:br>
              <a:rPr lang="en-US" dirty="0"/>
            </a:br>
            <a:r>
              <a:rPr lang="en-US" dirty="0"/>
              <a:t>tutorial #5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E500-BCC6-024C-9FB8-F236052DC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Relations &amp; Partial orders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BE3EE0-12D2-261E-DBD1-45BDE08C5A59}"/>
              </a:ext>
            </a:extLst>
          </p:cNvPr>
          <p:cNvSpPr txBox="1">
            <a:spLocks/>
          </p:cNvSpPr>
          <p:nvPr/>
        </p:nvSpPr>
        <p:spPr>
          <a:xfrm>
            <a:off x="344857" y="5975624"/>
            <a:ext cx="8767860" cy="138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Adapted from Prof Aaron’s slides</a:t>
            </a:r>
          </a:p>
        </p:txBody>
      </p:sp>
    </p:spTree>
    <p:extLst>
      <p:ext uri="{BB962C8B-B14F-4D97-AF65-F5344CB8AC3E}">
        <p14:creationId xmlns:p14="http://schemas.microsoft.com/office/powerpoint/2010/main" val="358137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86146"/>
            <a:ext cx="9875520" cy="1356360"/>
          </a:xfrm>
        </p:spPr>
        <p:txBody>
          <a:bodyPr/>
          <a:lstStyle/>
          <a:p>
            <a:r>
              <a:rPr lang="en-US" dirty="0"/>
              <a:t>Learning objectives of 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966" y="1457219"/>
            <a:ext cx="10524067" cy="4751965"/>
          </a:xfrm>
        </p:spPr>
        <p:txBody>
          <a:bodyPr>
            <a:noAutofit/>
          </a:bodyPr>
          <a:lstStyle/>
          <a:p>
            <a:pPr marL="46037" indent="0">
              <a:spcBef>
                <a:spcPts val="600"/>
              </a:spcBef>
              <a:buClrTx/>
              <a:buNone/>
            </a:pPr>
            <a:r>
              <a:rPr lang="en-US" sz="3200" dirty="0">
                <a:solidFill>
                  <a:srgbClr val="C00000"/>
                </a:solidFill>
              </a:rPr>
              <a:t>Partial orders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Determining whether a relation is </a:t>
            </a:r>
            <a:r>
              <a:rPr lang="en-US" sz="2800" dirty="0">
                <a:solidFill>
                  <a:srgbClr val="0000FF"/>
                </a:solidFill>
              </a:rPr>
              <a:t>antisymmetric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Determining whether a relation is </a:t>
            </a:r>
            <a:r>
              <a:rPr lang="en-US" sz="2800" dirty="0">
                <a:solidFill>
                  <a:srgbClr val="0000FF"/>
                </a:solidFill>
              </a:rPr>
              <a:t>asymmetric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Reasoning about </a:t>
            </a:r>
            <a:r>
              <a:rPr lang="en-US" sz="2800" dirty="0">
                <a:solidFill>
                  <a:srgbClr val="0000FF"/>
                </a:solidFill>
              </a:rPr>
              <a:t>partial orders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Drawing </a:t>
            </a:r>
            <a:r>
              <a:rPr lang="en-US" sz="2800" dirty="0" err="1">
                <a:solidFill>
                  <a:srgbClr val="0000FF"/>
                </a:solidFill>
              </a:rPr>
              <a:t>Hasse</a:t>
            </a:r>
            <a:r>
              <a:rPr lang="en-US" sz="2800" dirty="0">
                <a:solidFill>
                  <a:srgbClr val="0000FF"/>
                </a:solidFill>
              </a:rPr>
              <a:t> diagrams </a:t>
            </a:r>
            <a:r>
              <a:rPr lang="en-US" sz="2800" dirty="0">
                <a:solidFill>
                  <a:schemeClr val="tx1"/>
                </a:solidFill>
              </a:rPr>
              <a:t>of partial orders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Knowing about </a:t>
            </a:r>
            <a:r>
              <a:rPr lang="en-US" sz="2800" dirty="0">
                <a:solidFill>
                  <a:srgbClr val="0000FF"/>
                </a:solidFill>
              </a:rPr>
              <a:t>comparability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dirty="0">
                <a:solidFill>
                  <a:srgbClr val="0000FF"/>
                </a:solidFill>
              </a:rPr>
              <a:t>compatibility</a:t>
            </a:r>
            <a:r>
              <a:rPr lang="en-US" sz="2800" dirty="0">
                <a:solidFill>
                  <a:schemeClr val="tx1"/>
                </a:solidFill>
              </a:rPr>
              <a:t> of elements in a partial order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Distinguishing </a:t>
            </a:r>
            <a:r>
              <a:rPr lang="en-US" sz="2800" dirty="0">
                <a:solidFill>
                  <a:srgbClr val="0000FF"/>
                </a:solidFill>
              </a:rPr>
              <a:t>minimal/maximal</a:t>
            </a:r>
            <a:r>
              <a:rPr lang="en-US" sz="2800" dirty="0">
                <a:solidFill>
                  <a:schemeClr val="tx1"/>
                </a:solidFill>
              </a:rPr>
              <a:t> elements from </a:t>
            </a:r>
            <a:r>
              <a:rPr lang="en-US" sz="2800" dirty="0">
                <a:solidFill>
                  <a:srgbClr val="0000FF"/>
                </a:solidFill>
              </a:rPr>
              <a:t>smallest/largest</a:t>
            </a:r>
            <a:r>
              <a:rPr lang="en-US" sz="2800" dirty="0">
                <a:solidFill>
                  <a:schemeClr val="tx1"/>
                </a:solidFill>
              </a:rPr>
              <a:t> elements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2800" dirty="0">
                <a:solidFill>
                  <a:schemeClr val="tx1"/>
                </a:solidFill>
              </a:rPr>
              <a:t>Understanding </a:t>
            </a:r>
            <a:r>
              <a:rPr lang="en-US" sz="2800" dirty="0" err="1">
                <a:solidFill>
                  <a:srgbClr val="0000FF"/>
                </a:solidFill>
              </a:rPr>
              <a:t>linearizations</a:t>
            </a:r>
            <a:endParaRPr lang="en-SG" sz="28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3555" y="658895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81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965497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19200" y="281629"/>
                <a:ext cx="10458894" cy="21021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be the set of all strings over the alphabet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by the following: 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𝑎𝑅𝑏</m:t>
                          </m:r>
                          <m:r>
                            <a:rPr lang="en-US" sz="28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⇔</m:t>
                          </m:r>
                          <m:r>
                            <a:rPr lang="en-US" sz="28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28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spcAft>
                    <a:spcPts val="600"/>
                  </a:spcAft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denotes the length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.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a partial order?  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81629"/>
                <a:ext cx="10458894" cy="2102179"/>
              </a:xfrm>
              <a:prstGeom prst="rect">
                <a:avLst/>
              </a:prstGeom>
              <a:blipFill>
                <a:blip r:embed="rId3"/>
                <a:stretch>
                  <a:fillRect l="-1166" t="-2609" b="-72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5B1E67-745A-4092-B585-9B68595DB544}"/>
                  </a:ext>
                </a:extLst>
              </p:cNvPr>
              <p:cNvSpPr txBox="1"/>
              <p:nvPr/>
            </p:nvSpPr>
            <p:spPr>
              <a:xfrm>
                <a:off x="5213392" y="5769193"/>
                <a:ext cx="6464702" cy="707886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antisymmetric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.</a:t>
                </a: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5B1E67-745A-4092-B585-9B68595DB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392" y="5769193"/>
                <a:ext cx="6464702" cy="707886"/>
              </a:xfrm>
              <a:prstGeom prst="rect">
                <a:avLst/>
              </a:prstGeom>
              <a:blipFill>
                <a:blip r:embed="rId4"/>
                <a:stretch>
                  <a:fillRect l="-943" t="-4274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FE6A4FE-799B-4037-A853-2939AA58F1EA}"/>
              </a:ext>
            </a:extLst>
          </p:cNvPr>
          <p:cNvSpPr txBox="1"/>
          <p:nvPr/>
        </p:nvSpPr>
        <p:spPr>
          <a:xfrm>
            <a:off x="736451" y="2688885"/>
            <a:ext cx="6097605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No, it is not a partial order. Why?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6451" y="4009603"/>
            <a:ext cx="3447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Counterexample?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6A4FE-799B-4037-A853-2939AA58F1EA}"/>
              </a:ext>
            </a:extLst>
          </p:cNvPr>
          <p:cNvSpPr txBox="1"/>
          <p:nvPr/>
        </p:nvSpPr>
        <p:spPr>
          <a:xfrm>
            <a:off x="736451" y="3348621"/>
            <a:ext cx="6097605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It is not antisymmetric.</a:t>
            </a:r>
            <a:endParaRPr lang="en-GB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2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2542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Q2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1892504" y="1796261"/>
                <a:ext cx="9401601" cy="180049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	The partial order has a linearization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21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(ii)	The partial order has a linearization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(iii)	The partial order has a linearization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21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(iv)	The partial order has a linearization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99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84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504" y="1796261"/>
                <a:ext cx="9401601" cy="1800493"/>
              </a:xfrm>
              <a:prstGeom prst="rect">
                <a:avLst/>
              </a:prstGeom>
              <a:blipFill>
                <a:blip r:embed="rId3"/>
                <a:stretch>
                  <a:fillRect l="-972" t="-2712" b="-67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955563" y="4119300"/>
            <a:ext cx="5400277" cy="1877437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3200" dirty="0" err="1"/>
              <a:t>Noncomparable</a:t>
            </a:r>
            <a:r>
              <a:rPr lang="en-US" sz="3200" dirty="0"/>
              <a:t> elements:</a:t>
            </a:r>
          </a:p>
          <a:p>
            <a:pPr marL="1036638" indent="-571500">
              <a:buFont typeface="Wingdings" panose="05000000000000000000" pitchFamily="2" charset="2"/>
              <a:buChar char="§"/>
            </a:pPr>
            <a:r>
              <a:rPr lang="en-US" sz="2800" dirty="0"/>
              <a:t>2 and 3</a:t>
            </a:r>
          </a:p>
          <a:p>
            <a:pPr marL="1036638" indent="-571500">
              <a:buFont typeface="Wingdings" panose="05000000000000000000" pitchFamily="2" charset="2"/>
              <a:buChar char="§"/>
            </a:pPr>
            <a:r>
              <a:rPr lang="en-US" sz="2800" dirty="0"/>
              <a:t>5 and 21</a:t>
            </a:r>
          </a:p>
          <a:p>
            <a:pPr marL="1036638" indent="-571500">
              <a:buFont typeface="Wingdings" panose="05000000000000000000" pitchFamily="2" charset="2"/>
              <a:buChar char="§"/>
            </a:pPr>
            <a:r>
              <a:rPr lang="en-US" sz="2800" dirty="0"/>
              <a:t>30, 84 and 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507958" y="258956"/>
                <a:ext cx="10170695" cy="150810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[</a:t>
                </a:r>
                <a:r>
                  <a:rPr lang="en-US" sz="2000" dirty="0" err="1"/>
                  <a:t>AY2022</a:t>
                </a:r>
                <a:r>
                  <a:rPr lang="en-US" sz="2000" dirty="0"/>
                  <a:t>/23 Semester 1 Midterm Test]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={2,3,5,7,21,30,84,99}</m:t>
                    </m:r>
                  </m:oMath>
                </a14:m>
                <a:r>
                  <a:rPr lang="en-US" sz="2400" dirty="0"/>
                  <a:t> and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be a partial order on the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defined by the “divides” relation, that is,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Which of the following statements are true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58" y="258956"/>
                <a:ext cx="10170695" cy="1508105"/>
              </a:xfrm>
              <a:prstGeom prst="rect">
                <a:avLst/>
              </a:prstGeom>
              <a:blipFill>
                <a:blip r:embed="rId4"/>
                <a:stretch>
                  <a:fillRect l="-899" t="-2016" b="-80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79" y="2318807"/>
            <a:ext cx="298185" cy="283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7636A9-C0CF-487B-B871-C53BC8AE5B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78" y="1889979"/>
            <a:ext cx="298185" cy="2981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79" y="2792189"/>
            <a:ext cx="298185" cy="2839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79" y="3265571"/>
            <a:ext cx="298185" cy="2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3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2542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3368" y="281629"/>
                <a:ext cx="10170695" cy="232371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[</a:t>
                </a:r>
                <a:r>
                  <a:rPr lang="en-US" sz="2000" dirty="0" err="1"/>
                  <a:t>AY2023</a:t>
                </a:r>
                <a:r>
                  <a:rPr lang="en-US" sz="2000" dirty="0"/>
                  <a:t>/24 Semester 1 Midterm Test]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={11,12,13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,14,15,16}</m:t>
                    </m:r>
                  </m:oMath>
                </a14:m>
                <a:r>
                  <a:rPr lang="en-US" sz="2400" dirty="0"/>
                  <a:t>.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where | is the “divides” relation. Define also a partial order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by setting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)∨(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&lt;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What are the </a:t>
                </a:r>
                <a:r>
                  <a:rPr lang="en-US" sz="2400" dirty="0">
                    <a:solidFill>
                      <a:srgbClr val="0000FF"/>
                    </a:solidFill>
                  </a:rPr>
                  <a:t>minimal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smallest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maximal</a:t>
                </a:r>
                <a:r>
                  <a:rPr lang="en-US" sz="2400" dirty="0"/>
                  <a:t>, and </a:t>
                </a:r>
                <a:r>
                  <a:rPr lang="en-US" sz="2400" dirty="0">
                    <a:solidFill>
                      <a:srgbClr val="0000FF"/>
                    </a:solidFill>
                  </a:rPr>
                  <a:t>largest elements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w.r.t</a:t>
                </a:r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?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281629"/>
                <a:ext cx="10170695" cy="2323713"/>
              </a:xfrm>
              <a:prstGeom prst="rect">
                <a:avLst/>
              </a:prstGeom>
              <a:blipFill>
                <a:blip r:embed="rId3"/>
                <a:stretch>
                  <a:fillRect l="-959" t="-1312" r="-659" b="-4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/>
              <p:nvPr/>
            </p:nvSpPr>
            <p:spPr>
              <a:xfrm>
                <a:off x="353493" y="5110623"/>
                <a:ext cx="6785291" cy="1477328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partially ordered with respect to a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7188" indent="-357188"/>
                <a:r>
                  <a:rPr lang="en-US" b="0" dirty="0"/>
                  <a:t>1.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maximal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/>
                <a:r>
                  <a:rPr lang="en-US" dirty="0"/>
                  <a:t>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minimal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tabLst>
                    <a:tab pos="1797050" algn="l"/>
                  </a:tabLst>
                </a:pPr>
                <a:r>
                  <a:rPr lang="en-US" dirty="0"/>
                  <a:t>3.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largest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  <a:p>
                <a:pPr marL="338138" indent="-338138"/>
                <a:r>
                  <a:rPr lang="en-SG" dirty="0"/>
                  <a:t>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smallest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93" y="5110623"/>
                <a:ext cx="6785291" cy="1477328"/>
              </a:xfrm>
              <a:prstGeom prst="rect">
                <a:avLst/>
              </a:prstGeom>
              <a:blipFill>
                <a:blip r:embed="rId4"/>
                <a:stretch>
                  <a:fillRect l="-809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7600458" y="2943526"/>
            <a:ext cx="3453613" cy="3241645"/>
            <a:chOff x="-31826" y="10153"/>
            <a:chExt cx="1687307" cy="1539914"/>
          </a:xfrm>
        </p:grpSpPr>
        <p:grpSp>
          <p:nvGrpSpPr>
            <p:cNvPr id="15" name="Group 14"/>
            <p:cNvGrpSpPr/>
            <p:nvPr/>
          </p:nvGrpSpPr>
          <p:grpSpPr>
            <a:xfrm>
              <a:off x="196769" y="243068"/>
              <a:ext cx="1221129" cy="1070305"/>
              <a:chOff x="0" y="0"/>
              <a:chExt cx="1221129" cy="1070305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V="1">
                <a:off x="81023" y="723418"/>
                <a:ext cx="1030147" cy="3468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92598" y="393540"/>
                <a:ext cx="421640" cy="2311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711843" y="393540"/>
                <a:ext cx="422203" cy="2314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109960" y="746567"/>
                <a:ext cx="1017736" cy="3237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0" y="792866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221129" y="787079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607671" y="0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-31826" y="10153"/>
              <a:ext cx="1687307" cy="1539914"/>
              <a:chOff x="-31826" y="10153"/>
              <a:chExt cx="1687307" cy="1539914"/>
            </a:xfrm>
          </p:grpSpPr>
          <p:sp>
            <p:nvSpPr>
              <p:cNvPr id="17" name="Text Box 2"/>
              <p:cNvSpPr txBox="1">
                <a:spLocks noChangeArrowheads="1"/>
              </p:cNvSpPr>
              <p:nvPr/>
            </p:nvSpPr>
            <p:spPr bwMode="auto">
              <a:xfrm>
                <a:off x="-31825" y="1273215"/>
                <a:ext cx="396149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11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8" name="Text Box 2"/>
              <p:cNvSpPr txBox="1">
                <a:spLocks noChangeArrowheads="1"/>
              </p:cNvSpPr>
              <p:nvPr/>
            </p:nvSpPr>
            <p:spPr bwMode="auto">
              <a:xfrm>
                <a:off x="594089" y="10153"/>
                <a:ext cx="401165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12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9" name="Text Box 2"/>
              <p:cNvSpPr txBox="1">
                <a:spLocks noChangeArrowheads="1"/>
              </p:cNvSpPr>
              <p:nvPr/>
            </p:nvSpPr>
            <p:spPr bwMode="auto">
              <a:xfrm>
                <a:off x="-31826" y="764155"/>
                <a:ext cx="396159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14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0" name="Text Box 2"/>
              <p:cNvSpPr txBox="1">
                <a:spLocks noChangeArrowheads="1"/>
              </p:cNvSpPr>
              <p:nvPr/>
            </p:nvSpPr>
            <p:spPr bwMode="auto">
              <a:xfrm>
                <a:off x="1226809" y="758368"/>
                <a:ext cx="406936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15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1" name="Text Box 2"/>
              <p:cNvSpPr txBox="1">
                <a:spLocks noChangeArrowheads="1"/>
              </p:cNvSpPr>
              <p:nvPr/>
            </p:nvSpPr>
            <p:spPr bwMode="auto">
              <a:xfrm>
                <a:off x="615307" y="457197"/>
                <a:ext cx="379948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16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1226809" y="1278288"/>
                <a:ext cx="428672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13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295DF07-78FC-4F77-8E73-62AC621C73F3}"/>
              </a:ext>
            </a:extLst>
          </p:cNvPr>
          <p:cNvSpPr txBox="1"/>
          <p:nvPr/>
        </p:nvSpPr>
        <p:spPr>
          <a:xfrm>
            <a:off x="2361862" y="2641583"/>
            <a:ext cx="2143126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dirty="0"/>
              <a:t>Minimal: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Smallest: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Maximal: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Largest:</a:t>
            </a:r>
            <a:endParaRPr lang="en-SG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E94E03-F2E8-4177-A99D-D1DF5673E11B}"/>
                  </a:ext>
                </a:extLst>
              </p:cNvPr>
              <p:cNvSpPr txBox="1"/>
              <p:nvPr/>
            </p:nvSpPr>
            <p:spPr>
              <a:xfrm>
                <a:off x="3964701" y="2621216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1,13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E94E03-F2E8-4177-A99D-D1DF5673E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701" y="2621216"/>
                <a:ext cx="130111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1DC0DC-DC6A-4397-ABC3-840700AA1762}"/>
                  </a:ext>
                </a:extLst>
              </p:cNvPr>
              <p:cNvSpPr txBox="1"/>
              <p:nvPr/>
            </p:nvSpPr>
            <p:spPr>
              <a:xfrm>
                <a:off x="3964701" y="3918788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1DC0DC-DC6A-4397-ABC3-840700AA1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701" y="3918788"/>
                <a:ext cx="13011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4A35C58-9186-4D0A-95CC-A618DDA87825}"/>
              </a:ext>
            </a:extLst>
          </p:cNvPr>
          <p:cNvSpPr txBox="1"/>
          <p:nvPr/>
        </p:nvSpPr>
        <p:spPr>
          <a:xfrm>
            <a:off x="3964701" y="3254033"/>
            <a:ext cx="1301114" cy="52322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None</a:t>
            </a:r>
            <a:endParaRPr lang="en-SG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BFEBD5-B253-4DCA-B595-BAF55C571321}"/>
                  </a:ext>
                </a:extLst>
              </p:cNvPr>
              <p:cNvSpPr txBox="1"/>
              <p:nvPr/>
            </p:nvSpPr>
            <p:spPr>
              <a:xfrm>
                <a:off x="3964701" y="4580175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BFEBD5-B253-4DCA-B595-BAF55C571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701" y="4580175"/>
                <a:ext cx="13011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58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2542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3368" y="281629"/>
                <a:ext cx="10170695" cy="156966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Given the partial order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in question 3 above, one of the </a:t>
                </a:r>
                <a:r>
                  <a:rPr lang="en-US" sz="2400" dirty="0" err="1"/>
                  <a:t>linearizations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is shown below: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11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13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14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15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Write out all the other possible </a:t>
                </a:r>
                <a:r>
                  <a:rPr lang="en-US" sz="2400" dirty="0" err="1"/>
                  <a:t>linearizations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281629"/>
                <a:ext cx="10170695" cy="1569660"/>
              </a:xfrm>
              <a:prstGeom prst="rect">
                <a:avLst/>
              </a:prstGeom>
              <a:blipFill>
                <a:blip r:embed="rId3"/>
                <a:stretch>
                  <a:fillRect l="-959" t="-3101" b="-77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7600458" y="2943526"/>
            <a:ext cx="3453613" cy="3241645"/>
            <a:chOff x="-31826" y="10153"/>
            <a:chExt cx="1687307" cy="1539914"/>
          </a:xfrm>
        </p:grpSpPr>
        <p:grpSp>
          <p:nvGrpSpPr>
            <p:cNvPr id="15" name="Group 14"/>
            <p:cNvGrpSpPr/>
            <p:nvPr/>
          </p:nvGrpSpPr>
          <p:grpSpPr>
            <a:xfrm>
              <a:off x="196769" y="243068"/>
              <a:ext cx="1221129" cy="1070305"/>
              <a:chOff x="0" y="0"/>
              <a:chExt cx="1221129" cy="1070305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V="1">
                <a:off x="81023" y="723418"/>
                <a:ext cx="1030147" cy="3468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92598" y="393540"/>
                <a:ext cx="421640" cy="2311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711843" y="393540"/>
                <a:ext cx="422203" cy="2314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109960" y="746567"/>
                <a:ext cx="1017736" cy="3237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0" y="792866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221129" y="787079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607671" y="0"/>
                <a:ext cx="0" cy="2372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-31826" y="10153"/>
              <a:ext cx="1687307" cy="1539914"/>
              <a:chOff x="-31826" y="10153"/>
              <a:chExt cx="1687307" cy="1539914"/>
            </a:xfrm>
          </p:grpSpPr>
          <p:sp>
            <p:nvSpPr>
              <p:cNvPr id="17" name="Text Box 2"/>
              <p:cNvSpPr txBox="1">
                <a:spLocks noChangeArrowheads="1"/>
              </p:cNvSpPr>
              <p:nvPr/>
            </p:nvSpPr>
            <p:spPr bwMode="auto">
              <a:xfrm>
                <a:off x="-31825" y="1273215"/>
                <a:ext cx="396149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11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8" name="Text Box 2"/>
              <p:cNvSpPr txBox="1">
                <a:spLocks noChangeArrowheads="1"/>
              </p:cNvSpPr>
              <p:nvPr/>
            </p:nvSpPr>
            <p:spPr bwMode="auto">
              <a:xfrm>
                <a:off x="594089" y="10153"/>
                <a:ext cx="401165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12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9" name="Text Box 2"/>
              <p:cNvSpPr txBox="1">
                <a:spLocks noChangeArrowheads="1"/>
              </p:cNvSpPr>
              <p:nvPr/>
            </p:nvSpPr>
            <p:spPr bwMode="auto">
              <a:xfrm>
                <a:off x="-31826" y="764155"/>
                <a:ext cx="396159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14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0" name="Text Box 2"/>
              <p:cNvSpPr txBox="1">
                <a:spLocks noChangeArrowheads="1"/>
              </p:cNvSpPr>
              <p:nvPr/>
            </p:nvSpPr>
            <p:spPr bwMode="auto">
              <a:xfrm>
                <a:off x="1226809" y="758368"/>
                <a:ext cx="406936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15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1" name="Text Box 2"/>
              <p:cNvSpPr txBox="1">
                <a:spLocks noChangeArrowheads="1"/>
              </p:cNvSpPr>
              <p:nvPr/>
            </p:nvSpPr>
            <p:spPr bwMode="auto">
              <a:xfrm>
                <a:off x="615307" y="457197"/>
                <a:ext cx="379948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16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1226809" y="1278288"/>
                <a:ext cx="428672" cy="271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13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83368" y="2072080"/>
                <a:ext cx="60318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2072080"/>
                <a:ext cx="60318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83368" y="2794795"/>
                <a:ext cx="60318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2794795"/>
                <a:ext cx="603183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283368" y="3556061"/>
                <a:ext cx="60318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3556061"/>
                <a:ext cx="603183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ACD4AE-938B-4B64-818D-3FA1ABF0097C}"/>
                  </a:ext>
                </a:extLst>
              </p:cNvPr>
              <p:cNvSpPr txBox="1"/>
              <p:nvPr/>
            </p:nvSpPr>
            <p:spPr>
              <a:xfrm>
                <a:off x="388608" y="4530762"/>
                <a:ext cx="5555159" cy="1015663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88900" algn="l"/>
                    <a:tab pos="2781300" algn="l"/>
                  </a:tabLst>
                </a:pPr>
                <a:r>
                  <a:rPr lang="en-US" sz="2000" dirty="0"/>
                  <a:t>A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linearization</a:t>
                </a:r>
                <a:r>
                  <a:rPr lang="en-US" sz="2000" dirty="0"/>
                  <a:t> of a partial order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on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total 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such that</a:t>
                </a:r>
              </a:p>
              <a:p>
                <a:pPr>
                  <a:tabLst>
                    <a:tab pos="88900" algn="l"/>
                    <a:tab pos="27813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≼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ACD4AE-938B-4B64-818D-3FA1ABF0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08" y="4530762"/>
                <a:ext cx="5555159" cy="1015663"/>
              </a:xfrm>
              <a:prstGeom prst="rect">
                <a:avLst/>
              </a:prstGeom>
              <a:blipFill>
                <a:blip r:embed="rId7"/>
                <a:stretch>
                  <a:fillRect l="-1095" t="-2367" b="-1775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02474671-8C8B-492B-8D7E-4038FC8F10E4}"/>
              </a:ext>
            </a:extLst>
          </p:cNvPr>
          <p:cNvSpPr txBox="1"/>
          <p:nvPr/>
        </p:nvSpPr>
        <p:spPr>
          <a:xfrm>
            <a:off x="395088" y="5602375"/>
            <a:ext cx="5555159" cy="1015663"/>
          </a:xfrm>
          <a:prstGeom prst="rect">
            <a:avLst/>
          </a:prstGeom>
          <a:solidFill>
            <a:srgbClr val="FFFFCC"/>
          </a:solidFill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88900" algn="l"/>
                <a:tab pos="2781300" algn="l"/>
              </a:tabLst>
            </a:pPr>
            <a:r>
              <a:rPr lang="en-US" sz="2000" b="1" dirty="0">
                <a:solidFill>
                  <a:srgbClr val="000099"/>
                </a:solidFill>
              </a:rPr>
              <a:t>Kahn’s Algorithm.  </a:t>
            </a:r>
            <a:r>
              <a:rPr lang="en-US" sz="2000" dirty="0"/>
              <a:t>Pick out a minimal element and place it at the bottom of the total order. Repeat until nothing is left.</a:t>
            </a:r>
          </a:p>
        </p:txBody>
      </p:sp>
    </p:spTree>
    <p:extLst>
      <p:ext uri="{BB962C8B-B14F-4D97-AF65-F5344CB8AC3E}">
        <p14:creationId xmlns:p14="http://schemas.microsoft.com/office/powerpoint/2010/main" val="312754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Q5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8758989" cy="95410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 be a set and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the power set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Prove that the binary relation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on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a partial order.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8758989" cy="954107"/>
              </a:xfrm>
              <a:prstGeom prst="rect">
                <a:avLst/>
              </a:prstGeom>
              <a:blipFill>
                <a:blip r:embed="rId3"/>
                <a:stretch>
                  <a:fillRect l="-1461" t="-6410" b="-179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/>
              <p:nvPr/>
            </p:nvSpPr>
            <p:spPr>
              <a:xfrm>
                <a:off x="995814" y="1365897"/>
                <a:ext cx="7329479" cy="1200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1.	</a:t>
                </a:r>
                <a:r>
                  <a:rPr lang="en-US" sz="2400" dirty="0">
                    <a:solidFill>
                      <a:srgbClr val="0000FF"/>
                    </a:solidFill>
                  </a:rPr>
                  <a:t>(Reflexivity) </a:t>
                </a:r>
                <a:r>
                  <a:rPr lang="en-US" sz="2400" dirty="0"/>
                  <a:t>Take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	1.1.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subset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400" dirty="0"/>
                  <a:t>	1.2.	Hence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reflexive.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14" y="1365897"/>
                <a:ext cx="7329479" cy="1200329"/>
              </a:xfrm>
              <a:prstGeom prst="rect">
                <a:avLst/>
              </a:prstGeom>
              <a:blipFill>
                <a:blip r:embed="rId4"/>
                <a:stretch>
                  <a:fillRect l="-1247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/>
              <p:nvPr/>
            </p:nvSpPr>
            <p:spPr>
              <a:xfrm>
                <a:off x="995814" y="2638383"/>
                <a:ext cx="7329480" cy="1569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2.	</a:t>
                </a:r>
                <a:r>
                  <a:rPr lang="en-US" sz="2400" dirty="0">
                    <a:solidFill>
                      <a:srgbClr val="0000FF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Antisymmetry</a:t>
                </a:r>
                <a:r>
                  <a:rPr lang="en-US" sz="2400" dirty="0">
                    <a:solidFill>
                      <a:srgbClr val="0000FF"/>
                    </a:solidFill>
                  </a:rPr>
                  <a:t>) </a:t>
                </a:r>
                <a:r>
                  <a:rPr lang="en-US" sz="2400" dirty="0"/>
                  <a:t>Take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400" dirty="0"/>
                  <a:t>	2.1.	Suppose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. 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400" dirty="0"/>
                  <a:t>	</a:t>
                </a:r>
                <a:r>
                  <a:rPr lang="en-US" sz="2400" dirty="0">
                    <a:solidFill>
                      <a:schemeClr val="tx1"/>
                    </a:solidFill>
                  </a:rPr>
                  <a:t>2.2.	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set equality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400" dirty="0"/>
                  <a:t>	2.3.	Hence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antisymmetric.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14" y="2638383"/>
                <a:ext cx="7329480" cy="1569660"/>
              </a:xfrm>
              <a:prstGeom prst="rect">
                <a:avLst/>
              </a:prstGeom>
              <a:blipFill>
                <a:blip r:embed="rId5"/>
                <a:stretch>
                  <a:fillRect l="-1247" t="-3113" b="-81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E5550B-630D-4F33-B2F4-AF0692BF0DEF}"/>
                  </a:ext>
                </a:extLst>
              </p:cNvPr>
              <p:cNvSpPr/>
              <p:nvPr/>
            </p:nvSpPr>
            <p:spPr>
              <a:xfrm>
                <a:off x="995815" y="4295397"/>
                <a:ext cx="7329480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3.	</a:t>
                </a:r>
                <a:r>
                  <a:rPr lang="en-US" sz="2400" dirty="0">
                    <a:solidFill>
                      <a:srgbClr val="0000FF"/>
                    </a:solidFill>
                  </a:rPr>
                  <a:t>(Transitivity)</a:t>
                </a:r>
                <a:endParaRPr lang="en-US" sz="2400" dirty="0">
                  <a:solidFill>
                    <a:srgbClr val="0000FF"/>
                  </a:solidFill>
                  <a:ea typeface="Cambria Math" panose="02040503050406030204" pitchFamily="18" charset="0"/>
                </a:endParaRPr>
              </a:p>
              <a:p>
                <a:pPr marL="542925" indent="-542925">
                  <a:tabLst>
                    <a:tab pos="1257300" algn="l"/>
                    <a:tab pos="3232150" algn="l"/>
                  </a:tabLst>
                </a:pPr>
                <a:r>
                  <a:rPr lang="en-US" sz="2400" dirty="0"/>
                  <a:t>	3.1.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/>
                  <a:t> is transitive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Theorem 6.2.1.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E5550B-630D-4F33-B2F4-AF0692BF0D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15" y="4295397"/>
                <a:ext cx="7329480" cy="830997"/>
              </a:xfrm>
              <a:prstGeom prst="rect">
                <a:avLst/>
              </a:prstGeom>
              <a:blipFill>
                <a:blip r:embed="rId6"/>
                <a:stretch>
                  <a:fillRect l="-1247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0D0345-7B1A-48A6-B996-64DFA15C7D97}"/>
                  </a:ext>
                </a:extLst>
              </p:cNvPr>
              <p:cNvSpPr/>
              <p:nvPr/>
            </p:nvSpPr>
            <p:spPr>
              <a:xfrm>
                <a:off x="995815" y="5216172"/>
                <a:ext cx="3576186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4.	Therefore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/>
                  <a:t> is a partial order. 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0D0345-7B1A-48A6-B996-64DFA15C7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15" y="5216172"/>
                <a:ext cx="3576186" cy="830997"/>
              </a:xfrm>
              <a:prstGeom prst="rect">
                <a:avLst/>
              </a:prstGeom>
              <a:blipFill>
                <a:blip r:embed="rId7"/>
                <a:stretch>
                  <a:fillRect l="-2555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5B1E67-745A-4092-B585-9B68595DB544}"/>
                  </a:ext>
                </a:extLst>
              </p:cNvPr>
              <p:cNvSpPr txBox="1"/>
              <p:nvPr/>
            </p:nvSpPr>
            <p:spPr>
              <a:xfrm>
                <a:off x="4981064" y="5213759"/>
                <a:ext cx="6767914" cy="1323439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reflexive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2.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antisymmetric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3.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transitive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𝑥𝑅𝑦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𝑦𝑅𝑧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).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5B1E67-745A-4092-B585-9B68595DB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064" y="5213759"/>
                <a:ext cx="6767914" cy="1323439"/>
              </a:xfrm>
              <a:prstGeom prst="rect">
                <a:avLst/>
              </a:prstGeom>
              <a:blipFill>
                <a:blip r:embed="rId8"/>
                <a:stretch>
                  <a:fillRect l="-901" t="-2304" r="-360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/>
              <p:nvPr/>
            </p:nvSpPr>
            <p:spPr>
              <a:xfrm>
                <a:off x="8572120" y="4053996"/>
                <a:ext cx="2945488" cy="1015663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Theorem 6.2.1.</a:t>
                </a:r>
              </a:p>
              <a:p>
                <a:r>
                  <a:rPr 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SG" sz="2000" dirty="0"/>
                  <a:t>. 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120" y="4053996"/>
                <a:ext cx="2945488" cy="1015663"/>
              </a:xfrm>
              <a:prstGeom prst="rect">
                <a:avLst/>
              </a:prstGeom>
              <a:blipFill>
                <a:blip r:embed="rId9"/>
                <a:stretch>
                  <a:fillRect l="-2070" t="-2994" r="-1035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5 Points 4">
            <a:extLst>
              <a:ext uri="{FF2B5EF4-FFF2-40B4-BE49-F238E27FC236}">
                <a16:creationId xmlns:a16="http://schemas.microsoft.com/office/drawing/2014/main" id="{C6ADBE46-B457-03AC-3C96-72FD2A27E812}"/>
              </a:ext>
            </a:extLst>
          </p:cNvPr>
          <p:cNvSpPr/>
          <p:nvPr/>
        </p:nvSpPr>
        <p:spPr>
          <a:xfrm>
            <a:off x="10698130" y="461522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76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 bldLvl="2" animBg="1"/>
      <p:bldP spid="7" grpId="0" uiExpand="1" build="p" bldLvl="2" animBg="1"/>
      <p:bldP spid="8" grpId="0" uiExpand="1" build="p" bldLvl="2" animBg="1"/>
      <p:bldP spid="9" grpId="0" uiExpand="1" build="p" bldLvl="2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800" dirty="0"/>
                  <a:t> and define the binary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/>
                  <a:t>as follows: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blipFill>
                <a:blip r:embed="rId3"/>
                <a:stretch>
                  <a:fillRect l="-1269" t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1285874" y="1421362"/>
                <a:ext cx="10086975" cy="52322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(a)	Prove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a partial order.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4" y="1421362"/>
                <a:ext cx="10086975" cy="523220"/>
              </a:xfrm>
              <a:prstGeom prst="rect">
                <a:avLst/>
              </a:prstGeom>
              <a:blipFill>
                <a:blip r:embed="rId4"/>
                <a:stretch>
                  <a:fillRect l="-1269" t="-10465" b="-32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/>
              <p:nvPr/>
            </p:nvSpPr>
            <p:spPr>
              <a:xfrm>
                <a:off x="610803" y="1944582"/>
                <a:ext cx="7781357" cy="181588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1.	</a:t>
                </a:r>
                <a:r>
                  <a:rPr lang="en-US" sz="2800" dirty="0">
                    <a:solidFill>
                      <a:srgbClr val="0000FF"/>
                    </a:solidFill>
                  </a:rPr>
                  <a:t>(Reflexivity) </a:t>
                </a:r>
                <a:r>
                  <a:rPr lang="en-US" sz="2800" dirty="0"/>
                  <a:t>Take any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,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>
                    <a:solidFill>
                      <a:schemeClr val="tx1"/>
                    </a:solidFill>
                  </a:rPr>
                  <a:t>	1.1.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1.2.	So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1.3.	Hence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reflexive.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3" y="1944582"/>
                <a:ext cx="7781357" cy="1815882"/>
              </a:xfrm>
              <a:prstGeom prst="rect">
                <a:avLst/>
              </a:prstGeom>
              <a:blipFill>
                <a:blip r:embed="rId5"/>
                <a:stretch>
                  <a:fillRect l="-1566" t="-3356" b="-8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/>
              <p:nvPr/>
            </p:nvSpPr>
            <p:spPr>
              <a:xfrm>
                <a:off x="610803" y="3821127"/>
                <a:ext cx="10086975" cy="267765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2.	</a:t>
                </a:r>
                <a:r>
                  <a:rPr lang="en-US" sz="2800" dirty="0">
                    <a:solidFill>
                      <a:srgbClr val="0000FF"/>
                    </a:solidFill>
                  </a:rPr>
                  <a:t>(</a:t>
                </a:r>
                <a:r>
                  <a:rPr lang="en-US" sz="2800" dirty="0" err="1">
                    <a:solidFill>
                      <a:srgbClr val="0000FF"/>
                    </a:solidFill>
                  </a:rPr>
                  <a:t>Antisymmetry</a:t>
                </a:r>
                <a:r>
                  <a:rPr lang="en-US" sz="2800" dirty="0">
                    <a:solidFill>
                      <a:srgbClr val="0000FF"/>
                    </a:solidFill>
                  </a:rPr>
                  <a:t>) </a:t>
                </a:r>
                <a:r>
                  <a:rPr lang="en-US" sz="2800" dirty="0"/>
                  <a:t>Take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,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2.1.	Suppose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 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</a:t>
                </a:r>
                <a:r>
                  <a:rPr lang="en-US" sz="2800" dirty="0">
                    <a:solidFill>
                      <a:schemeClr val="tx1"/>
                    </a:solidFill>
                  </a:rPr>
                  <a:t>2.2.	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. 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2.3.	</a:t>
                </a:r>
                <a:r>
                  <a:rPr lang="en-US" sz="28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>
                    <a:solidFill>
                      <a:srgbClr val="006600"/>
                    </a:solidFill>
                  </a:rPr>
                  <a:t>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</a:t>
                </a:r>
                <a:r>
                  <a:rPr lang="en-US" sz="2800" dirty="0" err="1">
                    <a:solidFill>
                      <a:srgbClr val="006600"/>
                    </a:solidFill>
                  </a:rPr>
                  <a:t>antisymmetry</a:t>
                </a:r>
                <a:r>
                  <a:rPr lang="en-US" sz="2800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2.4.	So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srgbClr val="006600"/>
                    </a:solidFill>
                  </a:rPr>
                  <a:t>by equality of ordered pairs</a:t>
                </a:r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2.5.	Hence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antisymmetric.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3" y="3821127"/>
                <a:ext cx="10086975" cy="2677656"/>
              </a:xfrm>
              <a:prstGeom prst="rect">
                <a:avLst/>
              </a:prstGeom>
              <a:blipFill>
                <a:blip r:embed="rId6"/>
                <a:stretch>
                  <a:fillRect l="-1208" t="-2278" r="-423" b="-56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/>
              <p:nvPr/>
            </p:nvSpPr>
            <p:spPr>
              <a:xfrm>
                <a:off x="7368364" y="1465425"/>
                <a:ext cx="4455042" cy="1323439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reflexive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2.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antisymmetric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SG" sz="20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.</a:t>
                </a: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364" y="1465425"/>
                <a:ext cx="4455042" cy="1323439"/>
              </a:xfrm>
              <a:prstGeom prst="rect">
                <a:avLst/>
              </a:prstGeom>
              <a:blipFill>
                <a:blip r:embed="rId7"/>
                <a:stretch>
                  <a:fillRect l="-1505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40673" y="2862099"/>
            <a:ext cx="741872" cy="40011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673" y="5619676"/>
            <a:ext cx="741872" cy="40011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Aim: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829464" y="5158596"/>
            <a:ext cx="2757578" cy="368060"/>
            <a:chOff x="2829464" y="5158596"/>
            <a:chExt cx="2757578" cy="368060"/>
          </a:xfrm>
        </p:grpSpPr>
        <p:grpSp>
          <p:nvGrpSpPr>
            <p:cNvPr id="14" name="Group 13"/>
            <p:cNvGrpSpPr/>
            <p:nvPr/>
          </p:nvGrpSpPr>
          <p:grpSpPr>
            <a:xfrm>
              <a:off x="2829464" y="5158596"/>
              <a:ext cx="2757578" cy="0"/>
              <a:chOff x="2829464" y="5158596"/>
              <a:chExt cx="2757578" cy="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2829464" y="5158596"/>
                <a:ext cx="802257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4784785" y="5158596"/>
                <a:ext cx="802257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>
              <a:off x="2829464" y="5526656"/>
              <a:ext cx="8022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3784121" y="5158596"/>
            <a:ext cx="3370053" cy="368060"/>
            <a:chOff x="3784121" y="5158596"/>
            <a:chExt cx="3370053" cy="368060"/>
          </a:xfrm>
        </p:grpSpPr>
        <p:grpSp>
          <p:nvGrpSpPr>
            <p:cNvPr id="15" name="Group 14"/>
            <p:cNvGrpSpPr/>
            <p:nvPr/>
          </p:nvGrpSpPr>
          <p:grpSpPr>
            <a:xfrm>
              <a:off x="3784121" y="5158596"/>
              <a:ext cx="3370053" cy="0"/>
              <a:chOff x="2829464" y="5158596"/>
              <a:chExt cx="3370053" cy="0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2829464" y="5158596"/>
                <a:ext cx="802257" cy="0"/>
              </a:xfrm>
              <a:prstGeom prst="line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397260" y="5158596"/>
                <a:ext cx="802257" cy="0"/>
              </a:xfrm>
              <a:prstGeom prst="line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/>
            <p:cNvCxnSpPr/>
            <p:nvPr/>
          </p:nvCxnSpPr>
          <p:spPr>
            <a:xfrm>
              <a:off x="4383656" y="5526656"/>
              <a:ext cx="802257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05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 animBg="1"/>
      <p:bldP spid="7" grpId="0" uiExpand="1" build="p" bldLvl="2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800" dirty="0"/>
                  <a:t> and define the binary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/>
                  <a:t>as follows: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blipFill>
                <a:blip r:embed="rId3"/>
                <a:stretch>
                  <a:fillRect l="-1269" t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1285874" y="1421362"/>
                <a:ext cx="10086975" cy="52322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(a)	Prove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a partial order.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4" y="1421362"/>
                <a:ext cx="10086975" cy="523220"/>
              </a:xfrm>
              <a:prstGeom prst="rect">
                <a:avLst/>
              </a:prstGeom>
              <a:blipFill>
                <a:blip r:embed="rId4"/>
                <a:stretch>
                  <a:fillRect l="-1269" t="-10465" b="-32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/>
              <p:nvPr/>
            </p:nvSpPr>
            <p:spPr>
              <a:xfrm>
                <a:off x="610803" y="1944582"/>
                <a:ext cx="10910637" cy="267765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3.	</a:t>
                </a:r>
                <a:r>
                  <a:rPr lang="en-US" sz="2800" dirty="0">
                    <a:solidFill>
                      <a:srgbClr val="0000FF"/>
                    </a:solidFill>
                  </a:rPr>
                  <a:t>(Transitivity) </a:t>
                </a:r>
                <a:r>
                  <a:rPr lang="en-US" sz="2800" dirty="0"/>
                  <a:t>Take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,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>
                    <a:solidFill>
                      <a:schemeClr val="tx1"/>
                    </a:solidFill>
                  </a:rPr>
                  <a:t>	3.1.	</a:t>
                </a:r>
                <a:r>
                  <a:rPr lang="en-US" sz="2800" dirty="0"/>
                  <a:t>Suppose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3.2.	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3.3.	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transitivity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3.4.	So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.</a:t>
                </a:r>
              </a:p>
              <a:p>
                <a:pPr marL="542925" indent="-542925">
                  <a:tabLst>
                    <a:tab pos="1257300" algn="l"/>
                  </a:tabLst>
                </a:pPr>
                <a:r>
                  <a:rPr lang="en-US" sz="2800" dirty="0"/>
                  <a:t>	3.5.	Hence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transitive.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3" y="1944582"/>
                <a:ext cx="10910637" cy="2677656"/>
              </a:xfrm>
              <a:prstGeom prst="rect">
                <a:avLst/>
              </a:prstGeom>
              <a:blipFill>
                <a:blip r:embed="rId5"/>
                <a:stretch>
                  <a:fillRect l="-1117" t="-2278" b="-56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/>
              <p:nvPr/>
            </p:nvSpPr>
            <p:spPr>
              <a:xfrm>
                <a:off x="610802" y="4627068"/>
                <a:ext cx="10910638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4.	 Therefore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is a partial order.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B00782A-8223-45FD-BDD9-3CA524632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2" y="4627068"/>
                <a:ext cx="10910638" cy="523220"/>
              </a:xfrm>
              <a:prstGeom prst="rect">
                <a:avLst/>
              </a:prstGeom>
              <a:blipFill>
                <a:blip r:embed="rId6"/>
                <a:stretch>
                  <a:fillRect l="-1117" t="-10465" b="-32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4061CC-07E3-46C9-8108-8B6F19E72E72}"/>
                  </a:ext>
                </a:extLst>
              </p:cNvPr>
              <p:cNvSpPr txBox="1"/>
              <p:nvPr/>
            </p:nvSpPr>
            <p:spPr>
              <a:xfrm>
                <a:off x="4981064" y="5213759"/>
                <a:ext cx="6767914" cy="1323439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reflexive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2.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antisymmetric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55563">
                  <a:tabLst>
                    <a:tab pos="463550" algn="l"/>
                  </a:tabLst>
                </a:pPr>
                <a:r>
                  <a:rPr lang="en-US" sz="2000" dirty="0"/>
                  <a:t>3.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transitive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𝑥𝑅𝑦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𝑦𝑅𝑧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4061CC-07E3-46C9-8108-8B6F19E72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064" y="5213759"/>
                <a:ext cx="6767914" cy="1323439"/>
              </a:xfrm>
              <a:prstGeom prst="rect">
                <a:avLst/>
              </a:prstGeom>
              <a:blipFill>
                <a:blip r:embed="rId7"/>
                <a:stretch>
                  <a:fillRect l="-901" t="-2304" r="-360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40673" y="3773623"/>
            <a:ext cx="741872" cy="40011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Aim: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829464" y="3286664"/>
            <a:ext cx="2757578" cy="368060"/>
            <a:chOff x="2829464" y="5158596"/>
            <a:chExt cx="2757578" cy="368060"/>
          </a:xfrm>
        </p:grpSpPr>
        <p:grpSp>
          <p:nvGrpSpPr>
            <p:cNvPr id="12" name="Group 11"/>
            <p:cNvGrpSpPr/>
            <p:nvPr/>
          </p:nvGrpSpPr>
          <p:grpSpPr>
            <a:xfrm>
              <a:off x="2829464" y="5158596"/>
              <a:ext cx="2757578" cy="0"/>
              <a:chOff x="2829464" y="5158596"/>
              <a:chExt cx="2757578" cy="0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2829464" y="5158596"/>
                <a:ext cx="802257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84785" y="5158596"/>
                <a:ext cx="802257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/>
            <p:cNvCxnSpPr/>
            <p:nvPr/>
          </p:nvCxnSpPr>
          <p:spPr>
            <a:xfrm>
              <a:off x="2829464" y="5526656"/>
              <a:ext cx="8022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3784121" y="3286664"/>
            <a:ext cx="3370053" cy="368060"/>
            <a:chOff x="3784121" y="5158596"/>
            <a:chExt cx="3370053" cy="368060"/>
          </a:xfrm>
        </p:grpSpPr>
        <p:grpSp>
          <p:nvGrpSpPr>
            <p:cNvPr id="17" name="Group 16"/>
            <p:cNvGrpSpPr/>
            <p:nvPr/>
          </p:nvGrpSpPr>
          <p:grpSpPr>
            <a:xfrm>
              <a:off x="3784121" y="5158596"/>
              <a:ext cx="3370053" cy="0"/>
              <a:chOff x="2829464" y="5158596"/>
              <a:chExt cx="3370053" cy="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2829464" y="5158596"/>
                <a:ext cx="802257" cy="0"/>
              </a:xfrm>
              <a:prstGeom prst="line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397260" y="5158596"/>
                <a:ext cx="802257" cy="0"/>
              </a:xfrm>
              <a:prstGeom prst="line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>
              <a:off x="4383656" y="5526656"/>
              <a:ext cx="802257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07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 animBg="1"/>
      <p:bldP spid="7" grpId="0" uiExpand="1" build="p" bldLvl="2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800" dirty="0"/>
                  <a:t> and define the binary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/>
                  <a:t>as follows: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009572"/>
              </a:xfrm>
              <a:prstGeom prst="rect">
                <a:avLst/>
              </a:prstGeom>
              <a:blipFill>
                <a:blip r:embed="rId3"/>
                <a:stretch>
                  <a:fillRect l="-1269" t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1285874" y="1358273"/>
                <a:ext cx="10086975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800" dirty="0"/>
                  <a:t>(b)	Draw the </a:t>
                </a:r>
                <a:r>
                  <a:rPr lang="en-US" sz="2800" dirty="0" err="1"/>
                  <a:t>Hasse</a:t>
                </a:r>
                <a:r>
                  <a:rPr lang="en-US" sz="2800" dirty="0"/>
                  <a:t> diagram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542925" indent="-542925"/>
                <a:r>
                  <a:rPr lang="en-US" sz="2800" dirty="0"/>
                  <a:t>(c)	Find  the maximal, largest, minimal and smallest elements.</a:t>
                </a:r>
              </a:p>
              <a:p>
                <a:pPr marL="542925" indent="-542925"/>
                <a:r>
                  <a:rPr lang="en-US" sz="2800" dirty="0"/>
                  <a:t>(d)	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well-ordered?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4" y="1358273"/>
                <a:ext cx="10086975" cy="1384995"/>
              </a:xfrm>
              <a:prstGeom prst="rect">
                <a:avLst/>
              </a:prstGeom>
              <a:blipFill>
                <a:blip r:embed="rId4"/>
                <a:stretch>
                  <a:fillRect l="-1269" t="-4405" b="-118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558482" y="2710706"/>
            <a:ext cx="2976166" cy="2437127"/>
            <a:chOff x="-125374" y="-88265"/>
            <a:chExt cx="2526442" cy="2090173"/>
          </a:xfrm>
        </p:grpSpPr>
        <p:grpSp>
          <p:nvGrpSpPr>
            <p:cNvPr id="10" name="Group 9"/>
            <p:cNvGrpSpPr/>
            <p:nvPr/>
          </p:nvGrpSpPr>
          <p:grpSpPr>
            <a:xfrm>
              <a:off x="-125374" y="-88265"/>
              <a:ext cx="2526442" cy="2090173"/>
              <a:chOff x="-125374" y="-88265"/>
              <a:chExt cx="2526442" cy="2090173"/>
            </a:xfrm>
          </p:grpSpPr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676773" y="-88265"/>
                <a:ext cx="637179" cy="4065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(1,1)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3" name="Text Box 2"/>
              <p:cNvSpPr txBox="1">
                <a:spLocks noChangeArrowheads="1"/>
              </p:cNvSpPr>
              <p:nvPr/>
            </p:nvSpPr>
            <p:spPr bwMode="auto">
              <a:xfrm>
                <a:off x="1762125" y="571500"/>
                <a:ext cx="638943" cy="3844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(1,0)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4" name="Text Box 2"/>
              <p:cNvSpPr txBox="1">
                <a:spLocks noChangeArrowheads="1"/>
              </p:cNvSpPr>
              <p:nvPr/>
            </p:nvSpPr>
            <p:spPr bwMode="auto">
              <a:xfrm>
                <a:off x="-125374" y="923852"/>
                <a:ext cx="611149" cy="402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(0,1)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5" name="Text Box 2"/>
              <p:cNvSpPr txBox="1">
                <a:spLocks noChangeArrowheads="1"/>
              </p:cNvSpPr>
              <p:nvPr/>
            </p:nvSpPr>
            <p:spPr bwMode="auto">
              <a:xfrm>
                <a:off x="1110619" y="1620908"/>
                <a:ext cx="709055" cy="38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(0,0)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00050" y="247650"/>
              <a:ext cx="1417406" cy="1410331"/>
              <a:chOff x="0" y="0"/>
              <a:chExt cx="1417406" cy="1410331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1304925" y="428625"/>
                <a:ext cx="112481" cy="1054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0" y="0"/>
                <a:ext cx="1381126" cy="1410331"/>
                <a:chOff x="0" y="0"/>
                <a:chExt cx="1381126" cy="1410331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0" y="0"/>
                  <a:ext cx="1352550" cy="1410331"/>
                  <a:chOff x="0" y="0"/>
                  <a:chExt cx="1352550" cy="1410331"/>
                </a:xfrm>
              </p:grpSpPr>
              <p:sp>
                <p:nvSpPr>
                  <p:cNvPr id="16" name="Oval 15"/>
                  <p:cNvSpPr/>
                  <p:nvPr/>
                </p:nvSpPr>
                <p:spPr>
                  <a:xfrm>
                    <a:off x="523875" y="0"/>
                    <a:ext cx="112481" cy="10540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Oval 16"/>
                  <p:cNvSpPr/>
                  <p:nvPr/>
                </p:nvSpPr>
                <p:spPr>
                  <a:xfrm>
                    <a:off x="933450" y="1304925"/>
                    <a:ext cx="112481" cy="10540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90550" y="57150"/>
                    <a:ext cx="762000" cy="43561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/>
                  <p:cNvCxnSpPr/>
                  <p:nvPr/>
                </p:nvCxnSpPr>
                <p:spPr>
                  <a:xfrm>
                    <a:off x="85725" y="828675"/>
                    <a:ext cx="885825" cy="51435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Oval 19"/>
                  <p:cNvSpPr/>
                  <p:nvPr/>
                </p:nvSpPr>
                <p:spPr>
                  <a:xfrm>
                    <a:off x="0" y="771525"/>
                    <a:ext cx="112481" cy="10540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21" name="Straight Arrow Connector 20"/>
                  <p:cNvCxnSpPr/>
                  <p:nvPr/>
                </p:nvCxnSpPr>
                <p:spPr>
                  <a:xfrm flipH="1">
                    <a:off x="66675" y="57150"/>
                    <a:ext cx="523875" cy="76200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" name="Straight Arrow Connector 14"/>
                <p:cNvCxnSpPr>
                  <a:endCxn id="17" idx="7"/>
                </p:cNvCxnSpPr>
                <p:nvPr/>
              </p:nvCxnSpPr>
              <p:spPr>
                <a:xfrm flipH="1">
                  <a:off x="1029459" y="466725"/>
                  <a:ext cx="351667" cy="85363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295DF07-78FC-4F77-8E73-62AC621C73F3}"/>
              </a:ext>
            </a:extLst>
          </p:cNvPr>
          <p:cNvSpPr txBox="1"/>
          <p:nvPr/>
        </p:nvSpPr>
        <p:spPr>
          <a:xfrm>
            <a:off x="5588063" y="2503388"/>
            <a:ext cx="2143126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dirty="0"/>
              <a:t>Maximal: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Largest: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Minimal: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Smallest:</a:t>
            </a:r>
            <a:endParaRPr lang="en-SG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E94E03-F2E8-4177-A99D-D1DF5673E11B}"/>
                  </a:ext>
                </a:extLst>
              </p:cNvPr>
              <p:cNvSpPr txBox="1"/>
              <p:nvPr/>
            </p:nvSpPr>
            <p:spPr>
              <a:xfrm>
                <a:off x="7190901" y="2483021"/>
                <a:ext cx="1301115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E94E03-F2E8-4177-A99D-D1DF5673E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01" y="2483021"/>
                <a:ext cx="130111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1DC0DC-DC6A-4397-ABC3-840700AA1762}"/>
                  </a:ext>
                </a:extLst>
              </p:cNvPr>
              <p:cNvSpPr txBox="1"/>
              <p:nvPr/>
            </p:nvSpPr>
            <p:spPr>
              <a:xfrm>
                <a:off x="7190902" y="3809163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1DC0DC-DC6A-4397-ABC3-840700AA1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02" y="3809163"/>
                <a:ext cx="13011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A35C58-9186-4D0A-95CC-A618DDA87825}"/>
                  </a:ext>
                </a:extLst>
              </p:cNvPr>
              <p:cNvSpPr txBox="1"/>
              <p:nvPr/>
            </p:nvSpPr>
            <p:spPr>
              <a:xfrm>
                <a:off x="7190902" y="3115838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A35C58-9186-4D0A-95CC-A618DDA87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02" y="3115838"/>
                <a:ext cx="13011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BFEBD5-B253-4DCA-B595-BAF55C571321}"/>
                  </a:ext>
                </a:extLst>
              </p:cNvPr>
              <p:cNvSpPr txBox="1"/>
              <p:nvPr/>
            </p:nvSpPr>
            <p:spPr>
              <a:xfrm>
                <a:off x="7190902" y="4441980"/>
                <a:ext cx="1301114" cy="52322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BFEBD5-B253-4DCA-B595-BAF55C571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02" y="4441980"/>
                <a:ext cx="130111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829150" y="2724784"/>
                <a:ext cx="2825284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Not well-ordered</a:t>
                </a:r>
                <a:r>
                  <a:rPr lang="en-US" sz="2800" dirty="0"/>
                  <a:t>. </a:t>
                </a:r>
              </a:p>
              <a:p>
                <a:r>
                  <a:rPr lang="en-US" sz="2400" dirty="0"/>
                  <a:t>Reason: It is not even a total order,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(0,1)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(1,0) </m:t>
                    </m:r>
                  </m:oMath>
                </a14:m>
                <a:r>
                  <a:rPr lang="en-US" sz="2400" dirty="0"/>
                  <a:t>are </a:t>
                </a:r>
                <a:r>
                  <a:rPr lang="en-US" sz="2400" u="sng" dirty="0"/>
                  <a:t>not</a:t>
                </a:r>
                <a:r>
                  <a:rPr lang="en-US" sz="2400" dirty="0"/>
                  <a:t> comparable.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150" y="2724784"/>
                <a:ext cx="2825284" cy="2000548"/>
              </a:xfrm>
              <a:prstGeom prst="rect">
                <a:avLst/>
              </a:prstGeom>
              <a:blipFill>
                <a:blip r:embed="rId9"/>
                <a:stretch>
                  <a:fillRect l="-4310" t="-3049" r="-5388"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/>
              <p:nvPr/>
            </p:nvSpPr>
            <p:spPr>
              <a:xfrm>
                <a:off x="353493" y="5110623"/>
                <a:ext cx="6785291" cy="1477328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partially ordered with respect to a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7188" indent="-357188"/>
                <a:r>
                  <a:rPr lang="en-US" b="0" dirty="0"/>
                  <a:t>1.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maximal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/>
                <a:r>
                  <a:rPr lang="en-US" dirty="0"/>
                  <a:t>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minimal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tabLst>
                    <a:tab pos="1797050" algn="l"/>
                  </a:tabLst>
                </a:pPr>
                <a:r>
                  <a:rPr lang="en-US" dirty="0"/>
                  <a:t>3.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largest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  <a:p>
                <a:pPr marL="338138" indent="-338138"/>
                <a:r>
                  <a:rPr lang="en-SG" dirty="0"/>
                  <a:t>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smallest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93" y="5110623"/>
                <a:ext cx="6785291" cy="1477328"/>
              </a:xfrm>
              <a:prstGeom prst="rect">
                <a:avLst/>
              </a:prstGeom>
              <a:blipFill>
                <a:blip r:embed="rId10"/>
                <a:stretch>
                  <a:fillRect l="-809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1434F3-3082-4180-89A3-270951C0D110}"/>
                  </a:ext>
                </a:extLst>
              </p:cNvPr>
              <p:cNvSpPr txBox="1"/>
              <p:nvPr/>
            </p:nvSpPr>
            <p:spPr>
              <a:xfrm>
                <a:off x="7394303" y="5139238"/>
                <a:ext cx="4300769" cy="1015663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88900" algn="l"/>
                    <a:tab pos="2781300" algn="l"/>
                  </a:tabLst>
                </a:pPr>
                <a:r>
                  <a:rPr lang="en-US" sz="2000" dirty="0"/>
                  <a:t>A </a:t>
                </a:r>
                <a:r>
                  <a:rPr lang="en-US" sz="2000" dirty="0">
                    <a:solidFill>
                      <a:schemeClr val="tx1"/>
                    </a:solidFill>
                  </a:rPr>
                  <a:t>relation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on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total order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iff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tabLst>
                    <a:tab pos="88900" algn="l"/>
                    <a:tab pos="2781300" algn="l"/>
                  </a:tabLst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partial order    and    </a:t>
                </a:r>
                <a:endParaRPr lang="en-US" sz="2000" dirty="0"/>
              </a:p>
              <a:p>
                <a:pPr>
                  <a:tabLst>
                    <a:tab pos="88900" algn="l"/>
                    <a:tab pos="2781300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1434F3-3082-4180-89A3-270951C0D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03" y="5139238"/>
                <a:ext cx="4300769" cy="1015663"/>
              </a:xfrm>
              <a:prstGeom prst="rect">
                <a:avLst/>
              </a:prstGeom>
              <a:blipFill>
                <a:blip r:embed="rId11"/>
                <a:stretch>
                  <a:fillRect l="-1414" t="-2367" r="-1132" b="-1775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78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965497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346978" y="281629"/>
                <a:ext cx="10476054" cy="22467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non-empty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 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by: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Show that (a)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reflexive; (b)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; and </a:t>
                </a:r>
              </a:p>
              <a:p>
                <a:r>
                  <a:rPr lang="en-US" sz="2800" dirty="0"/>
                  <a:t>(c) if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another reflexive relation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800" dirty="0"/>
                  <a:t>What is this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called?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978" y="281629"/>
                <a:ext cx="10476054" cy="2246769"/>
              </a:xfrm>
              <a:prstGeom prst="rect">
                <a:avLst/>
              </a:prstGeom>
              <a:blipFill>
                <a:blip r:embed="rId3"/>
                <a:stretch>
                  <a:fillRect l="-1222" t="-2439" r="-1339" b="-6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68873" y="2974707"/>
                <a:ext cx="7556390" cy="153888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Therefore,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reflexive.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873" y="2974707"/>
                <a:ext cx="7556390" cy="1538883"/>
              </a:xfrm>
              <a:prstGeom prst="rect">
                <a:avLst/>
              </a:prstGeom>
              <a:blipFill>
                <a:blip r:embed="rId4"/>
                <a:stretch>
                  <a:fillRect l="-1613" t="-3968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36451" y="2412399"/>
            <a:ext cx="68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/>
              <p:nvPr/>
            </p:nvSpPr>
            <p:spPr>
              <a:xfrm>
                <a:off x="522087" y="5679436"/>
                <a:ext cx="3674774" cy="707886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reflexive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BEFD7-8D3C-4537-AA4E-31A23C550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87" y="5679436"/>
                <a:ext cx="3674774" cy="707886"/>
              </a:xfrm>
              <a:prstGeom prst="rect">
                <a:avLst/>
              </a:prstGeom>
              <a:blipFill>
                <a:blip r:embed="rId5"/>
                <a:stretch>
                  <a:fillRect l="-1827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5 Points 4">
            <a:extLst>
              <a:ext uri="{FF2B5EF4-FFF2-40B4-BE49-F238E27FC236}">
                <a16:creationId xmlns:a16="http://schemas.microsoft.com/office/drawing/2014/main" id="{A8F91B49-A78F-A062-53C4-60E5F091322D}"/>
              </a:ext>
            </a:extLst>
          </p:cNvPr>
          <p:cNvSpPr/>
          <p:nvPr/>
        </p:nvSpPr>
        <p:spPr>
          <a:xfrm>
            <a:off x="10803836" y="541634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14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965497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68873" y="2974707"/>
                <a:ext cx="7556390" cy="204671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Suppose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that is,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So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Therefore,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by the definition of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873" y="2974707"/>
                <a:ext cx="7556390" cy="2046714"/>
              </a:xfrm>
              <a:prstGeom prst="rect">
                <a:avLst/>
              </a:prstGeom>
              <a:blipFill>
                <a:blip r:embed="rId3"/>
                <a:stretch>
                  <a:fillRect l="-1613" t="-2976" b="-7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36451" y="2412399"/>
            <a:ext cx="68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858664" y="3135674"/>
                <a:ext cx="3140015" cy="400110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Aim: To arrive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64" y="3135674"/>
                <a:ext cx="3140015" cy="400110"/>
              </a:xfrm>
              <a:prstGeom prst="rect">
                <a:avLst/>
              </a:prstGeom>
              <a:blipFill>
                <a:blip r:embed="rId4"/>
                <a:stretch>
                  <a:fillRect l="-1942" t="-7576" r="-58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346978" y="281629"/>
                <a:ext cx="10476054" cy="22467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non-empty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 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by: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Show that (a)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reflexive; (b)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; and </a:t>
                </a:r>
              </a:p>
              <a:p>
                <a:r>
                  <a:rPr lang="en-US" sz="2800" dirty="0"/>
                  <a:t>(c) if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another reflexive relation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800" dirty="0"/>
                  <a:t>What is this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called?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978" y="281629"/>
                <a:ext cx="10476054" cy="2246769"/>
              </a:xfrm>
              <a:prstGeom prst="rect">
                <a:avLst/>
              </a:prstGeom>
              <a:blipFill>
                <a:blip r:embed="rId4"/>
                <a:stretch>
                  <a:fillRect l="-1222" t="-2439" r="-1339" b="-6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85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965497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346978" y="281629"/>
                <a:ext cx="10331116" cy="22467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non-empty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 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by: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Show that (a)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reflexive; (b)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; and </a:t>
                </a:r>
              </a:p>
              <a:p>
                <a:r>
                  <a:rPr lang="en-US" sz="2800" dirty="0"/>
                  <a:t>(c) if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another reflexive relation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800" dirty="0"/>
                  <a:t>What is this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called?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978" y="281629"/>
                <a:ext cx="10331116" cy="2246769"/>
              </a:xfrm>
              <a:prstGeom prst="rect">
                <a:avLst/>
              </a:prstGeom>
              <a:blipFill>
                <a:blip r:embed="rId3"/>
                <a:stretch>
                  <a:fillRect l="-1239" t="-2439" b="-6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53481" y="2507400"/>
                <a:ext cx="8728950" cy="397031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600" dirty="0"/>
                  <a:t>Suppose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Then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600" dirty="0"/>
                  <a:t>, which means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>
                    <a:solidFill>
                      <a:srgbClr val="006600"/>
                    </a:solidFill>
                  </a:rPr>
                  <a:t>by the </a:t>
                </a:r>
                <a:r>
                  <a:rPr lang="en-US" sz="26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sz="2600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Case 1: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600" dirty="0"/>
              </a:p>
              <a:p>
                <a:pPr>
                  <a:tabLst>
                    <a:tab pos="625475" algn="l"/>
                    <a:tab pos="1379538" algn="l"/>
                  </a:tabLst>
                </a:pPr>
                <a:r>
                  <a:rPr lang="en-US" sz="2400" dirty="0"/>
                  <a:t>	3.1.	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reflexive.</a:t>
                </a:r>
              </a:p>
              <a:p>
                <a:pPr>
                  <a:tabLst>
                    <a:tab pos="625475" algn="l"/>
                    <a:tab pos="1379538" algn="l"/>
                  </a:tabLst>
                </a:pPr>
                <a:r>
                  <a:rPr lang="en-US" sz="2400" dirty="0"/>
                  <a:t>	3.2.	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600" dirty="0"/>
                  <a:t>Case 2: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600" dirty="0"/>
              </a:p>
              <a:p>
                <a:pPr>
                  <a:tabLst>
                    <a:tab pos="577850" algn="l"/>
                    <a:tab pos="1250950" algn="l"/>
                  </a:tabLst>
                </a:pPr>
                <a:r>
                  <a:rPr lang="en-US" sz="2400" dirty="0"/>
                  <a:t>	4.1.	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577850" algn="l"/>
                    <a:tab pos="1250950" algn="l"/>
                  </a:tabLst>
                </a:pPr>
                <a:r>
                  <a:rPr lang="en-US" sz="2400" dirty="0"/>
                  <a:t>	4.2.	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sz="2600" dirty="0"/>
                  <a:t>In all cases,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sz="2600" dirty="0"/>
                  <a:t>Therefore,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81" y="2507400"/>
                <a:ext cx="8728950" cy="3970318"/>
              </a:xfrm>
              <a:prstGeom prst="rect">
                <a:avLst/>
              </a:prstGeom>
              <a:blipFill>
                <a:blip r:embed="rId4"/>
                <a:stretch>
                  <a:fillRect l="-1327" t="-1380" b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36451" y="2412399"/>
            <a:ext cx="68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0" y="4281645"/>
                <a:ext cx="5324862" cy="1369606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600" dirty="0"/>
                  <a:t> is called the </a:t>
                </a:r>
                <a:r>
                  <a:rPr lang="en-US" sz="2600" b="1" dirty="0"/>
                  <a:t>reflexive closure </a:t>
                </a:r>
                <a:r>
                  <a:rPr lang="en-US" sz="2600" dirty="0"/>
                  <a:t>of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It is the smallest relation on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600" dirty="0"/>
                  <a:t> that is reflexive and contains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600" dirty="0"/>
                  <a:t> as a subset.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81645"/>
                <a:ext cx="5324862" cy="1369606"/>
              </a:xfrm>
              <a:prstGeom prst="rect">
                <a:avLst/>
              </a:prstGeom>
              <a:blipFill>
                <a:blip r:embed="rId5"/>
                <a:stretch>
                  <a:fillRect l="-2059" t="-3556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11609" y="5651251"/>
            <a:ext cx="741872" cy="40011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Aim:</a:t>
            </a:r>
          </a:p>
        </p:txBody>
      </p:sp>
    </p:spTree>
    <p:extLst>
      <p:ext uri="{BB962C8B-B14F-4D97-AF65-F5344CB8AC3E}">
        <p14:creationId xmlns:p14="http://schemas.microsoft.com/office/powerpoint/2010/main" val="52233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5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antisymmetric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asymmetric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blipFill>
                <a:blip r:embed="rId3"/>
                <a:stretch>
                  <a:fillRect l="-1269" t="-4405" b="-118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594835" y="1670383"/>
                <a:ext cx="6602285" cy="218521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Find a binary relation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is …</a:t>
                </a:r>
              </a:p>
              <a:p>
                <a:pPr marL="542925" indent="-542925"/>
                <a:r>
                  <a:rPr lang="en-US" sz="2800" dirty="0"/>
                  <a:t>(a)	both asymmetric and antisymmetric.</a:t>
                </a:r>
              </a:p>
              <a:p>
                <a:pPr marL="542925" indent="-542925"/>
                <a:r>
                  <a:rPr lang="en-US" sz="2800" dirty="0"/>
                  <a:t>(b)	not asymmetric but antisymmetric.</a:t>
                </a:r>
              </a:p>
              <a:p>
                <a:pPr marL="542925" indent="-542925"/>
                <a:r>
                  <a:rPr lang="en-US" sz="2800" dirty="0"/>
                  <a:t>(c)	asymmetric but not antisymmetric.</a:t>
                </a:r>
              </a:p>
              <a:p>
                <a:pPr marL="542925" indent="-542925"/>
                <a:r>
                  <a:rPr lang="en-US" sz="2800" dirty="0"/>
                  <a:t>(d)	neither asymmetric nor antisymmetric.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5" y="1670383"/>
                <a:ext cx="6602285" cy="2185214"/>
              </a:xfrm>
              <a:prstGeom prst="rect">
                <a:avLst/>
              </a:prstGeom>
              <a:blipFill>
                <a:blip r:embed="rId4"/>
                <a:stretch>
                  <a:fillRect l="-1939" t="-2235" b="-72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flipH="1">
            <a:off x="7812505" y="1363579"/>
            <a:ext cx="272715" cy="2887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78138" y="2748574"/>
                <a:ext cx="28554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38" y="2748574"/>
                <a:ext cx="2855495" cy="523220"/>
              </a:xfrm>
              <a:prstGeom prst="rect">
                <a:avLst/>
              </a:prstGeom>
              <a:blipFill>
                <a:blip r:embed="rId5"/>
                <a:stretch>
                  <a:fillRect l="-4487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71297" y="3898285"/>
            <a:ext cx="623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1783" y="3898285"/>
            <a:ext cx="631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9795" y="3898285"/>
            <a:ext cx="631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8794" y="3898285"/>
            <a:ext cx="631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1603" y="4412964"/>
            <a:ext cx="767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705191" y="3914315"/>
            <a:ext cx="2785580" cy="2476716"/>
            <a:chOff x="705191" y="3735777"/>
            <a:chExt cx="2785580" cy="247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705191" y="3735777"/>
                  <a:ext cx="27855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191" y="3735777"/>
                  <a:ext cx="278558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Group 40"/>
            <p:cNvGrpSpPr/>
            <p:nvPr/>
          </p:nvGrpSpPr>
          <p:grpSpPr>
            <a:xfrm>
              <a:off x="992370" y="4248921"/>
              <a:ext cx="2375133" cy="1963572"/>
              <a:chOff x="-10059" y="0"/>
              <a:chExt cx="1799682" cy="1350570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-10059" y="0"/>
                <a:ext cx="1799682" cy="1350570"/>
                <a:chOff x="-10059" y="0"/>
                <a:chExt cx="1799682" cy="135057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10059" y="0"/>
                      <a:ext cx="319550" cy="30933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-10059" y="0"/>
                      <a:ext cx="319550" cy="30933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56006" y="21101"/>
                      <a:ext cx="333617" cy="28823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456006" y="21101"/>
                      <a:ext cx="333617" cy="28823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7246"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62708" y="991772"/>
                      <a:ext cx="333964" cy="35879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62708" y="991772"/>
                      <a:ext cx="333964" cy="35879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6" name="Group 75"/>
                <p:cNvGrpSpPr/>
                <p:nvPr/>
              </p:nvGrpSpPr>
              <p:grpSpPr>
                <a:xfrm>
                  <a:off x="246185" y="112541"/>
                  <a:ext cx="1287193" cy="1062111"/>
                  <a:chOff x="0" y="0"/>
                  <a:chExt cx="1287193" cy="1062111"/>
                </a:xfrm>
              </p:grpSpPr>
              <p:grpSp>
                <p:nvGrpSpPr>
                  <p:cNvPr id="77" name="Group 76"/>
                  <p:cNvGrpSpPr/>
                  <p:nvPr/>
                </p:nvGrpSpPr>
                <p:grpSpPr>
                  <a:xfrm>
                    <a:off x="0" y="0"/>
                    <a:ext cx="1287193" cy="105508"/>
                    <a:chOff x="0" y="0"/>
                    <a:chExt cx="1287193" cy="105508"/>
                  </a:xfrm>
                </p:grpSpPr>
                <p:sp>
                  <p:nvSpPr>
                    <p:cNvPr id="79" name="Oval 78"/>
                    <p:cNvSpPr/>
                    <p:nvPr/>
                  </p:nvSpPr>
                  <p:spPr>
                    <a:xfrm>
                      <a:off x="0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" name="Oval 79"/>
                    <p:cNvSpPr/>
                    <p:nvPr/>
                  </p:nvSpPr>
                  <p:spPr>
                    <a:xfrm>
                      <a:off x="1174652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78" name="Oval 77"/>
                  <p:cNvSpPr/>
                  <p:nvPr/>
                </p:nvSpPr>
                <p:spPr>
                  <a:xfrm>
                    <a:off x="583809" y="956603"/>
                    <a:ext cx="112541" cy="1055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70" name="Group 69"/>
              <p:cNvGrpSpPr/>
              <p:nvPr/>
            </p:nvGrpSpPr>
            <p:grpSpPr>
              <a:xfrm>
                <a:off x="335629" y="152969"/>
                <a:ext cx="1038745" cy="865683"/>
                <a:chOff x="110585" y="41599"/>
                <a:chExt cx="1038855" cy="865683"/>
              </a:xfrm>
            </p:grpSpPr>
            <p:cxnSp>
              <p:nvCxnSpPr>
                <p:cNvPr id="71" name="Straight Arrow Connector 70"/>
                <p:cNvCxnSpPr/>
                <p:nvPr/>
              </p:nvCxnSpPr>
              <p:spPr>
                <a:xfrm>
                  <a:off x="175064" y="41599"/>
                  <a:ext cx="97437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/>
                <p:nvPr/>
              </p:nvCxnSpPr>
              <p:spPr>
                <a:xfrm>
                  <a:off x="110585" y="162799"/>
                  <a:ext cx="503588" cy="74448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2" name="Group 81"/>
          <p:cNvGrpSpPr/>
          <p:nvPr/>
        </p:nvGrpSpPr>
        <p:grpSpPr>
          <a:xfrm>
            <a:off x="3981731" y="3900704"/>
            <a:ext cx="2785580" cy="2539656"/>
            <a:chOff x="3981731" y="3722166"/>
            <a:chExt cx="2785580" cy="25396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981731" y="3722166"/>
                  <a:ext cx="27855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731" y="3722166"/>
                  <a:ext cx="2785580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oup 41"/>
            <p:cNvGrpSpPr/>
            <p:nvPr/>
          </p:nvGrpSpPr>
          <p:grpSpPr>
            <a:xfrm>
              <a:off x="4159897" y="4223067"/>
              <a:ext cx="2516054" cy="2038755"/>
              <a:chOff x="-24566" y="-51712"/>
              <a:chExt cx="1831615" cy="1402282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-24566" y="-51712"/>
                <a:ext cx="1831615" cy="1402282"/>
                <a:chOff x="-24566" y="-51712"/>
                <a:chExt cx="1831615" cy="14022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24566" y="-51712"/>
                      <a:ext cx="313994" cy="36523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-24566" y="-51712"/>
                      <a:ext cx="313994" cy="36523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02068" y="8852"/>
                      <a:ext cx="304981" cy="28823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502068" y="8852"/>
                      <a:ext cx="304981" cy="288233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7246"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4198" y="991772"/>
                      <a:ext cx="338000" cy="35879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34198" y="991772"/>
                      <a:ext cx="338000" cy="35879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4" name="Group 63"/>
                <p:cNvGrpSpPr/>
                <p:nvPr/>
              </p:nvGrpSpPr>
              <p:grpSpPr>
                <a:xfrm>
                  <a:off x="246185" y="112541"/>
                  <a:ext cx="1287193" cy="1062111"/>
                  <a:chOff x="0" y="0"/>
                  <a:chExt cx="1287193" cy="1062111"/>
                </a:xfrm>
              </p:grpSpPr>
              <p:grpSp>
                <p:nvGrpSpPr>
                  <p:cNvPr id="65" name="Group 64"/>
                  <p:cNvGrpSpPr/>
                  <p:nvPr/>
                </p:nvGrpSpPr>
                <p:grpSpPr>
                  <a:xfrm>
                    <a:off x="0" y="0"/>
                    <a:ext cx="1287193" cy="105508"/>
                    <a:chOff x="0" y="0"/>
                    <a:chExt cx="1287193" cy="105508"/>
                  </a:xfrm>
                </p:grpSpPr>
                <p:sp>
                  <p:nvSpPr>
                    <p:cNvPr id="67" name="Oval 66"/>
                    <p:cNvSpPr/>
                    <p:nvPr/>
                  </p:nvSpPr>
                  <p:spPr>
                    <a:xfrm>
                      <a:off x="0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" name="Oval 67"/>
                    <p:cNvSpPr/>
                    <p:nvPr/>
                  </p:nvSpPr>
                  <p:spPr>
                    <a:xfrm>
                      <a:off x="1174652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6" name="Oval 65"/>
                  <p:cNvSpPr/>
                  <p:nvPr/>
                </p:nvSpPr>
                <p:spPr>
                  <a:xfrm>
                    <a:off x="583809" y="956603"/>
                    <a:ext cx="112541" cy="1055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8" name="Group 57"/>
              <p:cNvGrpSpPr/>
              <p:nvPr/>
            </p:nvGrpSpPr>
            <p:grpSpPr>
              <a:xfrm>
                <a:off x="338851" y="121733"/>
                <a:ext cx="1064835" cy="904756"/>
                <a:chOff x="113807" y="10365"/>
                <a:chExt cx="1064948" cy="904835"/>
              </a:xfrm>
            </p:grpSpPr>
            <p:cxnSp>
              <p:nvCxnSpPr>
                <p:cNvPr id="59" name="Straight Arrow Connector 58"/>
                <p:cNvCxnSpPr/>
                <p:nvPr/>
              </p:nvCxnSpPr>
              <p:spPr>
                <a:xfrm flipH="1">
                  <a:off x="678109" y="169985"/>
                  <a:ext cx="500646" cy="74521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Freeform: Shape 256"/>
                <p:cNvSpPr/>
                <p:nvPr/>
              </p:nvSpPr>
              <p:spPr>
                <a:xfrm>
                  <a:off x="113807" y="10365"/>
                  <a:ext cx="195367" cy="243519"/>
                </a:xfrm>
                <a:custGeom>
                  <a:avLst/>
                  <a:gdLst>
                    <a:gd name="connsiteX0" fmla="*/ 62616 w 240447"/>
                    <a:gd name="connsiteY0" fmla="*/ 23154 h 271739"/>
                    <a:gd name="connsiteX1" fmla="*/ 210326 w 240447"/>
                    <a:gd name="connsiteY1" fmla="*/ 16120 h 271739"/>
                    <a:gd name="connsiteX2" fmla="*/ 224394 w 240447"/>
                    <a:gd name="connsiteY2" fmla="*/ 206034 h 271739"/>
                    <a:gd name="connsiteX3" fmla="*/ 27446 w 240447"/>
                    <a:gd name="connsiteY3" fmla="*/ 269339 h 271739"/>
                    <a:gd name="connsiteX4" fmla="*/ 6345 w 240447"/>
                    <a:gd name="connsiteY4" fmla="*/ 135696 h 271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0447" h="271739">
                      <a:moveTo>
                        <a:pt x="62616" y="23154"/>
                      </a:moveTo>
                      <a:cubicBezTo>
                        <a:pt x="122989" y="4397"/>
                        <a:pt x="183363" y="-14360"/>
                        <a:pt x="210326" y="16120"/>
                      </a:cubicBezTo>
                      <a:cubicBezTo>
                        <a:pt x="237289" y="46600"/>
                        <a:pt x="254874" y="163831"/>
                        <a:pt x="224394" y="206034"/>
                      </a:cubicBezTo>
                      <a:cubicBezTo>
                        <a:pt x="193914" y="248237"/>
                        <a:pt x="63788" y="281062"/>
                        <a:pt x="27446" y="269339"/>
                      </a:cubicBezTo>
                      <a:cubicBezTo>
                        <a:pt x="-8896" y="257616"/>
                        <a:pt x="-1276" y="196656"/>
                        <a:pt x="6345" y="135696"/>
                      </a:cubicBez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83" name="Group 82"/>
          <p:cNvGrpSpPr/>
          <p:nvPr/>
        </p:nvGrpSpPr>
        <p:grpSpPr>
          <a:xfrm>
            <a:off x="8264488" y="3914315"/>
            <a:ext cx="3738290" cy="2440020"/>
            <a:chOff x="8264488" y="3735777"/>
            <a:chExt cx="3738290" cy="24400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8264488" y="3735777"/>
                  <a:ext cx="373829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4488" y="3735777"/>
                  <a:ext cx="3738290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" name="Group 42"/>
            <p:cNvGrpSpPr/>
            <p:nvPr/>
          </p:nvGrpSpPr>
          <p:grpSpPr>
            <a:xfrm>
              <a:off x="8860985" y="4133504"/>
              <a:ext cx="2481175" cy="2042293"/>
              <a:chOff x="0" y="-92491"/>
              <a:chExt cx="1800416" cy="1439742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0" y="-92491"/>
                <a:ext cx="1800416" cy="1439742"/>
                <a:chOff x="0" y="-92491"/>
                <a:chExt cx="1800416" cy="143974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-92491"/>
                      <a:ext cx="309489" cy="27432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0" y="-92491"/>
                      <a:ext cx="309489" cy="27432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6250"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90927" y="-23907"/>
                      <a:ext cx="309489" cy="33161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490927" y="-23907"/>
                      <a:ext cx="309489" cy="33161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56945" y="976403"/>
                      <a:ext cx="443160" cy="37084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 Box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56945" y="976403"/>
                      <a:ext cx="443160" cy="37084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2" name="Group 51"/>
                <p:cNvGrpSpPr/>
                <p:nvPr/>
              </p:nvGrpSpPr>
              <p:grpSpPr>
                <a:xfrm>
                  <a:off x="246185" y="112541"/>
                  <a:ext cx="1287193" cy="1062111"/>
                  <a:chOff x="0" y="0"/>
                  <a:chExt cx="1287193" cy="1062111"/>
                </a:xfrm>
              </p:grpSpPr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0" y="0"/>
                    <a:ext cx="1287193" cy="105508"/>
                    <a:chOff x="0" y="0"/>
                    <a:chExt cx="1287193" cy="105508"/>
                  </a:xfrm>
                </p:grpSpPr>
                <p:sp>
                  <p:nvSpPr>
                    <p:cNvPr id="55" name="Oval 54"/>
                    <p:cNvSpPr/>
                    <p:nvPr/>
                  </p:nvSpPr>
                  <p:spPr>
                    <a:xfrm>
                      <a:off x="0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" name="Oval 55"/>
                    <p:cNvSpPr/>
                    <p:nvPr/>
                  </p:nvSpPr>
                  <p:spPr>
                    <a:xfrm>
                      <a:off x="1174652" y="0"/>
                      <a:ext cx="112541" cy="10550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4" name="Oval 53"/>
                  <p:cNvSpPr/>
                  <p:nvPr/>
                </p:nvSpPr>
                <p:spPr>
                  <a:xfrm>
                    <a:off x="583809" y="956603"/>
                    <a:ext cx="112541" cy="1055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45" name="Group 44"/>
              <p:cNvGrpSpPr/>
              <p:nvPr/>
            </p:nvGrpSpPr>
            <p:grpSpPr>
              <a:xfrm>
                <a:off x="364562" y="111369"/>
                <a:ext cx="1038749" cy="907281"/>
                <a:chOff x="139521" y="0"/>
                <a:chExt cx="1038859" cy="907281"/>
              </a:xfrm>
            </p:grpSpPr>
            <p:cxnSp>
              <p:nvCxnSpPr>
                <p:cNvPr id="46" name="Straight Arrow Connector 45"/>
                <p:cNvCxnSpPr/>
                <p:nvPr/>
              </p:nvCxnSpPr>
              <p:spPr>
                <a:xfrm>
                  <a:off x="204004" y="84406"/>
                  <a:ext cx="97437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 flipH="1">
                  <a:off x="178823" y="0"/>
                  <a:ext cx="96781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>
                  <a:off x="139521" y="143178"/>
                  <a:ext cx="474653" cy="76410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44433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antisymmetric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asymmetric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blipFill>
                <a:blip r:embed="rId3"/>
                <a:stretch>
                  <a:fillRect l="-1269" t="-4405" b="-118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594835" y="1670383"/>
                <a:ext cx="6062639" cy="89255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Find a binary relation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is …</a:t>
                </a:r>
              </a:p>
              <a:p>
                <a:pPr marL="542925" indent="-542925"/>
                <a:r>
                  <a:rPr lang="en-US" sz="2800" dirty="0"/>
                  <a:t>(c)	asymmetric but not antisymmetric.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5" y="1670383"/>
                <a:ext cx="6062639" cy="892552"/>
              </a:xfrm>
              <a:prstGeom prst="rect">
                <a:avLst/>
              </a:prstGeom>
              <a:blipFill>
                <a:blip r:embed="rId4"/>
                <a:stretch>
                  <a:fillRect l="-2113" t="-5479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flipH="1">
            <a:off x="7812505" y="1363579"/>
            <a:ext cx="272715" cy="2887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870281" y="2604126"/>
            <a:ext cx="10668936" cy="3385542"/>
            <a:chOff x="833253" y="2604328"/>
            <a:chExt cx="10668936" cy="33855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/>
                <p:nvPr/>
              </p:nvSpPr>
              <p:spPr>
                <a:xfrm>
                  <a:off x="833253" y="2604328"/>
                  <a:ext cx="10668936" cy="338554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L="465138" indent="-465138"/>
                  <a:r>
                    <a:rPr lang="en-US" sz="2800" dirty="0"/>
                    <a:t>1.	Take any binary relation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800" dirty="0"/>
                    <a:t> on a set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800" dirty="0"/>
                    <a:t>.</a:t>
                  </a:r>
                </a:p>
                <a:p>
                  <a:pPr marL="465138" indent="-465138"/>
                  <a:r>
                    <a:rPr lang="en-US" sz="2800" dirty="0">
                      <a:ea typeface="Cambria Math" panose="02040503050406030204" pitchFamily="18" charset="0"/>
                    </a:rPr>
                    <a:t>2.	Suppose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800" dirty="0">
                      <a:ea typeface="Cambria Math" panose="02040503050406030204" pitchFamily="18" charset="0"/>
                    </a:rPr>
                    <a:t> is asymmetric.,</a:t>
                  </a:r>
                </a:p>
                <a:p>
                  <a:pPr marL="465138" indent="-465138">
                    <a:tabLst>
                      <a:tab pos="1203325" algn="l"/>
                    </a:tabLst>
                  </a:pPr>
                  <a:r>
                    <a:rPr lang="en-US" sz="2600" dirty="0">
                      <a:ea typeface="Cambria Math" panose="02040503050406030204" pitchFamily="18" charset="0"/>
                    </a:rPr>
                    <a:t>	2.1.	Then </a:t>
                  </a:r>
                  <a14:m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sz="2600" dirty="0"/>
                    <a:t> </a:t>
                  </a:r>
                  <a:r>
                    <a:rPr lang="en-US" sz="2600" dirty="0">
                      <a:solidFill>
                        <a:srgbClr val="006600"/>
                      </a:solidFill>
                    </a:rPr>
                    <a:t>by the definition of asymmetry</a:t>
                  </a:r>
                  <a:r>
                    <a:rPr lang="en-US" sz="2600" dirty="0"/>
                    <a:t>.</a:t>
                  </a:r>
                </a:p>
                <a:p>
                  <a:pPr marL="465138" indent="-465138">
                    <a:tabLst>
                      <a:tab pos="1203325" algn="l"/>
                    </a:tabLst>
                  </a:pPr>
                  <a:endParaRPr lang="en-US" sz="2600" dirty="0">
                    <a:ea typeface="Cambria Math" panose="02040503050406030204" pitchFamily="18" charset="0"/>
                  </a:endParaRPr>
                </a:p>
                <a:p>
                  <a:pPr marL="465138" indent="-465138">
                    <a:tabLst>
                      <a:tab pos="1203325" algn="l"/>
                    </a:tabLst>
                  </a:pPr>
                  <a:endParaRPr lang="en-US" sz="2600" dirty="0">
                    <a:ea typeface="Cambria Math" panose="02040503050406030204" pitchFamily="18" charset="0"/>
                  </a:endParaRPr>
                </a:p>
                <a:p>
                  <a:pPr marL="465138" indent="-465138">
                    <a:tabLst>
                      <a:tab pos="1203325" algn="l"/>
                    </a:tabLst>
                  </a:pPr>
                  <a:endParaRPr lang="en-US" sz="2600" dirty="0">
                    <a:ea typeface="Cambria Math" panose="02040503050406030204" pitchFamily="18" charset="0"/>
                  </a:endParaRPr>
                </a:p>
                <a:p>
                  <a:pPr marL="465138" indent="-465138">
                    <a:tabLst>
                      <a:tab pos="1203325" algn="l"/>
                    </a:tabLst>
                  </a:pPr>
                  <a:r>
                    <a:rPr lang="en-US" sz="2600" dirty="0">
                      <a:ea typeface="Cambria Math" panose="02040503050406030204" pitchFamily="18" charset="0"/>
                    </a:rPr>
                    <a:t>	2.5.	</a:t>
                  </a:r>
                  <a14:m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sz="2600"/>
                        <m:t> 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by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b="0" i="0" smtClean="0">
                          <a:solidFill>
                            <a:srgbClr val="006600"/>
                          </a:solidFill>
                        </a:rPr>
                        <m:t>implication</m:t>
                      </m:r>
                      <m:r>
                        <m:rPr>
                          <m:nor/>
                        </m:rPr>
                        <a:rPr lang="en-US" sz="2600" b="0" i="0" smtClean="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b="0" i="0" smtClean="0">
                          <a:solidFill>
                            <a:srgbClr val="006600"/>
                          </a:solidFill>
                        </a:rPr>
                        <m:t>law</m:t>
                      </m:r>
                      <m:r>
                        <m:rPr>
                          <m:nor/>
                        </m:rPr>
                        <a:rPr lang="en-US" sz="2600"/>
                        <m:t>.</m:t>
                      </m:r>
                    </m:oMath>
                  </a14:m>
                  <a:endParaRPr lang="en-US" sz="2600" dirty="0">
                    <a:ea typeface="Cambria Math" panose="02040503050406030204" pitchFamily="18" charset="0"/>
                  </a:endParaRPr>
                </a:p>
                <a:p>
                  <a:pPr marL="465138" indent="-465138"/>
                  <a:r>
                    <a:rPr lang="en-US" sz="2800" dirty="0">
                      <a:ea typeface="Cambria Math" panose="02040503050406030204" pitchFamily="18" charset="0"/>
                    </a:rPr>
                    <a:t>3.	Line 2.5 </a:t>
                  </a:r>
                  <a:r>
                    <a:rPr lang="en-US" sz="2800" dirty="0">
                      <a:solidFill>
                        <a:srgbClr val="006600"/>
                      </a:solidFill>
                      <a:ea typeface="Cambria Math" panose="02040503050406030204" pitchFamily="18" charset="0"/>
                    </a:rPr>
                    <a:t>is the definition of </a:t>
                  </a:r>
                  <a:r>
                    <a:rPr lang="en-US" sz="2800" dirty="0" err="1">
                      <a:solidFill>
                        <a:srgbClr val="006600"/>
                      </a:solidFill>
                      <a:ea typeface="Cambria Math" panose="02040503050406030204" pitchFamily="18" charset="0"/>
                    </a:rPr>
                    <a:t>antisymmetry</a:t>
                  </a:r>
                  <a:r>
                    <a:rPr lang="en-US" sz="2800" dirty="0">
                      <a:ea typeface="Cambria Math" panose="02040503050406030204" pitchFamily="18" charset="0"/>
                    </a:rPr>
                    <a:t>, hence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800" dirty="0">
                      <a:ea typeface="Cambria Math" panose="02040503050406030204" pitchFamily="18" charset="0"/>
                    </a:rPr>
                    <a:t> is antisymmetric.</a:t>
                  </a:r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253" y="2604328"/>
                  <a:ext cx="10668936" cy="3385542"/>
                </a:xfrm>
                <a:prstGeom prst="rect">
                  <a:avLst/>
                </a:prstGeom>
                <a:blipFill>
                  <a:blip r:embed="rId5"/>
                  <a:stretch>
                    <a:fillRect l="-1200" t="-1619" r="-114" b="-413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Connector 85"/>
            <p:cNvCxnSpPr/>
            <p:nvPr/>
          </p:nvCxnSpPr>
          <p:spPr>
            <a:xfrm flipH="1">
              <a:off x="5855369" y="3529721"/>
              <a:ext cx="240631" cy="3208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70281" y="3816583"/>
            <a:ext cx="10668936" cy="492443"/>
            <a:chOff x="833253" y="2604328"/>
            <a:chExt cx="10668936" cy="4924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/>
                <p:nvPr/>
              </p:nvSpPr>
              <p:spPr>
                <a:xfrm>
                  <a:off x="833253" y="2604328"/>
                  <a:ext cx="10668936" cy="49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L="465138" indent="-465138">
                    <a:tabLst>
                      <a:tab pos="1203325" algn="l"/>
                    </a:tabLst>
                  </a:pPr>
                  <a:r>
                    <a:rPr lang="en-US" sz="2600" dirty="0">
                      <a:ea typeface="Cambria Math" panose="02040503050406030204" pitchFamily="18" charset="0"/>
                    </a:rPr>
                    <a:t>	2.2.	</a:t>
                  </a:r>
                  <a14:m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sz="2600"/>
                        <m:t> 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by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implication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smtClean="0">
                          <a:solidFill>
                            <a:srgbClr val="006600"/>
                          </a:solidFill>
                        </a:rPr>
                        <m:t>law</m:t>
                      </m:r>
                      <m:r>
                        <m:rPr>
                          <m:nor/>
                        </m:rPr>
                        <a:rPr lang="en-US" sz="2600"/>
                        <m:t>.</m:t>
                      </m:r>
                    </m:oMath>
                  </a14:m>
                  <a:endParaRPr lang="en-US" sz="26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253" y="2604328"/>
                  <a:ext cx="10668936" cy="492443"/>
                </a:xfrm>
                <a:prstGeom prst="rect">
                  <a:avLst/>
                </a:prstGeom>
                <a:blipFill>
                  <a:blip r:embed="rId6"/>
                  <a:stretch>
                    <a:fillRect t="-9877" b="-320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/>
            <p:cNvCxnSpPr/>
            <p:nvPr/>
          </p:nvCxnSpPr>
          <p:spPr>
            <a:xfrm flipH="1">
              <a:off x="4243137" y="2703152"/>
              <a:ext cx="240631" cy="3208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5325979" y="2703152"/>
              <a:ext cx="240631" cy="3208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0281" y="4193661"/>
            <a:ext cx="10668936" cy="543995"/>
            <a:chOff x="833253" y="2604328"/>
            <a:chExt cx="10668936" cy="543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/>
                <p:nvPr/>
              </p:nvSpPr>
              <p:spPr>
                <a:xfrm>
                  <a:off x="833253" y="2604328"/>
                  <a:ext cx="10668936" cy="5439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L="465138" indent="-465138">
                    <a:tabLst>
                      <a:tab pos="1203325" algn="l"/>
                    </a:tabLst>
                  </a:pPr>
                  <a:r>
                    <a:rPr lang="en-US" sz="2600" dirty="0">
                      <a:ea typeface="Cambria Math" panose="02040503050406030204" pitchFamily="18" charset="0"/>
                    </a:rPr>
                    <a:t>	2.3.	</a:t>
                  </a:r>
                  <a14:m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sz="2600"/>
                        <m:t> 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by</m:t>
                      </m:r>
                      <m:r>
                        <m:rPr>
                          <m:nor/>
                        </m:rPr>
                        <a:rPr lang="en-US" sz="2600">
                          <a:solidFill>
                            <a:srgbClr val="0066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 b="0" i="0" smtClean="0">
                          <a:solidFill>
                            <a:srgbClr val="006600"/>
                          </a:solidFill>
                        </a:rPr>
                        <m:t>generalization</m:t>
                      </m:r>
                      <m:r>
                        <m:rPr>
                          <m:nor/>
                        </m:rPr>
                        <a:rPr lang="en-US" sz="2600"/>
                        <m:t>.</m:t>
                      </m:r>
                    </m:oMath>
                  </a14:m>
                  <a:endParaRPr lang="en-US" sz="26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54AB600-1B8D-4149-9775-EFEB88F30C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253" y="2604328"/>
                  <a:ext cx="10668936" cy="543995"/>
                </a:xfrm>
                <a:prstGeom prst="rect">
                  <a:avLst/>
                </a:prstGeom>
                <a:blipFill>
                  <a:blip r:embed="rId7"/>
                  <a:stretch>
                    <a:fillRect t="-3371" b="-2471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/>
            <p:cNvCxnSpPr/>
            <p:nvPr/>
          </p:nvCxnSpPr>
          <p:spPr>
            <a:xfrm flipH="1">
              <a:off x="4397654" y="2701758"/>
              <a:ext cx="240631" cy="3208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5488517" y="2703152"/>
              <a:ext cx="240631" cy="3208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/>
              <p:nvPr/>
            </p:nvSpPr>
            <p:spPr>
              <a:xfrm>
                <a:off x="870281" y="4656904"/>
                <a:ext cx="10668936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465138" indent="-465138">
                  <a:tabLst>
                    <a:tab pos="1203325" algn="l"/>
                  </a:tabLst>
                </a:pPr>
                <a:r>
                  <a:rPr lang="en-US" sz="2600" dirty="0">
                    <a:ea typeface="Cambria Math" panose="02040503050406030204" pitchFamily="18" charset="0"/>
                  </a:rPr>
                  <a:t>	2.4.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sz="2600"/>
                      <m:t> </m:t>
                    </m:r>
                    <m:r>
                      <m:rPr>
                        <m:nor/>
                      </m:rPr>
                      <a:rPr lang="en-US" sz="2600">
                        <a:solidFill>
                          <a:srgbClr val="006600"/>
                        </a:solidFill>
                      </a:rPr>
                      <m:t>by</m:t>
                    </m:r>
                    <m:r>
                      <m:rPr>
                        <m:nor/>
                      </m:rPr>
                      <a:rPr lang="en-US" sz="2600">
                        <a:solidFill>
                          <a:srgbClr val="0066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De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Morgan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′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600" b="0" i="0" smtClean="0">
                        <a:solidFill>
                          <a:srgbClr val="006600"/>
                        </a:solidFill>
                      </a:rPr>
                      <m:t>law</m:t>
                    </m:r>
                    <m:r>
                      <m:rPr>
                        <m:nor/>
                      </m:rPr>
                      <a:rPr lang="en-US" sz="2600"/>
                      <m:t>.</m:t>
                    </m:r>
                  </m:oMath>
                </a14:m>
                <a:endParaRPr lang="en-US" sz="2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4AB600-1B8D-4149-9775-EFEB88F30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81" y="4656904"/>
                <a:ext cx="10668936" cy="492443"/>
              </a:xfrm>
              <a:prstGeom prst="rect">
                <a:avLst/>
              </a:prstGeom>
              <a:blipFill>
                <a:blip r:embed="rId8"/>
                <a:stretch>
                  <a:fillRect t="-9877" b="-30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99345" y="5088130"/>
            <a:ext cx="741872" cy="40011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Aim: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2973" y="1872558"/>
            <a:ext cx="3652566" cy="120032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To prove:</a:t>
            </a:r>
          </a:p>
          <a:p>
            <a:r>
              <a:rPr lang="en-US" sz="2400" dirty="0">
                <a:solidFill>
                  <a:srgbClr val="C00000"/>
                </a:solidFill>
              </a:rPr>
              <a:t>Every asymmetric relation is antisymmetric.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5C692E7D-0DB4-DFA4-56A5-CB7BAE8C6972}"/>
              </a:ext>
            </a:extLst>
          </p:cNvPr>
          <p:cNvSpPr/>
          <p:nvPr/>
        </p:nvSpPr>
        <p:spPr>
          <a:xfrm>
            <a:off x="10803836" y="45920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91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0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48FF-4EAA-4205-C7D5-159B75ACA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5CB7-9E0B-0ABC-2756-B87C69D5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0321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2C7CB6-1763-B1D8-74BC-2B758608E039}"/>
                  </a:ext>
                </a:extLst>
              </p:cNvPr>
              <p:cNvSpPr/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binary relation on a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antisymmetric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asymmetric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2C7CB6-1763-B1D8-74BC-2B758608E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411790"/>
                <a:ext cx="10086975" cy="1384995"/>
              </a:xfrm>
              <a:prstGeom prst="rect">
                <a:avLst/>
              </a:prstGeom>
              <a:blipFill>
                <a:blip r:embed="rId3"/>
                <a:stretch>
                  <a:fillRect l="-1269" t="-4405" b="-118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A561D-B073-1A7F-49AB-48AABB7F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A825C7-5F67-5C62-CC57-3F28733E576D}"/>
              </a:ext>
            </a:extLst>
          </p:cNvPr>
          <p:cNvCxnSpPr/>
          <p:nvPr/>
        </p:nvCxnSpPr>
        <p:spPr>
          <a:xfrm flipH="1">
            <a:off x="7812505" y="1363579"/>
            <a:ext cx="272715" cy="2887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A45E94D-3EAA-8B54-EC1A-42D96F93868E}"/>
              </a:ext>
            </a:extLst>
          </p:cNvPr>
          <p:cNvCxnSpPr/>
          <p:nvPr/>
        </p:nvCxnSpPr>
        <p:spPr>
          <a:xfrm flipH="1">
            <a:off x="5892397" y="3529519"/>
            <a:ext cx="240631" cy="32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D3902E-7B17-F048-9910-A8EFA4A8764F}"/>
              </a:ext>
            </a:extLst>
          </p:cNvPr>
          <p:cNvSpPr txBox="1"/>
          <p:nvPr/>
        </p:nvSpPr>
        <p:spPr>
          <a:xfrm>
            <a:off x="537888" y="2432319"/>
            <a:ext cx="11190279" cy="5232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Does this mean that asymmetry </a:t>
            </a:r>
            <a:r>
              <a:rPr lang="en-US" sz="2800" dirty="0">
                <a:sym typeface="Wingdings" panose="05000000000000000000" pitchFamily="2" charset="2"/>
              </a:rPr>
              <a:t> </a:t>
            </a:r>
            <a:r>
              <a:rPr lang="en-US" sz="2800" dirty="0" err="1">
                <a:sym typeface="Wingdings" panose="05000000000000000000" pitchFamily="2" charset="2"/>
              </a:rPr>
              <a:t>antisymmetry</a:t>
            </a:r>
            <a:r>
              <a:rPr lang="en-US" sz="2800" dirty="0">
                <a:sym typeface="Wingdings" panose="05000000000000000000" pitchFamily="2" charset="2"/>
              </a:rPr>
              <a:t> and not reflexive?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792506EE-98A8-9632-9A38-0507C8844D6F}"/>
              </a:ext>
            </a:extLst>
          </p:cNvPr>
          <p:cNvSpPr/>
          <p:nvPr/>
        </p:nvSpPr>
        <p:spPr>
          <a:xfrm>
            <a:off x="10803836" y="45920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55F25F-851C-D079-3A60-B08C1FED416C}"/>
              </a:ext>
            </a:extLst>
          </p:cNvPr>
          <p:cNvSpPr/>
          <p:nvPr/>
        </p:nvSpPr>
        <p:spPr>
          <a:xfrm>
            <a:off x="537887" y="3171025"/>
            <a:ext cx="11190279" cy="2923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465138" indent="-465138"/>
            <a:r>
              <a:rPr lang="en-US" sz="4400" b="1" dirty="0">
                <a:ea typeface="Cambria Math" panose="02040503050406030204" pitchFamily="18" charset="0"/>
              </a:rPr>
              <a:t>No!</a:t>
            </a:r>
            <a:endParaRPr lang="en-US" sz="2800" dirty="0">
              <a:ea typeface="Cambria Math" panose="02040503050406030204" pitchFamily="18" charset="0"/>
            </a:endParaRPr>
          </a:p>
          <a:p>
            <a:pPr marL="465138" indent="-465138"/>
            <a:r>
              <a:rPr lang="en-US" sz="2800" dirty="0">
                <a:ea typeface="Cambria Math" panose="02040503050406030204" pitchFamily="18" charset="0"/>
              </a:rPr>
              <a:t>Take into consideration A = {1, 2} and R = {(1,2), (2,2)}.</a:t>
            </a:r>
          </a:p>
          <a:p>
            <a:pPr marL="465138" indent="-465138"/>
            <a:r>
              <a:rPr lang="en-US" sz="2800" dirty="0">
                <a:ea typeface="Cambria Math" panose="02040503050406030204" pitchFamily="18" charset="0"/>
              </a:rPr>
              <a:t>R is not reflexive.</a:t>
            </a:r>
          </a:p>
          <a:p>
            <a:pPr marL="465138" indent="-465138"/>
            <a:r>
              <a:rPr lang="en-US" sz="2800" dirty="0">
                <a:ea typeface="Cambria Math" panose="02040503050406030204" pitchFamily="18" charset="0"/>
              </a:rPr>
              <a:t>R is antisymmetric.</a:t>
            </a:r>
          </a:p>
          <a:p>
            <a:pPr marL="465138" indent="-465138"/>
            <a:r>
              <a:rPr lang="en-US" sz="2800" dirty="0">
                <a:ea typeface="Cambria Math" panose="02040503050406030204" pitchFamily="18" charset="0"/>
              </a:rPr>
              <a:t>But R is NOT asymmetric.</a:t>
            </a:r>
          </a:p>
          <a:p>
            <a:pPr marL="465138" indent="-465138"/>
            <a:r>
              <a:rPr lang="en-US" sz="2800" dirty="0">
                <a:ea typeface="Cambria Math" panose="02040503050406030204" pitchFamily="18" charset="0"/>
              </a:rPr>
              <a:t>So, is there an equivalent statement? Look out for the term </a:t>
            </a:r>
            <a:r>
              <a:rPr lang="en-US" sz="2800" u="sng" dirty="0">
                <a:ea typeface="Cambria Math" panose="02040503050406030204" pitchFamily="18" charset="0"/>
              </a:rPr>
              <a:t>irreflexive.</a:t>
            </a:r>
          </a:p>
        </p:txBody>
      </p:sp>
    </p:spTree>
    <p:extLst>
      <p:ext uri="{BB962C8B-B14F-4D97-AF65-F5344CB8AC3E}">
        <p14:creationId xmlns:p14="http://schemas.microsoft.com/office/powerpoint/2010/main" val="87300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48017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Q9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240021" y="356335"/>
                <a:ext cx="9562733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Consider the “divides” relation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={1, 2, 4, 5, 10, 15, 20}</m:t>
                    </m:r>
                  </m:oMath>
                </a14:m>
                <a:r>
                  <a:rPr lang="en-US" sz="2800" dirty="0"/>
                  <a:t>. List out the pairs of distinct elements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that are </a:t>
                </a:r>
              </a:p>
              <a:p>
                <a:r>
                  <a:rPr lang="en-US" sz="2800" dirty="0"/>
                  <a:t>(a) comparable; (b) compatible.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021" y="356335"/>
                <a:ext cx="9562733" cy="1384995"/>
              </a:xfrm>
              <a:prstGeom prst="rect">
                <a:avLst/>
              </a:prstGeom>
              <a:blipFill>
                <a:blip r:embed="rId3"/>
                <a:stretch>
                  <a:fillRect l="-1275" t="-3947" b="-114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3D7CFE2-61FE-4EC2-B39D-FFD994C45808}"/>
              </a:ext>
            </a:extLst>
          </p:cNvPr>
          <p:cNvGrpSpPr/>
          <p:nvPr/>
        </p:nvGrpSpPr>
        <p:grpSpPr>
          <a:xfrm>
            <a:off x="2257450" y="1740527"/>
            <a:ext cx="2554383" cy="2081300"/>
            <a:chOff x="1097280" y="2396035"/>
            <a:chExt cx="2261935" cy="20021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0772F05-4E61-4789-B3E4-67A15FE85081}"/>
                    </a:ext>
                  </a:extLst>
                </p:cNvPr>
                <p:cNvSpPr txBox="1"/>
                <p:nvPr/>
              </p:nvSpPr>
              <p:spPr>
                <a:xfrm>
                  <a:off x="1549667" y="2396035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0772F05-4E61-4789-B3E4-67A15FE85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9667" y="2396035"/>
                  <a:ext cx="452387" cy="386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CE6AF4B-821C-4E1F-9E62-A101808B2CDE}"/>
                    </a:ext>
                  </a:extLst>
                </p:cNvPr>
                <p:cNvSpPr txBox="1"/>
                <p:nvPr/>
              </p:nvSpPr>
              <p:spPr>
                <a:xfrm>
                  <a:off x="1097280" y="2935788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CE6AF4B-821C-4E1F-9E62-A101808B2C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280" y="2935788"/>
                  <a:ext cx="452387" cy="3865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C3AC381-E29B-458C-ABE3-D438141332E9}"/>
                    </a:ext>
                  </a:extLst>
                </p:cNvPr>
                <p:cNvSpPr txBox="1"/>
                <p:nvPr/>
              </p:nvSpPr>
              <p:spPr>
                <a:xfrm>
                  <a:off x="2002054" y="2935788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C3AC381-E29B-458C-ABE3-D43814133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2054" y="2935788"/>
                  <a:ext cx="452387" cy="3865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EA6EB8-EADD-497C-8445-576735C5B6BF}"/>
                    </a:ext>
                  </a:extLst>
                </p:cNvPr>
                <p:cNvSpPr txBox="1"/>
                <p:nvPr/>
              </p:nvSpPr>
              <p:spPr>
                <a:xfrm>
                  <a:off x="1549666" y="3473702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EA6EB8-EADD-497C-8445-576735C5B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9666" y="3473702"/>
                  <a:ext cx="452387" cy="3865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D35C50-02BC-4BC1-B894-B89D07995CA5}"/>
                    </a:ext>
                  </a:extLst>
                </p:cNvPr>
                <p:cNvSpPr txBox="1"/>
                <p:nvPr/>
              </p:nvSpPr>
              <p:spPr>
                <a:xfrm>
                  <a:off x="1983885" y="4011616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D35C50-02BC-4BC1-B894-B89D07995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885" y="4011616"/>
                  <a:ext cx="452387" cy="3865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1F1579-6574-4FA9-A15B-DE6A7D5DD78D}"/>
                    </a:ext>
                  </a:extLst>
                </p:cNvPr>
                <p:cNvSpPr txBox="1"/>
                <p:nvPr/>
              </p:nvSpPr>
              <p:spPr>
                <a:xfrm>
                  <a:off x="2454441" y="3473702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1F1579-6574-4FA9-A15B-DE6A7D5DD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441" y="3473702"/>
                  <a:ext cx="452387" cy="3865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E27EF2-B517-49F0-973E-B9C81771751D}"/>
                    </a:ext>
                  </a:extLst>
                </p:cNvPr>
                <p:cNvSpPr txBox="1"/>
                <p:nvPr/>
              </p:nvSpPr>
              <p:spPr>
                <a:xfrm>
                  <a:off x="2906828" y="2935788"/>
                  <a:ext cx="452387" cy="38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E27EF2-B517-49F0-973E-B9C817717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828" y="2935788"/>
                  <a:ext cx="452387" cy="3865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E13629-4484-4CDA-8926-AFAC60A1E2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2830" y="2725073"/>
              <a:ext cx="193675" cy="2491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0EBA344-DAA6-4BF8-8BEB-7CD8F99793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5216" y="3270256"/>
              <a:ext cx="193675" cy="2491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5B3025-DD79-4873-ADE2-8091BA976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7603" y="3802740"/>
              <a:ext cx="193675" cy="2491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01EF59-9A7A-4B9C-B3D0-C8B7CBD88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9990" y="3264825"/>
              <a:ext cx="193675" cy="2491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2549F37-3CB1-45DF-A862-4E2AEF9CD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2699" y="2725130"/>
              <a:ext cx="200576" cy="2491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1002B2-E207-4FD0-BB67-2C273FADB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9378" y="3266721"/>
              <a:ext cx="200576" cy="2491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E20505A-8A99-44D4-8D41-0D5D2958F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5216" y="3815439"/>
              <a:ext cx="200576" cy="2491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0613A24-39A3-4504-BAB5-2E615CEBB0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1053" y="3259741"/>
              <a:ext cx="200576" cy="2491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81263" y="3817994"/>
            <a:ext cx="2688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65138"/>
            <a:r>
              <a:rPr lang="en-US" sz="2800" dirty="0"/>
              <a:t>(a)	Comparable: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87216" y="3946936"/>
                <a:ext cx="7715538" cy="830997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1,10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1,15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1,20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{2,4},{2,10},{2,20},{5,10},{5,15},{5,20},{4,20},{10,20}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216" y="3946936"/>
                <a:ext cx="7715538" cy="830997"/>
              </a:xfrm>
              <a:prstGeom prst="rect">
                <a:avLst/>
              </a:prstGeom>
              <a:blipFill>
                <a:blip r:embed="rId11"/>
                <a:stretch>
                  <a:fillRect l="-632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481263" y="4932902"/>
            <a:ext cx="2688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65138"/>
            <a:r>
              <a:rPr lang="en-US" sz="2800" dirty="0"/>
              <a:t>(b)	Compatible: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087216" y="5094761"/>
                <a:ext cx="7715538" cy="1192314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1,10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1,15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1,20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2,10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2,20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5,4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5,10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5,15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5,20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4,10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{4,20},{10,20}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216" y="5094761"/>
                <a:ext cx="7715538" cy="1192314"/>
              </a:xfrm>
              <a:prstGeom prst="rect">
                <a:avLst/>
              </a:prstGeom>
              <a:blipFill>
                <a:blip r:embed="rId12"/>
                <a:stretch>
                  <a:fillRect b="-1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5311018" y="1918633"/>
                <a:ext cx="6309374" cy="1569660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be a partial order on a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871788" algn="l"/>
                  </a:tabLs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comparable</a:t>
                </a:r>
                <a:r>
                  <a:rPr lang="en-US" sz="2400" dirty="0"/>
                  <a:t> 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871788" algn="l"/>
                  </a:tabLs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</a:t>
                </a:r>
                <a:r>
                  <a:rPr lang="en-US" sz="2400" b="1" dirty="0"/>
                  <a:t>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compatible</a:t>
                </a:r>
                <a:r>
                  <a:rPr lang="en-US" sz="2400" dirty="0"/>
                  <a:t> 	if there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018" y="1918633"/>
                <a:ext cx="6309374" cy="1569660"/>
              </a:xfrm>
              <a:prstGeom prst="rect">
                <a:avLst/>
              </a:prstGeom>
              <a:blipFill>
                <a:blip r:embed="rId13"/>
                <a:stretch>
                  <a:fillRect l="-1350" t="-2703" r="-675" b="-7722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77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254255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513621" y="2468536"/>
                <a:ext cx="10621918" cy="83099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(a)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,⊆</m:t>
                        </m:r>
                      </m:e>
                    </m:d>
                  </m:oMath>
                </a14:m>
                <a:r>
                  <a:rPr lang="en-US" sz="2400" dirty="0"/>
                  <a:t> be a </a:t>
                </a:r>
                <a:r>
                  <a:rPr lang="en-US" sz="2400" dirty="0" err="1"/>
                  <a:t>poset</a:t>
                </a:r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denotes the power set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Write out two maximal chains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,⊆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1" y="2468536"/>
                <a:ext cx="10621918" cy="830997"/>
              </a:xfrm>
              <a:prstGeom prst="rect">
                <a:avLst/>
              </a:prstGeom>
              <a:blipFill>
                <a:blip r:embed="rId3"/>
                <a:stretch>
                  <a:fillRect l="-861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507958" y="4290462"/>
                <a:ext cx="6075768" cy="584775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{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∅,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200" dirty="0"/>
                  <a:t>} } </a:t>
                </a:r>
                <a:endParaRPr lang="en-US" sz="40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58" y="4290462"/>
                <a:ext cx="6075768" cy="584775"/>
              </a:xfrm>
              <a:prstGeom prst="rect">
                <a:avLst/>
              </a:prstGeom>
              <a:blipFill>
                <a:blip r:embed="rId4"/>
                <a:stretch>
                  <a:fillRect l="-2508" t="-12500" r="-60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80830" y="3596169"/>
            <a:ext cx="3850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Many possible answers.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507958" y="5123957"/>
                <a:ext cx="6075768" cy="584775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{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∅,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200" dirty="0"/>
                  <a:t>} }</a:t>
                </a:r>
                <a:endParaRPr lang="en-US" sz="60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58" y="5123957"/>
                <a:ext cx="6075768" cy="584775"/>
              </a:xfrm>
              <a:prstGeom prst="rect">
                <a:avLst/>
              </a:prstGeom>
              <a:blipFill>
                <a:blip r:embed="rId5"/>
                <a:stretch>
                  <a:fillRect l="-2508" t="-12632" b="-3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507958" y="258956"/>
                <a:ext cx="10170695" cy="22467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[</a:t>
                </a:r>
                <a:r>
                  <a:rPr lang="en-US" sz="2000" dirty="0" err="1"/>
                  <a:t>AY2022</a:t>
                </a:r>
                <a:r>
                  <a:rPr lang="en-US" sz="2000" dirty="0"/>
                  <a:t>/23 Semester 2 Mid-term Test]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be a partial order on a non-empty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A subset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called a </a:t>
                </a:r>
                <a:r>
                  <a:rPr lang="en-US" sz="2400" b="1" dirty="0"/>
                  <a:t>chain</a:t>
                </a:r>
                <a:r>
                  <a:rPr lang="en-US" sz="2400" dirty="0"/>
                  <a:t> if and only if every pair of elements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comparable, that is,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A </a:t>
                </a:r>
                <a:r>
                  <a:rPr lang="en-US" sz="2400" b="1" dirty="0"/>
                  <a:t>maximal chain</a:t>
                </a:r>
                <a:r>
                  <a:rPr lang="en-US" sz="2400" dirty="0"/>
                  <a:t> is a chain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not a chain. The length of a chain is one less than the number of elements in it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58" y="258956"/>
                <a:ext cx="10170695" cy="2246769"/>
              </a:xfrm>
              <a:prstGeom prst="rect">
                <a:avLst/>
              </a:prstGeom>
              <a:blipFill>
                <a:blip r:embed="rId6"/>
                <a:stretch>
                  <a:fillRect l="-899" t="-1355" b="-51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ar: 5 Points 2">
            <a:extLst>
              <a:ext uri="{FF2B5EF4-FFF2-40B4-BE49-F238E27FC236}">
                <a16:creationId xmlns:a16="http://schemas.microsoft.com/office/drawing/2014/main" id="{6523AC85-3559-DBB4-6B8F-D441A867D558}"/>
              </a:ext>
            </a:extLst>
          </p:cNvPr>
          <p:cNvSpPr/>
          <p:nvPr/>
        </p:nvSpPr>
        <p:spPr>
          <a:xfrm>
            <a:off x="10803836" y="541634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4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" grpId="0"/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254255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1507958" y="258956"/>
                <a:ext cx="10170695" cy="22467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[</a:t>
                </a:r>
                <a:r>
                  <a:rPr lang="en-US" sz="2000" dirty="0" err="1"/>
                  <a:t>AY2022</a:t>
                </a:r>
                <a:r>
                  <a:rPr lang="en-US" sz="2000" dirty="0"/>
                  <a:t>/23 Semester 2 Mid-term Test]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be a partial order on a non-empty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A subset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called a </a:t>
                </a:r>
                <a:r>
                  <a:rPr lang="en-US" sz="2400" b="1" dirty="0"/>
                  <a:t>chain</a:t>
                </a:r>
                <a:r>
                  <a:rPr lang="en-US" sz="2400" dirty="0"/>
                  <a:t> if and only if every pair of elements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comparable, that is,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A </a:t>
                </a:r>
                <a:r>
                  <a:rPr lang="en-US" sz="2400" b="1" dirty="0"/>
                  <a:t>maximal chain</a:t>
                </a:r>
                <a:r>
                  <a:rPr lang="en-US" sz="2400" dirty="0"/>
                  <a:t> is a chain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not a chain. The length of a chain is one less than the number of elements in it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58" y="258956"/>
                <a:ext cx="10170695" cy="2246769"/>
              </a:xfrm>
              <a:prstGeom prst="rect">
                <a:avLst/>
              </a:prstGeom>
              <a:blipFill>
                <a:blip r:embed="rId3"/>
                <a:stretch>
                  <a:fillRect l="-899" t="-1355" b="-51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/>
              <p:nvPr/>
            </p:nvSpPr>
            <p:spPr>
              <a:xfrm>
                <a:off x="513621" y="2505725"/>
                <a:ext cx="10621918" cy="120032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542925" indent="-542925"/>
                <a:r>
                  <a:rPr lang="en-US" sz="2400" dirty="0"/>
                  <a:t>(b)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={2,3,5,6,7,11,12,35,385}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,|)</m:t>
                    </m:r>
                  </m:oMath>
                </a14:m>
                <a:r>
                  <a:rPr lang="en-US" sz="2400" dirty="0"/>
                  <a:t> be a </a:t>
                </a:r>
                <a:r>
                  <a:rPr lang="en-US" sz="2400" dirty="0" err="1"/>
                  <a:t>poset</a:t>
                </a:r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denotes the divides relation. Draw the </a:t>
                </a:r>
                <a:r>
                  <a:rPr lang="en-US" sz="2400" dirty="0" err="1"/>
                  <a:t>Hasse</a:t>
                </a:r>
                <a:r>
                  <a:rPr lang="en-US" sz="2400" dirty="0"/>
                  <a:t> diagram and write out two maximal chains of different lengths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,|)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0231852-1F83-43E6-A3FA-1AE5F818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1" y="2505725"/>
                <a:ext cx="10621918" cy="1200329"/>
              </a:xfrm>
              <a:prstGeom prst="rect">
                <a:avLst/>
              </a:prstGeom>
              <a:blipFill>
                <a:blip r:embed="rId4"/>
                <a:stretch>
                  <a:fillRect l="-861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1220286" y="3893733"/>
            <a:ext cx="1146988" cy="1853583"/>
            <a:chOff x="0" y="0"/>
            <a:chExt cx="852692" cy="1290258"/>
          </a:xfrm>
        </p:grpSpPr>
        <p:grpSp>
          <p:nvGrpSpPr>
            <p:cNvPr id="29" name="Group 28"/>
            <p:cNvGrpSpPr/>
            <p:nvPr/>
          </p:nvGrpSpPr>
          <p:grpSpPr>
            <a:xfrm>
              <a:off x="151465" y="218783"/>
              <a:ext cx="542925" cy="893538"/>
              <a:chOff x="0" y="0"/>
              <a:chExt cx="542925" cy="893538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flipV="1">
                <a:off x="39268" y="460005"/>
                <a:ext cx="241222" cy="39110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280490" y="465615"/>
                <a:ext cx="241222" cy="39110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280490" y="33659"/>
                <a:ext cx="0" cy="426346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/>
              <p:cNvGrpSpPr/>
              <p:nvPr/>
            </p:nvGrpSpPr>
            <p:grpSpPr>
              <a:xfrm>
                <a:off x="0" y="807813"/>
                <a:ext cx="542925" cy="85725"/>
                <a:chOff x="0" y="0"/>
                <a:chExt cx="542925" cy="85725"/>
              </a:xfrm>
            </p:grpSpPr>
            <p:sp>
              <p:nvSpPr>
                <p:cNvPr id="41" name="Oval 40"/>
                <p:cNvSpPr/>
                <p:nvPr/>
              </p:nvSpPr>
              <p:spPr>
                <a:xfrm>
                  <a:off x="0" y="0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Oval 41"/>
                <p:cNvSpPr/>
                <p:nvPr/>
              </p:nvSpPr>
              <p:spPr>
                <a:xfrm>
                  <a:off x="466725" y="0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9" name="Oval 38"/>
              <p:cNvSpPr/>
              <p:nvPr/>
            </p:nvSpPr>
            <p:spPr>
              <a:xfrm>
                <a:off x="235612" y="415126"/>
                <a:ext cx="76200" cy="8572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35612" y="0"/>
                <a:ext cx="76200" cy="8572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0" y="0"/>
              <a:ext cx="852692" cy="1290258"/>
              <a:chOff x="0" y="0"/>
              <a:chExt cx="852692" cy="1290258"/>
            </a:xfrm>
          </p:grpSpPr>
          <p:sp>
            <p:nvSpPr>
              <p:cNvPr id="31" name="Text Box 2"/>
              <p:cNvSpPr txBox="1">
                <a:spLocks noChangeArrowheads="1"/>
              </p:cNvSpPr>
              <p:nvPr/>
            </p:nvSpPr>
            <p:spPr bwMode="auto">
              <a:xfrm>
                <a:off x="0" y="1032206"/>
                <a:ext cx="246832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2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2" name="Text Box 2"/>
              <p:cNvSpPr txBox="1">
                <a:spLocks noChangeArrowheads="1"/>
              </p:cNvSpPr>
              <p:nvPr/>
            </p:nvSpPr>
            <p:spPr bwMode="auto">
              <a:xfrm>
                <a:off x="605860" y="1049036"/>
                <a:ext cx="246832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3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3" name="Text Box 2"/>
              <p:cNvSpPr txBox="1">
                <a:spLocks noChangeArrowheads="1"/>
              </p:cNvSpPr>
              <p:nvPr/>
            </p:nvSpPr>
            <p:spPr bwMode="auto">
              <a:xfrm>
                <a:off x="190733" y="510493"/>
                <a:ext cx="246832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6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4" name="Text Box 2"/>
              <p:cNvSpPr txBox="1">
                <a:spLocks noChangeArrowheads="1"/>
              </p:cNvSpPr>
              <p:nvPr/>
            </p:nvSpPr>
            <p:spPr bwMode="auto">
              <a:xfrm>
                <a:off x="246832" y="0"/>
                <a:ext cx="342199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12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2744572" y="3917912"/>
            <a:ext cx="1939316" cy="1829404"/>
            <a:chOff x="0" y="0"/>
            <a:chExt cx="1441723" cy="1273428"/>
          </a:xfrm>
        </p:grpSpPr>
        <p:grpSp>
          <p:nvGrpSpPr>
            <p:cNvPr id="12" name="Group 11"/>
            <p:cNvGrpSpPr/>
            <p:nvPr/>
          </p:nvGrpSpPr>
          <p:grpSpPr>
            <a:xfrm>
              <a:off x="190734" y="218783"/>
              <a:ext cx="984990" cy="893538"/>
              <a:chOff x="0" y="0"/>
              <a:chExt cx="984990" cy="893538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39269" y="28049"/>
                <a:ext cx="921120" cy="828675"/>
                <a:chOff x="0" y="0"/>
                <a:chExt cx="921120" cy="828675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0" y="0"/>
                  <a:ext cx="466725" cy="828675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24393" y="426346"/>
                  <a:ext cx="241222" cy="391109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454395" y="0"/>
                  <a:ext cx="466725" cy="828675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0" y="0"/>
                <a:ext cx="984990" cy="893538"/>
                <a:chOff x="0" y="0"/>
                <a:chExt cx="984990" cy="893538"/>
              </a:xfrm>
            </p:grpSpPr>
            <p:sp>
              <p:nvSpPr>
                <p:cNvPr id="21" name="Oval 20"/>
                <p:cNvSpPr/>
                <p:nvPr/>
              </p:nvSpPr>
              <p:spPr>
                <a:xfrm>
                  <a:off x="0" y="807813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65615" y="807813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908790" y="807813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218783" y="415126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465615" y="0"/>
                  <a:ext cx="76200" cy="8572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/>
            <p:cNvGrpSpPr/>
            <p:nvPr/>
          </p:nvGrpSpPr>
          <p:grpSpPr>
            <a:xfrm>
              <a:off x="0" y="0"/>
              <a:ext cx="1441723" cy="1273428"/>
              <a:chOff x="0" y="0"/>
              <a:chExt cx="1441723" cy="1273428"/>
            </a:xfrm>
          </p:grpSpPr>
          <p:sp>
            <p:nvSpPr>
              <p:cNvPr id="14" name="Text Box 2"/>
              <p:cNvSpPr txBox="1">
                <a:spLocks noChangeArrowheads="1"/>
              </p:cNvSpPr>
              <p:nvPr/>
            </p:nvSpPr>
            <p:spPr bwMode="auto">
              <a:xfrm>
                <a:off x="0" y="1032206"/>
                <a:ext cx="246832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5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" name="Text Box 2"/>
              <p:cNvSpPr txBox="1">
                <a:spLocks noChangeArrowheads="1"/>
              </p:cNvSpPr>
              <p:nvPr/>
            </p:nvSpPr>
            <p:spPr bwMode="auto">
              <a:xfrm>
                <a:off x="667569" y="1032206"/>
                <a:ext cx="246832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7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6" name="Text Box 2"/>
              <p:cNvSpPr txBox="1">
                <a:spLocks noChangeArrowheads="1"/>
              </p:cNvSpPr>
              <p:nvPr/>
            </p:nvSpPr>
            <p:spPr bwMode="auto">
              <a:xfrm>
                <a:off x="1099524" y="1032206"/>
                <a:ext cx="342199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11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7" name="Text Box 2"/>
              <p:cNvSpPr txBox="1">
                <a:spLocks noChangeArrowheads="1"/>
              </p:cNvSpPr>
              <p:nvPr/>
            </p:nvSpPr>
            <p:spPr bwMode="auto">
              <a:xfrm>
                <a:off x="151465" y="488054"/>
                <a:ext cx="342199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35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8" name="Text Box 2"/>
              <p:cNvSpPr txBox="1">
                <a:spLocks noChangeArrowheads="1"/>
              </p:cNvSpPr>
              <p:nvPr/>
            </p:nvSpPr>
            <p:spPr bwMode="auto">
              <a:xfrm>
                <a:off x="471225" y="0"/>
                <a:ext cx="443175" cy="241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385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44" name="TextBox 43"/>
          <p:cNvSpPr txBox="1"/>
          <p:nvPr/>
        </p:nvSpPr>
        <p:spPr>
          <a:xfrm>
            <a:off x="5729860" y="3656302"/>
            <a:ext cx="3991656" cy="52322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{2, 6, 12} and {11, 385}</a:t>
            </a:r>
            <a:endParaRPr lang="en-US" sz="5400" dirty="0"/>
          </a:p>
        </p:txBody>
      </p:sp>
      <p:sp>
        <p:nvSpPr>
          <p:cNvPr id="45" name="TextBox 44"/>
          <p:cNvSpPr txBox="1"/>
          <p:nvPr/>
        </p:nvSpPr>
        <p:spPr>
          <a:xfrm>
            <a:off x="5729860" y="4301024"/>
            <a:ext cx="3991656" cy="52322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{3, 6, 12} and {11, 385}</a:t>
            </a:r>
            <a:endParaRPr lang="en-US" sz="5400" dirty="0"/>
          </a:p>
        </p:txBody>
      </p:sp>
      <p:sp>
        <p:nvSpPr>
          <p:cNvPr id="46" name="TextBox 45"/>
          <p:cNvSpPr txBox="1"/>
          <p:nvPr/>
        </p:nvSpPr>
        <p:spPr>
          <a:xfrm>
            <a:off x="5729860" y="4992650"/>
            <a:ext cx="3991656" cy="52322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{5, 35, 385} and {11, 385}</a:t>
            </a:r>
            <a:endParaRPr lang="en-US" sz="5400" dirty="0"/>
          </a:p>
        </p:txBody>
      </p:sp>
      <p:sp>
        <p:nvSpPr>
          <p:cNvPr id="47" name="TextBox 46"/>
          <p:cNvSpPr txBox="1"/>
          <p:nvPr/>
        </p:nvSpPr>
        <p:spPr>
          <a:xfrm>
            <a:off x="5729860" y="5637372"/>
            <a:ext cx="3991656" cy="52322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{7, 35, 385} and {11, 385}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4886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483623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43344" y="5204821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/>
              <p:nvPr/>
            </p:nvSpPr>
            <p:spPr>
              <a:xfrm>
                <a:off x="2402535" y="1855790"/>
                <a:ext cx="9138446" cy="440120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1.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comparable.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2.	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Then either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 the definition of comparability.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3.	Case 1: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000" dirty="0"/>
                  <a:t>	3.1.	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dirty="0"/>
                  <a:t>	3.2.	Then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assumption</a:t>
                </a:r>
                <a:r>
                  <a:rPr lang="en-US" sz="2000" dirty="0"/>
                  <a:t> and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dirty="0"/>
                  <a:t>		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reflexivity</a:t>
                </a:r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dirty="0"/>
                  <a:t>	3.3.	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b="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compatible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	by the definition of compatibility.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4.	Case 2: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000" dirty="0"/>
                  <a:t>	4.1.	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dirty="0"/>
                  <a:t>	4.2.	Then 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assumption</a:t>
                </a:r>
                <a:r>
                  <a:rPr lang="en-US" sz="2000" dirty="0"/>
                  <a:t> and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b="0" dirty="0"/>
                  <a:t>			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reflexivity</a:t>
                </a:r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572000" algn="l"/>
                  </a:tabLst>
                </a:pPr>
                <a:r>
                  <a:rPr lang="en-US" sz="2000" dirty="0"/>
                  <a:t>	4.3.	 Hence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compatible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	by the definition of compatibility.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5.	In all cases,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compatible.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535" y="1855790"/>
                <a:ext cx="9138446" cy="4401205"/>
              </a:xfrm>
              <a:prstGeom prst="rect">
                <a:avLst/>
              </a:prstGeom>
              <a:blipFill>
                <a:blip r:embed="rId3"/>
                <a:stretch>
                  <a:fillRect l="-1001" t="-1108" b="-2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FE6A4FE-799B-4037-A853-2939AA58F1EA}"/>
              </a:ext>
            </a:extLst>
          </p:cNvPr>
          <p:cNvSpPr txBox="1"/>
          <p:nvPr/>
        </p:nvSpPr>
        <p:spPr>
          <a:xfrm>
            <a:off x="605030" y="1912585"/>
            <a:ext cx="1132296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True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1530438" y="281629"/>
            <a:ext cx="3339063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State whether the following is true or false and justify your answer.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tabLst>
                    <a:tab pos="2165350" algn="l"/>
                  </a:tabLs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be a partial order on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comparable</a:t>
                </a:r>
                <a:r>
                  <a:rPr lang="en-US" dirty="0"/>
                  <a:t> 	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</a:t>
                </a:r>
                <a:r>
                  <a:rPr lang="en-US" b="1" dirty="0"/>
                  <a:t>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compatible</a:t>
                </a:r>
                <a:r>
                  <a:rPr lang="en-US" dirty="0"/>
                  <a:t> 	if there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blipFill>
                <a:blip r:embed="rId4"/>
                <a:stretch>
                  <a:fillRect l="-748" t="-3268" b="-9150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846691" y="1418164"/>
            <a:ext cx="10044105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66725" indent="-466725"/>
            <a:r>
              <a:rPr lang="en-US" sz="2400" dirty="0"/>
              <a:t>(a)	In all partially ordered set, any two comparable elements are compatible.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91766" y="2700068"/>
            <a:ext cx="1844583" cy="3071733"/>
            <a:chOff x="391766" y="2700068"/>
            <a:chExt cx="1844583" cy="3071733"/>
          </a:xfrm>
        </p:grpSpPr>
        <p:sp>
          <p:nvSpPr>
            <p:cNvPr id="3" name="Left Brace 2"/>
            <p:cNvSpPr/>
            <p:nvPr/>
          </p:nvSpPr>
          <p:spPr>
            <a:xfrm>
              <a:off x="1991069" y="2700068"/>
              <a:ext cx="245280" cy="1500996"/>
            </a:xfrm>
            <a:prstGeom prst="leftBrace">
              <a:avLst>
                <a:gd name="adj1" fmla="val 71638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Brace 10"/>
            <p:cNvSpPr/>
            <p:nvPr/>
          </p:nvSpPr>
          <p:spPr>
            <a:xfrm>
              <a:off x="1991069" y="4270805"/>
              <a:ext cx="245280" cy="1500996"/>
            </a:xfrm>
            <a:prstGeom prst="leftBrace">
              <a:avLst>
                <a:gd name="adj1" fmla="val 71638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1766" y="3232389"/>
              <a:ext cx="159930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The 2 cases are symmetrical, so may just use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WLOG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to prove one of the cases. </a:t>
              </a:r>
            </a:p>
          </p:txBody>
        </p:sp>
      </p:grp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B8832AFD-DAEA-8E11-D786-7F917C54C78E}"/>
              </a:ext>
            </a:extLst>
          </p:cNvPr>
          <p:cNvSpPr/>
          <p:nvPr/>
        </p:nvSpPr>
        <p:spPr>
          <a:xfrm>
            <a:off x="10803836" y="541634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38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 bldLvl="2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483623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43344" y="5204821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/>
              <p:nvPr/>
            </p:nvSpPr>
            <p:spPr>
              <a:xfrm>
                <a:off x="1921272" y="2586616"/>
                <a:ext cx="9138446" cy="280076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1.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comparable.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2.	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Then either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 the definition of comparability.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3.	</a:t>
                </a:r>
                <a:r>
                  <a:rPr lang="en-US" sz="2400" dirty="0" err="1"/>
                  <a:t>WLOG</a:t>
                </a:r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000" dirty="0"/>
                  <a:t>	3.1.	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635500" algn="l"/>
                  </a:tabLst>
                </a:pPr>
                <a:r>
                  <a:rPr lang="en-US" sz="2000" dirty="0"/>
                  <a:t>	3.2.	Then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assumption</a:t>
                </a:r>
                <a:r>
                  <a:rPr lang="en-US" sz="2000" dirty="0"/>
                  <a:t> and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635500" algn="l"/>
                  </a:tabLst>
                </a:pPr>
                <a:r>
                  <a:rPr lang="en-US" sz="2000" dirty="0"/>
                  <a:t>		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reflexivity</a:t>
                </a:r>
                <a:r>
                  <a:rPr lang="en-US" sz="2000" dirty="0"/>
                  <a:t>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635500" algn="l"/>
                  </a:tabLst>
                </a:pPr>
                <a:r>
                  <a:rPr lang="en-US" sz="2000" dirty="0"/>
                  <a:t>	3.3.	Hence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compatible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	by the definition of compatibility.</a:t>
                </a:r>
              </a:p>
              <a:p>
                <a:pPr>
                  <a:tabLst>
                    <a:tab pos="465138" algn="l"/>
                    <a:tab pos="801688" algn="l"/>
                    <a:tab pos="1250950" algn="l"/>
                    <a:tab pos="2806700" algn="l"/>
                    <a:tab pos="4348163" algn="l"/>
                  </a:tabLst>
                </a:pPr>
                <a:r>
                  <a:rPr lang="en-US" sz="2400" dirty="0"/>
                  <a:t>4.	Hence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compatible.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272" y="2586616"/>
                <a:ext cx="9138446" cy="2800767"/>
              </a:xfrm>
              <a:prstGeom prst="rect">
                <a:avLst/>
              </a:prstGeom>
              <a:blipFill>
                <a:blip r:embed="rId2"/>
                <a:stretch>
                  <a:fillRect l="-1001" t="-1739" b="-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FE6A4FE-799B-4037-A853-2939AA58F1EA}"/>
              </a:ext>
            </a:extLst>
          </p:cNvPr>
          <p:cNvSpPr txBox="1"/>
          <p:nvPr/>
        </p:nvSpPr>
        <p:spPr>
          <a:xfrm>
            <a:off x="605030" y="1912585"/>
            <a:ext cx="1132296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True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1530438" y="281629"/>
            <a:ext cx="3339063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State whether the following is true or false and justify your answer.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tabLst>
                    <a:tab pos="2165350" algn="l"/>
                  </a:tabLs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be a partial order on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comparable</a:t>
                </a:r>
                <a:r>
                  <a:rPr lang="en-US" dirty="0"/>
                  <a:t> 	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</a:t>
                </a:r>
                <a:r>
                  <a:rPr lang="en-US" b="1" dirty="0"/>
                  <a:t>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compatible</a:t>
                </a:r>
                <a:r>
                  <a:rPr lang="en-US" dirty="0"/>
                  <a:t> 	if there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blipFill>
                <a:blip r:embed="rId3"/>
                <a:stretch>
                  <a:fillRect l="-748" t="-3268" b="-9150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846691" y="1418164"/>
            <a:ext cx="10044105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66725" indent="-466725"/>
            <a:r>
              <a:rPr lang="en-US" sz="2400" dirty="0"/>
              <a:t>(a)	In all partially ordered set, any two comparable elements are compatible.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BE68B905-A8ED-EC31-A597-447BA5F87035}"/>
              </a:ext>
            </a:extLst>
          </p:cNvPr>
          <p:cNvSpPr/>
          <p:nvPr/>
        </p:nvSpPr>
        <p:spPr>
          <a:xfrm>
            <a:off x="10803836" y="541634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27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 bldLvl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483623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82431" y="649878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/>
              <p:nvPr/>
            </p:nvSpPr>
            <p:spPr>
              <a:xfrm>
                <a:off x="1782340" y="2544239"/>
                <a:ext cx="9353199" cy="150810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65138" lvl="1" indent="-465138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Calibri" pitchFamily="34" charset="0"/>
                  <a:buNone/>
                  <a:tabLst>
                    <a:tab pos="4003675" algn="l"/>
                  </a:tabLst>
                </a:pPr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1.	Consider the “divides” relation |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ℤ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, which is a partial order.</a:t>
                </a:r>
              </a:p>
              <a:p>
                <a:pPr marL="465138" lvl="1" indent="-465138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tabLst>
                    <a:tab pos="4003675" algn="l"/>
                  </a:tabLst>
                </a:pPr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2.	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are compatible 	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 | 6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 | 6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465138" lvl="1" indent="-465138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tabLst>
                    <a:tab pos="4003675" algn="l"/>
                  </a:tabLst>
                </a:pPr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3.	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are not comparable 	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2∤3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3∤2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B8D9CF8-21C0-4732-8876-1F76AEF50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40" y="2544239"/>
                <a:ext cx="9353199" cy="1508105"/>
              </a:xfrm>
              <a:prstGeom prst="rect">
                <a:avLst/>
              </a:prstGeom>
              <a:blipFill>
                <a:blip r:embed="rId3"/>
                <a:stretch>
                  <a:fillRect l="-977" t="-3226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FE6A4FE-799B-4037-A853-2939AA58F1EA}"/>
              </a:ext>
            </a:extLst>
          </p:cNvPr>
          <p:cNvSpPr txBox="1"/>
          <p:nvPr/>
        </p:nvSpPr>
        <p:spPr>
          <a:xfrm>
            <a:off x="670227" y="1912585"/>
            <a:ext cx="1257963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False</a:t>
            </a:r>
            <a:endParaRPr lang="en-GB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000099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tabLst>
                    <a:tab pos="2165350" algn="l"/>
                  </a:tabLs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be a partial order on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comparable</a:t>
                </a:r>
                <a:r>
                  <a:rPr lang="en-US" dirty="0"/>
                  <a:t> 	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68288" indent="-268288">
                  <a:buFont typeface="Arial" panose="020B0604020202020204" pitchFamily="34" charset="0"/>
                  <a:buChar char="•"/>
                  <a:tabLst>
                    <a:tab pos="21653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</a:t>
                </a:r>
                <a:r>
                  <a:rPr lang="en-US" b="1" dirty="0"/>
                  <a:t> </a:t>
                </a:r>
                <a:r>
                  <a:rPr lang="en-US" i="1" dirty="0">
                    <a:solidFill>
                      <a:srgbClr val="C00000"/>
                    </a:solidFill>
                  </a:rPr>
                  <a:t>compatible</a:t>
                </a:r>
                <a:r>
                  <a:rPr lang="en-US" dirty="0"/>
                  <a:t> 	if there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142" y="267927"/>
                <a:ext cx="6512014" cy="923330"/>
              </a:xfrm>
              <a:prstGeom prst="rect">
                <a:avLst/>
              </a:prstGeom>
              <a:blipFill>
                <a:blip r:embed="rId4"/>
                <a:stretch>
                  <a:fillRect l="-748" t="-3268" b="-9150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846691" y="1418164"/>
            <a:ext cx="10044105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66725" indent="-466725"/>
            <a:r>
              <a:rPr lang="en-US" sz="2400" dirty="0"/>
              <a:t>(b)	In all partially ordered set, any two compatible elements are comparable.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9E79C7-1261-46B9-8DD4-DC35D1B5C965}"/>
              </a:ext>
            </a:extLst>
          </p:cNvPr>
          <p:cNvSpPr/>
          <p:nvPr/>
        </p:nvSpPr>
        <p:spPr>
          <a:xfrm>
            <a:off x="1530438" y="281629"/>
            <a:ext cx="3339063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State whether the following is true or false and justify your answer.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5FF7BA8A-EA2D-7E42-1168-0BA4C165982F}"/>
              </a:ext>
            </a:extLst>
          </p:cNvPr>
          <p:cNvSpPr/>
          <p:nvPr/>
        </p:nvSpPr>
        <p:spPr>
          <a:xfrm>
            <a:off x="10803836" y="5416344"/>
            <a:ext cx="874818" cy="90437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15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 bldLvl="2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89276" y="2258568"/>
            <a:ext cx="7013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End of Tutorial 5</a:t>
            </a:r>
          </a:p>
          <a:p>
            <a:pPr algn="ctr"/>
            <a:r>
              <a:rPr lang="en-US" sz="2800" dirty="0"/>
              <a:t>Good luck for your midterms!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9475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403805-0F28-0D4B-9A9D-D07C3B5073D2}" vid="{C6A40526-DE8D-994A-A983-BBF5A3AC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4039</TotalTime>
  <Words>4448</Words>
  <Application>Microsoft Office PowerPoint</Application>
  <PresentationFormat>Widescreen</PresentationFormat>
  <Paragraphs>466</Paragraphs>
  <Slides>23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Corbel</vt:lpstr>
      <vt:lpstr>Times New Roman</vt:lpstr>
      <vt:lpstr>Wingdings</vt:lpstr>
      <vt:lpstr>Theme1</vt:lpstr>
      <vt:lpstr>Cs1231S tutorial #5</vt:lpstr>
      <vt:lpstr>Learning objectives of this tutorial</vt:lpstr>
      <vt:lpstr>Q1.</vt:lpstr>
      <vt:lpstr>Q2.</vt:lpstr>
      <vt:lpstr>Q3.</vt:lpstr>
      <vt:lpstr>Q4.</vt:lpstr>
      <vt:lpstr>Q5.</vt:lpstr>
      <vt:lpstr>Q6.</vt:lpstr>
      <vt:lpstr>Q6.</vt:lpstr>
      <vt:lpstr>Q6.</vt:lpstr>
      <vt:lpstr>Q7.</vt:lpstr>
      <vt:lpstr>Q7.</vt:lpstr>
      <vt:lpstr>Q7.</vt:lpstr>
      <vt:lpstr>Q8.</vt:lpstr>
      <vt:lpstr>Q8.</vt:lpstr>
      <vt:lpstr>Q8.</vt:lpstr>
      <vt:lpstr>Q9.</vt:lpstr>
      <vt:lpstr>Q10.</vt:lpstr>
      <vt:lpstr>Q10.</vt:lpstr>
      <vt:lpstr>Q11.</vt:lpstr>
      <vt:lpstr>Q11.</vt:lpstr>
      <vt:lpstr>Q11.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CS1231 Tutorial #5</dc:title>
  <dc:creator>Eng Cheong Teo</dc:creator>
  <cp:lastModifiedBy>Gary Axel Muliyono</cp:lastModifiedBy>
  <cp:revision>442</cp:revision>
  <dcterms:created xsi:type="dcterms:W3CDTF">2020-08-29T13:48:12Z</dcterms:created>
  <dcterms:modified xsi:type="dcterms:W3CDTF">2025-09-30T15:44:27Z</dcterms:modified>
</cp:coreProperties>
</file>