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256" r:id="rId2"/>
    <p:sldId id="313" r:id="rId3"/>
    <p:sldId id="376" r:id="rId4"/>
    <p:sldId id="326" r:id="rId5"/>
    <p:sldId id="269" r:id="rId6"/>
    <p:sldId id="372" r:id="rId7"/>
    <p:sldId id="371" r:id="rId8"/>
    <p:sldId id="314" r:id="rId9"/>
    <p:sldId id="316" r:id="rId10"/>
    <p:sldId id="317" r:id="rId11"/>
    <p:sldId id="325" r:id="rId12"/>
    <p:sldId id="318" r:id="rId13"/>
    <p:sldId id="319" r:id="rId14"/>
    <p:sldId id="320" r:id="rId15"/>
    <p:sldId id="321" r:id="rId16"/>
    <p:sldId id="379" r:id="rId17"/>
    <p:sldId id="377" r:id="rId18"/>
    <p:sldId id="324" r:id="rId19"/>
    <p:sldId id="373" r:id="rId20"/>
    <p:sldId id="374" r:id="rId21"/>
    <p:sldId id="327" r:id="rId22"/>
    <p:sldId id="378" r:id="rId23"/>
    <p:sldId id="375" r:id="rId24"/>
    <p:sldId id="297" r:id="rId25"/>
    <p:sldId id="343" r:id="rId26"/>
    <p:sldId id="380" r:id="rId27"/>
    <p:sldId id="381" r:id="rId28"/>
    <p:sldId id="382" r:id="rId29"/>
    <p:sldId id="37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jay Saha" initials="SS" lastIdx="1" clrIdx="0">
    <p:extLst>
      <p:ext uri="{19B8F6BF-5375-455C-9EA6-DF929625EA0E}">
        <p15:presenceInfo xmlns:p15="http://schemas.microsoft.com/office/powerpoint/2012/main" userId="Sanjay Sah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99"/>
    <a:srgbClr val="3333FF"/>
    <a:srgbClr val="FFFFCC"/>
    <a:srgbClr val="0000FF"/>
    <a:srgbClr val="FFFFFF"/>
    <a:srgbClr val="FFCCCC"/>
    <a:srgbClr val="CCECFF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1E73E-4DB9-4A39-B91F-1BCD1361D7FB}" v="361" dt="2024-10-03T23:50:15.1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5" autoAdjust="0"/>
    <p:restoredTop sz="95037"/>
  </p:normalViewPr>
  <p:slideViewPr>
    <p:cSldViewPr snapToGrid="0" snapToObjects="1">
      <p:cViewPr varScale="1">
        <p:scale>
          <a:sx n="92" d="100"/>
          <a:sy n="92" d="100"/>
        </p:scale>
        <p:origin x="34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 Ngan Chin" userId="18d7712e82bfa3f1" providerId="LiveId" clId="{35D1E73E-4DB9-4A39-B91F-1BCD1361D7FB}"/>
    <pc:docChg chg="custSel addSld delSld modSld">
      <pc:chgData name="Wei Ngan Chin" userId="18d7712e82bfa3f1" providerId="LiveId" clId="{35D1E73E-4DB9-4A39-B91F-1BCD1361D7FB}" dt="2024-10-03T23:50:15.165" v="490" actId="114"/>
      <pc:docMkLst>
        <pc:docMk/>
      </pc:docMkLst>
      <pc:sldChg chg="modSp mod">
        <pc:chgData name="Wei Ngan Chin" userId="18d7712e82bfa3f1" providerId="LiveId" clId="{35D1E73E-4DB9-4A39-B91F-1BCD1361D7FB}" dt="2024-10-03T23:26:59.458" v="138" actId="14100"/>
        <pc:sldMkLst>
          <pc:docMk/>
          <pc:sldMk cId="3581375191" sldId="256"/>
        </pc:sldMkLst>
        <pc:spChg chg="mod">
          <ac:chgData name="Wei Ngan Chin" userId="18d7712e82bfa3f1" providerId="LiveId" clId="{35D1E73E-4DB9-4A39-B91F-1BCD1361D7FB}" dt="2024-10-03T23:26:59.458" v="138" actId="14100"/>
          <ac:spMkLst>
            <pc:docMk/>
            <pc:sldMk cId="3581375191" sldId="256"/>
            <ac:spMk id="3" creationId="{05ADE500-BCC6-024C-9FB8-F236052DC590}"/>
          </ac:spMkLst>
        </pc:spChg>
      </pc:sldChg>
      <pc:sldChg chg="del">
        <pc:chgData name="Wei Ngan Chin" userId="18d7712e82bfa3f1" providerId="LiveId" clId="{35D1E73E-4DB9-4A39-B91F-1BCD1361D7FB}" dt="2024-10-03T22:06:28.695" v="0" actId="47"/>
        <pc:sldMkLst>
          <pc:docMk/>
          <pc:sldMk cId="1541856437" sldId="323"/>
        </pc:sldMkLst>
      </pc:sldChg>
      <pc:sldChg chg="modSp mod">
        <pc:chgData name="Wei Ngan Chin" userId="18d7712e82bfa3f1" providerId="LiveId" clId="{35D1E73E-4DB9-4A39-B91F-1BCD1361D7FB}" dt="2024-10-03T22:06:34.610" v="1" actId="20577"/>
        <pc:sldMkLst>
          <pc:docMk/>
          <pc:sldMk cId="2309330855" sldId="324"/>
        </pc:sldMkLst>
        <pc:spChg chg="mod">
          <ac:chgData name="Wei Ngan Chin" userId="18d7712e82bfa3f1" providerId="LiveId" clId="{35D1E73E-4DB9-4A39-B91F-1BCD1361D7FB}" dt="2024-10-03T22:06:34.610" v="1" actId="20577"/>
          <ac:spMkLst>
            <pc:docMk/>
            <pc:sldMk cId="2309330855" sldId="324"/>
            <ac:spMk id="2" creationId="{1199532D-7B1D-4496-906D-F1887FE508D2}"/>
          </ac:spMkLst>
        </pc:spChg>
      </pc:sldChg>
      <pc:sldChg chg="addSp delSp modSp mod delAnim">
        <pc:chgData name="Wei Ngan Chin" userId="18d7712e82bfa3f1" providerId="LiveId" clId="{35D1E73E-4DB9-4A39-B91F-1BCD1361D7FB}" dt="2024-10-03T23:25:49.579" v="134" actId="1076"/>
        <pc:sldMkLst>
          <pc:docMk/>
          <pc:sldMk cId="988031865" sldId="327"/>
        </pc:sldMkLst>
        <pc:spChg chg="add del">
          <ac:chgData name="Wei Ngan Chin" userId="18d7712e82bfa3f1" providerId="LiveId" clId="{35D1E73E-4DB9-4A39-B91F-1BCD1361D7FB}" dt="2024-10-03T22:12:15.260" v="41" actId="478"/>
          <ac:spMkLst>
            <pc:docMk/>
            <pc:sldMk cId="988031865" sldId="327"/>
            <ac:spMk id="5" creationId="{39E56604-A005-82A8-E897-08B9089CE7E7}"/>
          </ac:spMkLst>
        </pc:spChg>
        <pc:spChg chg="mod">
          <ac:chgData name="Wei Ngan Chin" userId="18d7712e82bfa3f1" providerId="LiveId" clId="{35D1E73E-4DB9-4A39-B91F-1BCD1361D7FB}" dt="2024-10-03T22:07:41.961" v="5" actId="20577"/>
          <ac:spMkLst>
            <pc:docMk/>
            <pc:sldMk cId="988031865" sldId="327"/>
            <ac:spMk id="6" creationId="{353636BA-1DB8-4787-8392-C7DA114646EF}"/>
          </ac:spMkLst>
        </pc:spChg>
        <pc:spChg chg="mod">
          <ac:chgData name="Wei Ngan Chin" userId="18d7712e82bfa3f1" providerId="LiveId" clId="{35D1E73E-4DB9-4A39-B91F-1BCD1361D7FB}" dt="2024-10-03T23:25:49.579" v="134" actId="1076"/>
          <ac:spMkLst>
            <pc:docMk/>
            <pc:sldMk cId="988031865" sldId="327"/>
            <ac:spMk id="7" creationId="{D02B0F94-278B-41F5-883D-15B90AF0F257}"/>
          </ac:spMkLst>
        </pc:spChg>
        <pc:spChg chg="mod">
          <ac:chgData name="Wei Ngan Chin" userId="18d7712e82bfa3f1" providerId="LiveId" clId="{35D1E73E-4DB9-4A39-B91F-1BCD1361D7FB}" dt="2024-10-03T22:22:04.832" v="133" actId="20577"/>
          <ac:spMkLst>
            <pc:docMk/>
            <pc:sldMk cId="988031865" sldId="327"/>
            <ac:spMk id="8" creationId="{CC7B480A-827F-4215-8A04-70117D748DF9}"/>
          </ac:spMkLst>
        </pc:spChg>
        <pc:spChg chg="add mod">
          <ac:chgData name="Wei Ngan Chin" userId="18d7712e82bfa3f1" providerId="LiveId" clId="{35D1E73E-4DB9-4A39-B91F-1BCD1361D7FB}" dt="2024-10-03T22:19:59.986" v="128" actId="164"/>
          <ac:spMkLst>
            <pc:docMk/>
            <pc:sldMk cId="988031865" sldId="327"/>
            <ac:spMk id="9" creationId="{F92A8C63-344C-354C-CCC8-37F7DD88E3B7}"/>
          </ac:spMkLst>
        </pc:spChg>
        <pc:spChg chg="del">
          <ac:chgData name="Wei Ngan Chin" userId="18d7712e82bfa3f1" providerId="LiveId" clId="{35D1E73E-4DB9-4A39-B91F-1BCD1361D7FB}" dt="2024-10-03T22:10:48.742" v="37" actId="478"/>
          <ac:spMkLst>
            <pc:docMk/>
            <pc:sldMk cId="988031865" sldId="327"/>
            <ac:spMk id="24" creationId="{FBEA7A21-5AFE-4BB1-9C71-335E265E39E1}"/>
          </ac:spMkLst>
        </pc:spChg>
        <pc:spChg chg="del">
          <ac:chgData name="Wei Ngan Chin" userId="18d7712e82bfa3f1" providerId="LiveId" clId="{35D1E73E-4DB9-4A39-B91F-1BCD1361D7FB}" dt="2024-10-03T22:10:48.742" v="37" actId="478"/>
          <ac:spMkLst>
            <pc:docMk/>
            <pc:sldMk cId="988031865" sldId="327"/>
            <ac:spMk id="25" creationId="{185C5204-3808-4737-97CF-08AE08E3962A}"/>
          </ac:spMkLst>
        </pc:spChg>
        <pc:spChg chg="del">
          <ac:chgData name="Wei Ngan Chin" userId="18d7712e82bfa3f1" providerId="LiveId" clId="{35D1E73E-4DB9-4A39-B91F-1BCD1361D7FB}" dt="2024-10-03T22:10:48.742" v="37" actId="478"/>
          <ac:spMkLst>
            <pc:docMk/>
            <pc:sldMk cId="988031865" sldId="327"/>
            <ac:spMk id="54" creationId="{185C5204-3808-4737-97CF-08AE08E3962A}"/>
          </ac:spMkLst>
        </pc:spChg>
        <pc:spChg chg="del">
          <ac:chgData name="Wei Ngan Chin" userId="18d7712e82bfa3f1" providerId="LiveId" clId="{35D1E73E-4DB9-4A39-B91F-1BCD1361D7FB}" dt="2024-10-03T22:10:48.742" v="37" actId="478"/>
          <ac:spMkLst>
            <pc:docMk/>
            <pc:sldMk cId="988031865" sldId="327"/>
            <ac:spMk id="55" creationId="{6C915730-7F47-4EEB-88D1-8623D844CAB0}"/>
          </ac:spMkLst>
        </pc:spChg>
        <pc:spChg chg="del">
          <ac:chgData name="Wei Ngan Chin" userId="18d7712e82bfa3f1" providerId="LiveId" clId="{35D1E73E-4DB9-4A39-B91F-1BCD1361D7FB}" dt="2024-10-03T22:10:48.742" v="37" actId="478"/>
          <ac:spMkLst>
            <pc:docMk/>
            <pc:sldMk cId="988031865" sldId="327"/>
            <ac:spMk id="61" creationId="{185C5204-3808-4737-97CF-08AE08E3962A}"/>
          </ac:spMkLst>
        </pc:spChg>
        <pc:spChg chg="del">
          <ac:chgData name="Wei Ngan Chin" userId="18d7712e82bfa3f1" providerId="LiveId" clId="{35D1E73E-4DB9-4A39-B91F-1BCD1361D7FB}" dt="2024-10-03T22:10:48.742" v="37" actId="478"/>
          <ac:spMkLst>
            <pc:docMk/>
            <pc:sldMk cId="988031865" sldId="327"/>
            <ac:spMk id="67" creationId="{185C5204-3808-4737-97CF-08AE08E3962A}"/>
          </ac:spMkLst>
        </pc:spChg>
        <pc:spChg chg="del">
          <ac:chgData name="Wei Ngan Chin" userId="18d7712e82bfa3f1" providerId="LiveId" clId="{35D1E73E-4DB9-4A39-B91F-1BCD1361D7FB}" dt="2024-10-03T22:10:48.742" v="37" actId="478"/>
          <ac:spMkLst>
            <pc:docMk/>
            <pc:sldMk cId="988031865" sldId="327"/>
            <ac:spMk id="68" creationId="{6C915730-7F47-4EEB-88D1-8623D844CAB0}"/>
          </ac:spMkLst>
        </pc:spChg>
        <pc:grpChg chg="del">
          <ac:chgData name="Wei Ngan Chin" userId="18d7712e82bfa3f1" providerId="LiveId" clId="{35D1E73E-4DB9-4A39-B91F-1BCD1361D7FB}" dt="2024-10-03T22:10:48.742" v="37" actId="478"/>
          <ac:grpSpMkLst>
            <pc:docMk/>
            <pc:sldMk cId="988031865" sldId="327"/>
            <ac:grpSpMk id="11" creationId="{00000000-0000-0000-0000-000000000000}"/>
          </ac:grpSpMkLst>
        </pc:grpChg>
        <pc:grpChg chg="add mod">
          <ac:chgData name="Wei Ngan Chin" userId="18d7712e82bfa3f1" providerId="LiveId" clId="{35D1E73E-4DB9-4A39-B91F-1BCD1361D7FB}" dt="2024-10-03T22:19:59.986" v="128" actId="164"/>
          <ac:grpSpMkLst>
            <pc:docMk/>
            <pc:sldMk cId="988031865" sldId="327"/>
            <ac:grpSpMk id="15" creationId="{998A28D2-6145-D313-D10C-C7DD69FA3C3E}"/>
          </ac:grpSpMkLst>
        </pc:grpChg>
        <pc:grpChg chg="del">
          <ac:chgData name="Wei Ngan Chin" userId="18d7712e82bfa3f1" providerId="LiveId" clId="{35D1E73E-4DB9-4A39-B91F-1BCD1361D7FB}" dt="2024-10-03T22:10:48.742" v="37" actId="478"/>
          <ac:grpSpMkLst>
            <pc:docMk/>
            <pc:sldMk cId="988031865" sldId="327"/>
            <ac:grpSpMk id="49" creationId="{00000000-0000-0000-0000-000000000000}"/>
          </ac:grpSpMkLst>
        </pc:grpChg>
        <pc:grpChg chg="del">
          <ac:chgData name="Wei Ngan Chin" userId="18d7712e82bfa3f1" providerId="LiveId" clId="{35D1E73E-4DB9-4A39-B91F-1BCD1361D7FB}" dt="2024-10-03T22:10:48.742" v="37" actId="478"/>
          <ac:grpSpMkLst>
            <pc:docMk/>
            <pc:sldMk cId="988031865" sldId="327"/>
            <ac:grpSpMk id="62" creationId="{00000000-0000-0000-0000-000000000000}"/>
          </ac:grpSpMkLst>
        </pc:grpChg>
        <pc:grpChg chg="del">
          <ac:chgData name="Wei Ngan Chin" userId="18d7712e82bfa3f1" providerId="LiveId" clId="{35D1E73E-4DB9-4A39-B91F-1BCD1361D7FB}" dt="2024-10-03T22:10:48.742" v="37" actId="478"/>
          <ac:grpSpMkLst>
            <pc:docMk/>
            <pc:sldMk cId="988031865" sldId="327"/>
            <ac:grpSpMk id="69" creationId="{00000000-0000-0000-0000-000000000000}"/>
          </ac:grpSpMkLst>
        </pc:grpChg>
        <pc:grpChg chg="del">
          <ac:chgData name="Wei Ngan Chin" userId="18d7712e82bfa3f1" providerId="LiveId" clId="{35D1E73E-4DB9-4A39-B91F-1BCD1361D7FB}" dt="2024-10-03T22:10:48.742" v="37" actId="478"/>
          <ac:grpSpMkLst>
            <pc:docMk/>
            <pc:sldMk cId="988031865" sldId="327"/>
            <ac:grpSpMk id="84" creationId="{00000000-0000-0000-0000-000000000000}"/>
          </ac:grpSpMkLst>
        </pc:grpChg>
        <pc:grpChg chg="del">
          <ac:chgData name="Wei Ngan Chin" userId="18d7712e82bfa3f1" providerId="LiveId" clId="{35D1E73E-4DB9-4A39-B91F-1BCD1361D7FB}" dt="2024-10-03T22:10:48.742" v="37" actId="478"/>
          <ac:grpSpMkLst>
            <pc:docMk/>
            <pc:sldMk cId="988031865" sldId="327"/>
            <ac:grpSpMk id="89" creationId="{00000000-0000-0000-0000-000000000000}"/>
          </ac:grpSpMkLst>
        </pc:grpChg>
        <pc:grpChg chg="del">
          <ac:chgData name="Wei Ngan Chin" userId="18d7712e82bfa3f1" providerId="LiveId" clId="{35D1E73E-4DB9-4A39-B91F-1BCD1361D7FB}" dt="2024-10-03T22:10:48.742" v="37" actId="478"/>
          <ac:grpSpMkLst>
            <pc:docMk/>
            <pc:sldMk cId="988031865" sldId="327"/>
            <ac:grpSpMk id="94" creationId="{00000000-0000-0000-0000-000000000000}"/>
          </ac:grpSpMkLst>
        </pc:grpChg>
        <pc:cxnChg chg="add mod">
          <ac:chgData name="Wei Ngan Chin" userId="18d7712e82bfa3f1" providerId="LiveId" clId="{35D1E73E-4DB9-4A39-B91F-1BCD1361D7FB}" dt="2024-10-03T22:19:59.986" v="128" actId="164"/>
          <ac:cxnSpMkLst>
            <pc:docMk/>
            <pc:sldMk cId="988031865" sldId="327"/>
            <ac:cxnSpMk id="14" creationId="{D73C3E66-6B1C-EF6B-A36C-598FB83C2722}"/>
          </ac:cxnSpMkLst>
        </pc:cxnChg>
      </pc:sldChg>
      <pc:sldChg chg="modSp mod">
        <pc:chgData name="Wei Ngan Chin" userId="18d7712e82bfa3f1" providerId="LiveId" clId="{35D1E73E-4DB9-4A39-B91F-1BCD1361D7FB}" dt="2024-10-03T22:06:43.893" v="2" actId="20577"/>
        <pc:sldMkLst>
          <pc:docMk/>
          <pc:sldMk cId="2675941357" sldId="373"/>
        </pc:sldMkLst>
        <pc:spChg chg="mod">
          <ac:chgData name="Wei Ngan Chin" userId="18d7712e82bfa3f1" providerId="LiveId" clId="{35D1E73E-4DB9-4A39-B91F-1BCD1361D7FB}" dt="2024-10-03T22:06:43.893" v="2" actId="20577"/>
          <ac:spMkLst>
            <pc:docMk/>
            <pc:sldMk cId="2675941357" sldId="373"/>
            <ac:spMk id="2" creationId="{1199532D-7B1D-4496-906D-F1887FE508D2}"/>
          </ac:spMkLst>
        </pc:spChg>
      </pc:sldChg>
      <pc:sldChg chg="modSp mod">
        <pc:chgData name="Wei Ngan Chin" userId="18d7712e82bfa3f1" providerId="LiveId" clId="{35D1E73E-4DB9-4A39-B91F-1BCD1361D7FB}" dt="2024-10-03T22:06:52.161" v="3" actId="20577"/>
        <pc:sldMkLst>
          <pc:docMk/>
          <pc:sldMk cId="200605066" sldId="374"/>
        </pc:sldMkLst>
        <pc:spChg chg="mod">
          <ac:chgData name="Wei Ngan Chin" userId="18d7712e82bfa3f1" providerId="LiveId" clId="{35D1E73E-4DB9-4A39-B91F-1BCD1361D7FB}" dt="2024-10-03T22:06:52.161" v="3" actId="20577"/>
          <ac:spMkLst>
            <pc:docMk/>
            <pc:sldMk cId="200605066" sldId="374"/>
            <ac:spMk id="2" creationId="{1199532D-7B1D-4496-906D-F1887FE508D2}"/>
          </ac:spMkLst>
        </pc:spChg>
      </pc:sldChg>
      <pc:sldChg chg="add">
        <pc:chgData name="Wei Ngan Chin" userId="18d7712e82bfa3f1" providerId="LiveId" clId="{35D1E73E-4DB9-4A39-B91F-1BCD1361D7FB}" dt="2024-10-03T22:07:31.139" v="4" actId="2890"/>
        <pc:sldMkLst>
          <pc:docMk/>
          <pc:sldMk cId="1244349317" sldId="375"/>
        </pc:sldMkLst>
      </pc:sldChg>
      <pc:sldChg chg="delSp modSp add mod modAnim">
        <pc:chgData name="Wei Ngan Chin" userId="18d7712e82bfa3f1" providerId="LiveId" clId="{35D1E73E-4DB9-4A39-B91F-1BCD1361D7FB}" dt="2024-10-03T23:50:15.165" v="490" actId="114"/>
        <pc:sldMkLst>
          <pc:docMk/>
          <pc:sldMk cId="2291923881" sldId="376"/>
        </pc:sldMkLst>
        <pc:spChg chg="mod">
          <ac:chgData name="Wei Ngan Chin" userId="18d7712e82bfa3f1" providerId="LiveId" clId="{35D1E73E-4DB9-4A39-B91F-1BCD1361D7FB}" dt="2024-10-03T23:28:36.783" v="140" actId="20577"/>
          <ac:spMkLst>
            <pc:docMk/>
            <pc:sldMk cId="2291923881" sldId="376"/>
            <ac:spMk id="2" creationId="{1199532D-7B1D-4496-906D-F1887FE508D2}"/>
          </ac:spMkLst>
        </pc:spChg>
        <pc:spChg chg="del mod">
          <ac:chgData name="Wei Ngan Chin" userId="18d7712e82bfa3f1" providerId="LiveId" clId="{35D1E73E-4DB9-4A39-B91F-1BCD1361D7FB}" dt="2024-10-03T23:28:43.524" v="142" actId="478"/>
          <ac:spMkLst>
            <pc:docMk/>
            <pc:sldMk cId="2291923881" sldId="376"/>
            <ac:spMk id="3" creationId="{46F00056-74A3-4D6F-9670-82BCCD03C19B}"/>
          </ac:spMkLst>
        </pc:spChg>
        <pc:spChg chg="mod">
          <ac:chgData name="Wei Ngan Chin" userId="18d7712e82bfa3f1" providerId="LiveId" clId="{35D1E73E-4DB9-4A39-B91F-1BCD1361D7FB}" dt="2024-10-03T23:29:08.852" v="168" actId="1076"/>
          <ac:spMkLst>
            <pc:docMk/>
            <pc:sldMk cId="2291923881" sldId="376"/>
            <ac:spMk id="6" creationId="{00000000-0000-0000-0000-000000000000}"/>
          </ac:spMkLst>
        </pc:spChg>
        <pc:spChg chg="mod">
          <ac:chgData name="Wei Ngan Chin" userId="18d7712e82bfa3f1" providerId="LiveId" clId="{35D1E73E-4DB9-4A39-B91F-1BCD1361D7FB}" dt="2024-10-03T23:50:15.165" v="490" actId="114"/>
          <ac:spMkLst>
            <pc:docMk/>
            <pc:sldMk cId="2291923881" sldId="376"/>
            <ac:spMk id="7" creationId="{46F00056-74A3-4D6F-9670-82BCCD03C1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E0D1F-4E0B-470D-BE89-8B98D1F65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7DDD6-A43A-4F1F-AB30-FF9862BC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41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998F76-E9E3-4463-817F-D8C0D573D97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303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A7F3F-66F1-4062-AD20-D4050B2E2316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8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7A186-BC58-4E38-9D6B-E2530ED488D7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96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92B9-BF38-4C9C-90F6-943069E9EDF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5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3BD-47A2-4767-947D-2AE1001298C3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8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D6707-B7B2-4F97-BB0F-04E2D97E588E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6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6F7F-EEFF-4A48-AE97-650E1D713802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72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8CA2C-FFF8-457B-A6F2-A82A2E070B4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1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92C9-6F7B-471B-93D4-A5C041E70C69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7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78D06-5A9E-4B3F-952F-1E0761201B9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4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4F4B-6828-4512-B9A2-CDE95FB13083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F60B06E-A043-4080-8A6B-3C15F51235EB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3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0.png"/><Relationship Id="rId7" Type="http://schemas.openxmlformats.org/officeDocument/2006/relationships/image" Target="../media/image150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0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32.png"/><Relationship Id="rId7" Type="http://schemas.openxmlformats.org/officeDocument/2006/relationships/image" Target="../media/image290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4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320.png"/><Relationship Id="rId7" Type="http://schemas.openxmlformats.org/officeDocument/2006/relationships/image" Target="../media/image38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NUL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0.png"/><Relationship Id="rId7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2.png"/><Relationship Id="rId3" Type="http://schemas.openxmlformats.org/officeDocument/2006/relationships/image" Target="../media/image330.png"/><Relationship Id="rId7" Type="http://schemas.openxmlformats.org/officeDocument/2006/relationships/image" Target="../media/image54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image" Target="../media/image312.pn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58.png"/><Relationship Id="rId5" Type="http://schemas.openxmlformats.org/officeDocument/2006/relationships/image" Target="../media/image37.png"/><Relationship Id="rId15" Type="http://schemas.openxmlformats.org/officeDocument/2006/relationships/image" Target="../media/image64.png"/><Relationship Id="rId10" Type="http://schemas.openxmlformats.org/officeDocument/2006/relationships/image" Target="../media/image57.png"/><Relationship Id="rId4" Type="http://schemas.openxmlformats.org/officeDocument/2006/relationships/image" Target="../media/image35.png"/><Relationship Id="rId9" Type="http://schemas.openxmlformats.org/officeDocument/2006/relationships/image" Target="../media/image56.png"/><Relationship Id="rId1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NULL"/><Relationship Id="rId7" Type="http://schemas.openxmlformats.org/officeDocument/2006/relationships/image" Target="../media/image3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340.png"/><Relationship Id="rId4" Type="http://schemas.openxmlformats.org/officeDocument/2006/relationships/image" Target="../media/image610.png"/><Relationship Id="rId9" Type="http://schemas.openxmlformats.org/officeDocument/2006/relationships/image" Target="../media/image3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3" Type="http://schemas.openxmlformats.org/officeDocument/2006/relationships/image" Target="../media/image86.png"/><Relationship Id="rId7" Type="http://schemas.openxmlformats.org/officeDocument/2006/relationships/image" Target="../media/image85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100.png"/><Relationship Id="rId5" Type="http://schemas.openxmlformats.org/officeDocument/2006/relationships/image" Target="../media/image96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19" Type="http://schemas.openxmlformats.org/officeDocument/2006/relationships/image" Target="../media/image89.png"/><Relationship Id="rId4" Type="http://schemas.openxmlformats.org/officeDocument/2006/relationships/image" Target="../media/image95.png"/><Relationship Id="rId9" Type="http://schemas.openxmlformats.org/officeDocument/2006/relationships/image" Target="../media/image640.png"/><Relationship Id="rId14" Type="http://schemas.openxmlformats.org/officeDocument/2006/relationships/image" Target="../media/image10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B366-077F-5141-BDDB-5136E07F82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Cs1231S</a:t>
            </a:r>
            <a:br>
              <a:rPr lang="en-US" dirty="0"/>
            </a:br>
            <a:r>
              <a:rPr lang="en-US" dirty="0"/>
              <a:t>tutorial #7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DE500-BCC6-024C-9FB8-F236052DC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6829" y="3869634"/>
            <a:ext cx="6487428" cy="1388165"/>
          </a:xfrm>
        </p:spPr>
        <p:txBody>
          <a:bodyPr>
            <a:normAutofit lnSpcReduction="10000"/>
          </a:bodyPr>
          <a:lstStyle/>
          <a:p>
            <a:r>
              <a:rPr lang="en-US" sz="4800" dirty="0"/>
              <a:t>Mathematical Induction and Recursion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9DC1D00-2845-0F7F-81BD-6D03DD57C044}"/>
              </a:ext>
            </a:extLst>
          </p:cNvPr>
          <p:cNvSpPr txBox="1">
            <a:spLocks/>
          </p:cNvSpPr>
          <p:nvPr/>
        </p:nvSpPr>
        <p:spPr>
          <a:xfrm>
            <a:off x="3348775" y="5789387"/>
            <a:ext cx="5489367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Based on slides by Prof Aaron Tan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97526-7EC9-3836-3CD8-C5D83FF0A059}"/>
              </a:ext>
            </a:extLst>
          </p:cNvPr>
          <p:cNvSpPr txBox="1"/>
          <p:nvPr/>
        </p:nvSpPr>
        <p:spPr>
          <a:xfrm>
            <a:off x="3832040" y="5106696"/>
            <a:ext cx="4522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(</a:t>
            </a:r>
            <a:r>
              <a:rPr lang="en-SG" sz="2800" dirty="0" err="1">
                <a:solidFill>
                  <a:schemeClr val="bg1"/>
                </a:solidFill>
              </a:rPr>
              <a:t>AY2025</a:t>
            </a:r>
            <a:r>
              <a:rPr lang="en-SG" sz="2800" dirty="0">
                <a:solidFill>
                  <a:schemeClr val="bg1"/>
                </a:solidFill>
              </a:rPr>
              <a:t>/26 Semester 1)</a:t>
            </a:r>
          </a:p>
        </p:txBody>
      </p:sp>
    </p:spTree>
    <p:extLst>
      <p:ext uri="{BB962C8B-B14F-4D97-AF65-F5344CB8AC3E}">
        <p14:creationId xmlns:p14="http://schemas.microsoft.com/office/powerpoint/2010/main" val="3581375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954847"/>
          </a:xfrm>
        </p:spPr>
        <p:txBody>
          <a:bodyPr/>
          <a:lstStyle/>
          <a:p>
            <a:r>
              <a:rPr lang="en-US" dirty="0"/>
              <a:t>Learning objectives of this tutorial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649" y="1692275"/>
            <a:ext cx="9872871" cy="4038600"/>
          </a:xfrm>
        </p:spPr>
        <p:txBody>
          <a:bodyPr>
            <a:normAutofit/>
          </a:bodyPr>
          <a:lstStyle/>
          <a:p>
            <a:pPr marL="534988" indent="-358775">
              <a:spcBef>
                <a:spcPts val="600"/>
              </a:spcBef>
              <a:spcAft>
                <a:spcPts val="600"/>
              </a:spcAft>
              <a:buClrTx/>
              <a:tabLst>
                <a:tab pos="534988" algn="l"/>
              </a:tabLst>
            </a:pPr>
            <a:r>
              <a:rPr lang="en-US" sz="3600" dirty="0">
                <a:solidFill>
                  <a:schemeClr val="tx1"/>
                </a:solidFill>
              </a:rPr>
              <a:t>Understanding </a:t>
            </a:r>
            <a:r>
              <a:rPr lang="en-US" sz="3600" dirty="0">
                <a:solidFill>
                  <a:srgbClr val="C00000"/>
                </a:solidFill>
              </a:rPr>
              <a:t>Mathematical Induction</a:t>
            </a:r>
            <a:r>
              <a:rPr lang="en-US" sz="3600" dirty="0">
                <a:solidFill>
                  <a:schemeClr val="tx1"/>
                </a:solidFill>
              </a:rPr>
              <a:t> (MI)</a:t>
            </a:r>
          </a:p>
          <a:p>
            <a:pPr marL="534988" indent="-358775">
              <a:spcBef>
                <a:spcPts val="600"/>
              </a:spcBef>
              <a:spcAft>
                <a:spcPts val="600"/>
              </a:spcAft>
              <a:buClrTx/>
              <a:tabLst>
                <a:tab pos="534988" algn="l"/>
              </a:tabLst>
            </a:pPr>
            <a:r>
              <a:rPr lang="en-US" sz="3600" dirty="0">
                <a:solidFill>
                  <a:schemeClr val="tx1"/>
                </a:solidFill>
              </a:rPr>
              <a:t>Using </a:t>
            </a:r>
            <a:r>
              <a:rPr lang="en-US" sz="3600" dirty="0">
                <a:solidFill>
                  <a:srgbClr val="C00000"/>
                </a:solidFill>
              </a:rPr>
              <a:t>MI</a:t>
            </a:r>
            <a:r>
              <a:rPr lang="en-US" sz="3600" dirty="0">
                <a:solidFill>
                  <a:schemeClr val="tx1"/>
                </a:solidFill>
              </a:rPr>
              <a:t> and </a:t>
            </a:r>
            <a:r>
              <a:rPr lang="en-US" sz="3600" dirty="0">
                <a:solidFill>
                  <a:srgbClr val="C00000"/>
                </a:solidFill>
              </a:rPr>
              <a:t>Strong MI</a:t>
            </a:r>
            <a:r>
              <a:rPr lang="en-US" sz="3600" dirty="0">
                <a:solidFill>
                  <a:schemeClr val="tx1"/>
                </a:solidFill>
              </a:rPr>
              <a:t> in proofs</a:t>
            </a:r>
          </a:p>
          <a:p>
            <a:pPr marL="534988" indent="-358775">
              <a:spcBef>
                <a:spcPts val="600"/>
              </a:spcBef>
              <a:spcAft>
                <a:spcPts val="600"/>
              </a:spcAft>
              <a:buClrTx/>
              <a:tabLst>
                <a:tab pos="534988" algn="l"/>
              </a:tabLst>
            </a:pPr>
            <a:r>
              <a:rPr lang="en-US" sz="3600" dirty="0">
                <a:solidFill>
                  <a:srgbClr val="C00000"/>
                </a:solidFill>
              </a:rPr>
              <a:t>Recursive definition of a sequence</a:t>
            </a:r>
          </a:p>
          <a:p>
            <a:pPr marL="534988" indent="-358775">
              <a:spcBef>
                <a:spcPts val="600"/>
              </a:spcBef>
              <a:spcAft>
                <a:spcPts val="600"/>
              </a:spcAft>
              <a:buClrTx/>
              <a:tabLst>
                <a:tab pos="534988" algn="l"/>
              </a:tabLst>
            </a:pPr>
            <a:r>
              <a:rPr lang="en-US" sz="3600" dirty="0">
                <a:solidFill>
                  <a:srgbClr val="C00000"/>
                </a:solidFill>
              </a:rPr>
              <a:t>Recursive definition of a set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</a:p>
          <a:p>
            <a:pPr marL="534988" indent="-358775">
              <a:spcBef>
                <a:spcPts val="600"/>
              </a:spcBef>
              <a:spcAft>
                <a:spcPts val="600"/>
              </a:spcAft>
              <a:buClrTx/>
              <a:tabLst>
                <a:tab pos="534988" algn="l"/>
              </a:tabLst>
            </a:pPr>
            <a:r>
              <a:rPr lang="en-US" sz="3600" dirty="0">
                <a:solidFill>
                  <a:schemeClr val="tx1"/>
                </a:solidFill>
              </a:rPr>
              <a:t>Using </a:t>
            </a:r>
            <a:r>
              <a:rPr lang="en-US" sz="3600" dirty="0">
                <a:solidFill>
                  <a:srgbClr val="C00000"/>
                </a:solidFill>
              </a:rPr>
              <a:t>structural induction </a:t>
            </a:r>
            <a:r>
              <a:rPr lang="en-US" sz="3600" dirty="0">
                <a:solidFill>
                  <a:schemeClr val="tx1"/>
                </a:solidFill>
              </a:rPr>
              <a:t>over </a:t>
            </a:r>
            <a:r>
              <a:rPr lang="en-US" sz="3600" dirty="0">
                <a:solidFill>
                  <a:srgbClr val="C00000"/>
                </a:solidFill>
              </a:rPr>
              <a:t>recursively defined sets</a:t>
            </a:r>
            <a:endParaRPr lang="en-SG" sz="36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53555" y="658895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81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7EF6-8943-3463-42CC-C705E3317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00AC4-78C1-7219-7D09-F3BF1BD8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53555" y="658895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AF8A07-A578-AC4C-923A-759EBAF6F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37" y="2403763"/>
            <a:ext cx="9875520" cy="1356360"/>
          </a:xfrm>
        </p:spPr>
        <p:txBody>
          <a:bodyPr/>
          <a:lstStyle/>
          <a:p>
            <a:r>
              <a:rPr lang="en-SG" dirty="0"/>
              <a:t>Try out the discussion questions!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4ED489-38F1-8BCE-F0DD-2EBEC80A8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SG" sz="3200" dirty="0"/>
              <a:t>Good practice for writing full-fledged induction proofs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54120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AFA5-3F6E-41C6-839E-081721C7C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054608"/>
          </a:xfrm>
        </p:spPr>
        <p:txBody>
          <a:bodyPr/>
          <a:lstStyle/>
          <a:p>
            <a:r>
              <a:rPr lang="en-SG" dirty="0"/>
              <a:t>Recap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5C2EC-223D-42D0-ABF8-F4221AD7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307593" y="3665184"/>
                <a:ext cx="10131552" cy="235583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FF"/>
                    </a:solidFill>
                  </a:rPr>
                  <a:t>Strong Mathematical Induction (Strong MI).	</a:t>
                </a:r>
                <a:r>
                  <a:rPr lang="en-US" sz="2400" dirty="0">
                    <a:solidFill>
                      <a:srgbClr val="006600"/>
                    </a:solidFill>
                  </a:rPr>
                  <a:t>Fix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ℓ∈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.</a:t>
                </a:r>
                <a:endParaRPr lang="en-US" sz="2400" b="1" dirty="0">
                  <a:solidFill>
                    <a:srgbClr val="0000FF"/>
                  </a:solidFill>
                </a:endParaRPr>
              </a:p>
              <a:p>
                <a:r>
                  <a:rPr lang="en-US" sz="2400" dirty="0"/>
                  <a:t>To prove that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⩾0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400" dirty="0"/>
                  <a:t> is true, where each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400" dirty="0"/>
                  <a:t> is a proposition, </a:t>
                </a:r>
                <a:br>
                  <a:rPr lang="en-SG" sz="2400" dirty="0"/>
                </a:br>
                <a:r>
                  <a:rPr lang="en-SG" sz="2400" dirty="0"/>
                  <a:t>it suffices to:</a:t>
                </a:r>
              </a:p>
              <a:p>
                <a:pPr>
                  <a:tabLst>
                    <a:tab pos="2066925" algn="l"/>
                  </a:tabLst>
                </a:pPr>
                <a:r>
                  <a:rPr lang="en-US" sz="2400" dirty="0">
                    <a:solidFill>
                      <a:srgbClr val="0000FF"/>
                    </a:solidFill>
                  </a:rPr>
                  <a:t>(basis step)</a:t>
                </a:r>
                <a:r>
                  <a:rPr lang="en-US" sz="2400" dirty="0"/>
                  <a:t>	show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(ℓ−1)</m:t>
                    </m:r>
                  </m:oMath>
                </a14:m>
                <a:r>
                  <a:rPr lang="en-US" sz="2400" dirty="0"/>
                  <a:t> are true;</a:t>
                </a:r>
              </a:p>
              <a:p>
                <a:pPr marL="2066925" indent="-2066925">
                  <a:tabLst>
                    <a:tab pos="2066925" algn="l"/>
                  </a:tabLst>
                </a:pPr>
                <a:r>
                  <a:rPr lang="en-US" sz="2400" dirty="0">
                    <a:solidFill>
                      <a:srgbClr val="0000FF"/>
                    </a:solidFill>
                  </a:rPr>
                  <a:t>(inductive step)</a:t>
                </a:r>
                <a:r>
                  <a:rPr lang="en-US" sz="2400" dirty="0"/>
                  <a:t>	show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⩾0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∧⋯∧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(ℓ+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−1)⇒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en-SG" sz="2400" dirty="0"/>
                  <a:t> is true.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593" y="3665184"/>
                <a:ext cx="10131552" cy="2355838"/>
              </a:xfrm>
              <a:prstGeom prst="rect">
                <a:avLst/>
              </a:prstGeom>
              <a:blipFill>
                <a:blip r:embed="rId2"/>
                <a:stretch>
                  <a:fillRect l="-901" t="-1799" r="-721" b="-539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307593" y="1534688"/>
                <a:ext cx="10131552" cy="200606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FF"/>
                    </a:solidFill>
                  </a:rPr>
                  <a:t>Mathematical Induction (MI).			</a:t>
                </a:r>
                <a:r>
                  <a:rPr lang="en-US" sz="2400" dirty="0">
                    <a:solidFill>
                      <a:srgbClr val="006600"/>
                    </a:solidFill>
                  </a:rPr>
                  <a:t>Fix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.</a:t>
                </a:r>
              </a:p>
              <a:p>
                <a:r>
                  <a:rPr lang="en-US" sz="2400" dirty="0"/>
                  <a:t>To prove that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⩾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400" dirty="0"/>
                  <a:t> is true, where each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400" dirty="0"/>
                  <a:t> is a proposition, </a:t>
                </a:r>
                <a:br>
                  <a:rPr lang="en-SG" sz="2400" dirty="0"/>
                </a:br>
                <a:r>
                  <a:rPr lang="en-SG" sz="2400" dirty="0"/>
                  <a:t>it suffices to:</a:t>
                </a:r>
              </a:p>
              <a:p>
                <a:pPr>
                  <a:tabLst>
                    <a:tab pos="2066925" algn="l"/>
                  </a:tabLst>
                </a:pPr>
                <a:r>
                  <a:rPr lang="en-US" sz="2400" dirty="0">
                    <a:solidFill>
                      <a:srgbClr val="0000FF"/>
                    </a:solidFill>
                  </a:rPr>
                  <a:t>(basis step)</a:t>
                </a:r>
                <a:r>
                  <a:rPr lang="en-US" sz="2400" dirty="0"/>
                  <a:t>	show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true;</a:t>
                </a:r>
              </a:p>
              <a:p>
                <a:pPr>
                  <a:tabLst>
                    <a:tab pos="2066925" algn="l"/>
                  </a:tabLst>
                </a:pPr>
                <a:r>
                  <a:rPr lang="en-US" sz="2400" dirty="0">
                    <a:solidFill>
                      <a:srgbClr val="0000FF"/>
                    </a:solidFill>
                  </a:rPr>
                  <a:t>(inductive step)</a:t>
                </a:r>
                <a:r>
                  <a:rPr lang="en-US" sz="2400" dirty="0"/>
                  <a:t>	show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⩾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</m:oMath>
                </a14:m>
                <a:r>
                  <a:rPr lang="en-SG" sz="2400" dirty="0"/>
                  <a:t> is true.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593" y="1534688"/>
                <a:ext cx="10131552" cy="2006062"/>
              </a:xfrm>
              <a:prstGeom prst="rect">
                <a:avLst/>
              </a:prstGeom>
              <a:blipFill>
                <a:blip r:embed="rId3"/>
                <a:stretch>
                  <a:fillRect l="-901" t="-2115" b="-483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2267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Q1.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5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00056-74A3-4D6F-9670-82BCCD03C19B}"/>
              </a:ext>
            </a:extLst>
          </p:cNvPr>
          <p:cNvSpPr txBox="1"/>
          <p:nvPr/>
        </p:nvSpPr>
        <p:spPr>
          <a:xfrm>
            <a:off x="1435267" y="477933"/>
            <a:ext cx="4125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99"/>
                </a:solidFill>
                <a:ea typeface="Cambria Math" panose="02040503050406030204" pitchFamily="18" charset="0"/>
              </a:rPr>
              <a:t>Common mistakes</a:t>
            </a:r>
            <a:endParaRPr lang="en-US" sz="3200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721AE0-7FD8-2E6E-1E53-436014ED5A14}"/>
                  </a:ext>
                </a:extLst>
              </p:cNvPr>
              <p:cNvSpPr txBox="1"/>
              <p:nvPr/>
            </p:nvSpPr>
            <p:spPr>
              <a:xfrm>
                <a:off x="973874" y="1231222"/>
                <a:ext cx="9969190" cy="937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23888" indent="-623888">
                  <a:spcAft>
                    <a:spcPts val="600"/>
                  </a:spcAft>
                </a:pPr>
                <a:r>
                  <a:rPr lang="en-SG" sz="2400" dirty="0"/>
                  <a:t>(a)	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Inductive hypothesis: Assume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true.</a:t>
                </a:r>
              </a:p>
              <a:p>
                <a:pPr marL="623888" indent="-623888">
                  <a:spcAft>
                    <a:spcPts val="600"/>
                  </a:spcAft>
                </a:pPr>
                <a:r>
                  <a:rPr lang="en-SG" sz="2400" dirty="0"/>
                  <a:t>	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Inductive step: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SG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nary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SG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SG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nary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SG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SG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=⋯</m:t>
                    </m:r>
                  </m:oMath>
                </a14:m>
                <a:endParaRPr lang="en-SG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721AE0-7FD8-2E6E-1E53-436014ED5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74" y="1231222"/>
                <a:ext cx="9969190" cy="937564"/>
              </a:xfrm>
              <a:prstGeom prst="rect">
                <a:avLst/>
              </a:prstGeom>
              <a:blipFill>
                <a:blip r:embed="rId2"/>
                <a:stretch>
                  <a:fillRect l="-979" t="-519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B34ABC-36AD-8C5C-76C5-2739E4C33C37}"/>
                  </a:ext>
                </a:extLst>
              </p:cNvPr>
              <p:cNvSpPr txBox="1"/>
              <p:nvPr/>
            </p:nvSpPr>
            <p:spPr>
              <a:xfrm>
                <a:off x="973874" y="2629687"/>
                <a:ext cx="9969190" cy="3409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23888" indent="-623888">
                  <a:spcAft>
                    <a:spcPts val="600"/>
                  </a:spcAft>
                </a:pPr>
                <a:r>
                  <a:rPr lang="en-SG" sz="2400" dirty="0"/>
                  <a:t>(b)	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Inductive step:</a:t>
                </a:r>
              </a:p>
              <a:p>
                <a:pPr marL="1081088" indent="-457200">
                  <a:spcAft>
                    <a:spcPts val="600"/>
                  </a:spcAft>
                </a:pPr>
                <a:r>
                  <a:rPr lang="en-US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1+2+⋯+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SG" sz="2400" dirty="0"/>
              </a:p>
              <a:p>
                <a:pPr marL="1081088" indent="-457200">
                  <a:spcAft>
                    <a:spcPts val="600"/>
                  </a:spcAft>
                </a:pPr>
                <a:r>
                  <a:rPr lang="en-SG" sz="2400" dirty="0"/>
                  <a:t>2.	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SG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SG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SG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SG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SG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0066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(by inductive hypothesis)</a:t>
                </a:r>
              </a:p>
              <a:p>
                <a:pPr marL="1081088" indent="-457200">
                  <a:spcAft>
                    <a:spcPts val="600"/>
                  </a:spcAft>
                </a:pPr>
                <a:r>
                  <a:rPr lang="en-SG" sz="2400" dirty="0"/>
                  <a:t>3.	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SG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+2(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SG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SG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SG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0066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(by basic algebra)</a:t>
                </a:r>
              </a:p>
              <a:p>
                <a:pPr marL="1081088" indent="-457200">
                  <a:spcAft>
                    <a:spcPts val="600"/>
                  </a:spcAft>
                </a:pPr>
                <a:r>
                  <a:rPr lang="en-SG" sz="2400" dirty="0"/>
                  <a:t>4.	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SG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SG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SG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SG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SG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081088" indent="-457200">
                  <a:spcAft>
                    <a:spcPts val="600"/>
                  </a:spcAft>
                </a:pPr>
                <a:r>
                  <a:rPr lang="en-SG" sz="2400" dirty="0"/>
                  <a:t>5.	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Since (4) is a tautology, (1) must be true.</a:t>
                </a:r>
                <a:endParaRPr lang="en-SG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B34ABC-36AD-8C5C-76C5-2739E4C33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74" y="2629687"/>
                <a:ext cx="9969190" cy="3409395"/>
              </a:xfrm>
              <a:prstGeom prst="rect">
                <a:avLst/>
              </a:prstGeom>
              <a:blipFill>
                <a:blip r:embed="rId3"/>
                <a:stretch>
                  <a:fillRect l="-979" t="-1429" b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BC8380F-76FB-EECB-8AF5-A264DAF090AD}"/>
              </a:ext>
            </a:extLst>
          </p:cNvPr>
          <p:cNvSpPr txBox="1"/>
          <p:nvPr/>
        </p:nvSpPr>
        <p:spPr>
          <a:xfrm>
            <a:off x="7322127" y="2168786"/>
            <a:ext cx="4447309" cy="83099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rgbClr val="006600"/>
                </a:solidFill>
              </a:rPr>
              <a:t>P(k) is a predicate, not a function!</a:t>
            </a:r>
          </a:p>
          <a:p>
            <a:r>
              <a:rPr lang="en-SG" sz="2400" dirty="0">
                <a:solidFill>
                  <a:srgbClr val="006600"/>
                </a:solidFill>
              </a:rPr>
              <a:t>P(k) is always either true or false.</a:t>
            </a:r>
            <a:endParaRPr lang="en-GB" sz="2400" dirty="0">
              <a:solidFill>
                <a:srgbClr val="0066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661D6-915C-A97F-D5BB-B152F91FE0AE}"/>
              </a:ext>
            </a:extLst>
          </p:cNvPr>
          <p:cNvSpPr txBox="1"/>
          <p:nvPr/>
        </p:nvSpPr>
        <p:spPr>
          <a:xfrm>
            <a:off x="7225146" y="5515207"/>
            <a:ext cx="4447309" cy="83099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rgbClr val="006600"/>
                </a:solidFill>
              </a:rPr>
              <a:t>Show P(k) </a:t>
            </a:r>
            <a:r>
              <a:rPr lang="en-SG" sz="2400" dirty="0">
                <a:solidFill>
                  <a:srgbClr val="006600"/>
                </a:solidFill>
                <a:sym typeface="Wingdings" panose="05000000000000000000" pitchFamily="2" charset="2"/>
              </a:rPr>
              <a:t> P(k+1). This is really proving the other way round.</a:t>
            </a:r>
            <a:endParaRPr lang="en-GB" sz="2400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33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Q1.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6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00056-74A3-4D6F-9670-82BCCD03C19B}"/>
              </a:ext>
            </a:extLst>
          </p:cNvPr>
          <p:cNvSpPr txBox="1"/>
          <p:nvPr/>
        </p:nvSpPr>
        <p:spPr>
          <a:xfrm>
            <a:off x="1286411" y="413205"/>
            <a:ext cx="4125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99"/>
                </a:solidFill>
                <a:ea typeface="Cambria Math" panose="02040503050406030204" pitchFamily="18" charset="0"/>
              </a:rPr>
              <a:t>Common mistakes</a:t>
            </a:r>
            <a:endParaRPr lang="en-US" sz="2800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721AE0-7FD8-2E6E-1E53-436014ED5A14}"/>
                  </a:ext>
                </a:extLst>
              </p:cNvPr>
              <p:cNvSpPr txBox="1"/>
              <p:nvPr/>
            </p:nvSpPr>
            <p:spPr>
              <a:xfrm>
                <a:off x="973874" y="1231222"/>
                <a:ext cx="99691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23888" indent="-623888">
                  <a:spcAft>
                    <a:spcPts val="600"/>
                  </a:spcAft>
                </a:pPr>
                <a:r>
                  <a:rPr lang="en-SG" sz="2400" dirty="0"/>
                  <a:t>(c)	</a:t>
                </a:r>
                <a:r>
                  <a:rPr lang="en-US" sz="2400" dirty="0"/>
                  <a:t>Inductive hypothesis: Assume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true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  <a:endParaRPr lang="en-SG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721AE0-7FD8-2E6E-1E53-436014ED5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74" y="1231222"/>
                <a:ext cx="9969190" cy="461665"/>
              </a:xfrm>
              <a:prstGeom prst="rect">
                <a:avLst/>
              </a:prstGeom>
              <a:blipFill>
                <a:blip r:embed="rId2"/>
                <a:stretch>
                  <a:fillRect l="-97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EDD307C-FB19-F7A0-5192-E1694ABF3892}"/>
              </a:ext>
            </a:extLst>
          </p:cNvPr>
          <p:cNvSpPr txBox="1"/>
          <p:nvPr/>
        </p:nvSpPr>
        <p:spPr>
          <a:xfrm>
            <a:off x="973874" y="1987684"/>
            <a:ext cx="6438308" cy="83099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rgbClr val="006600"/>
                </a:solidFill>
              </a:rPr>
              <a:t>You have basically just assumed the solution.</a:t>
            </a:r>
          </a:p>
          <a:p>
            <a:r>
              <a:rPr lang="en-SG" sz="2400" dirty="0">
                <a:solidFill>
                  <a:srgbClr val="006600"/>
                </a:solidFill>
              </a:rPr>
              <a:t>What’s left to prove?</a:t>
            </a:r>
            <a:endParaRPr lang="en-GB" sz="2400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58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Q2.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7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1273411" y="348138"/>
                <a:ext cx="9619178" cy="730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Prove:  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+1)(2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800" dirty="0">
                    <a:solidFill>
                      <a:srgbClr val="000099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411" y="348138"/>
                <a:ext cx="9619178" cy="730713"/>
              </a:xfrm>
              <a:prstGeom prst="rect">
                <a:avLst/>
              </a:prstGeom>
              <a:blipFill>
                <a:blip r:embed="rId2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8055" y="1534738"/>
                <a:ext cx="9786611" cy="528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en-US" sz="2000" dirty="0"/>
                  <a:t>1.	</a:t>
                </a:r>
                <a:r>
                  <a:rPr lang="en-US" sz="2000" dirty="0">
                    <a:solidFill>
                      <a:srgbClr val="0000FF"/>
                    </a:solidFill>
                  </a:rPr>
                  <a:t>(Define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</a:rPr>
                  <a:t>) </a:t>
                </a:r>
                <a:r>
                  <a:rPr lang="en-SG" sz="2000" dirty="0"/>
                  <a:t>For each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SG" sz="2000" dirty="0"/>
                  <a:t>, let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SG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m:rPr>
                        <m:nor/>
                      </m:rPr>
                      <a:rPr lang="en-SG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SG" sz="2000" dirty="0"/>
                      <m:t>be</m:t>
                    </m:r>
                    <m:r>
                      <m:rPr>
                        <m:nor/>
                      </m:rPr>
                      <a:rPr lang="en-SG" sz="2000" dirty="0"/>
                      <m:t> “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m:rPr>
                        <m:nor/>
                      </m:rPr>
                      <a:rPr lang="en-SG" sz="2000" dirty="0"/>
                      <m:t>”.</m:t>
                    </m:r>
                  </m:oMath>
                </a14:m>
                <a:endParaRPr lang="en-SG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5" y="1534738"/>
                <a:ext cx="9786611" cy="528863"/>
              </a:xfrm>
              <a:prstGeom prst="rect">
                <a:avLst/>
              </a:prstGeom>
              <a:blipFill>
                <a:blip r:embed="rId3"/>
                <a:stretch>
                  <a:fillRect l="-623" b="-804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48056" y="2089592"/>
                <a:ext cx="4498848" cy="11444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tabLst>
                    <a:tab pos="357188" algn="l"/>
                  </a:tabLst>
                </a:pPr>
                <a:r>
                  <a:rPr lang="en-US" sz="2000" dirty="0"/>
                  <a:t>2.	</a:t>
                </a:r>
                <a:r>
                  <a:rPr lang="en-US" sz="2000" dirty="0">
                    <a:solidFill>
                      <a:srgbClr val="0000FF"/>
                    </a:solidFill>
                  </a:rPr>
                  <a:t>(Basis step)</a:t>
                </a:r>
              </a:p>
              <a:p>
                <a:pPr marL="357188" indent="-357188">
                  <a:tabLst>
                    <a:tab pos="357188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+1)(2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SG" sz="2000" dirty="0"/>
              </a:p>
              <a:p>
                <a:pPr marL="357188" indent="-357188">
                  <a:tabLst>
                    <a:tab pos="357188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(1) </m:t>
                    </m:r>
                  </m:oMath>
                </a14:m>
                <a:r>
                  <a:rPr lang="en-US" sz="2000" dirty="0"/>
                  <a:t>is true. 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2089592"/>
                <a:ext cx="4498848" cy="1144416"/>
              </a:xfrm>
              <a:prstGeom prst="rect">
                <a:avLst/>
              </a:prstGeom>
              <a:blipFill>
                <a:blip r:embed="rId4"/>
                <a:stretch>
                  <a:fillRect l="-1491" t="-3191" b="-85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48056" y="3299291"/>
                <a:ext cx="5379559" cy="1452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tabLst>
                    <a:tab pos="357188" algn="l"/>
                  </a:tabLst>
                </a:pPr>
                <a:r>
                  <a:rPr lang="en-US" sz="2000" dirty="0"/>
                  <a:t>3.	</a:t>
                </a:r>
                <a:r>
                  <a:rPr lang="en-US" sz="2000" dirty="0">
                    <a:solidFill>
                      <a:srgbClr val="0000FF"/>
                    </a:solidFill>
                  </a:rPr>
                  <a:t>(Inductive step)</a:t>
                </a:r>
              </a:p>
              <a:p>
                <a:pPr marL="804863" indent="-447675">
                  <a:tabLst>
                    <a:tab pos="804863" algn="l"/>
                  </a:tabLst>
                </a:pPr>
                <a:r>
                  <a:rPr lang="en-US" sz="2000" dirty="0"/>
                  <a:t>3.1	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is true, i.e.</a:t>
                </a:r>
              </a:p>
              <a:p>
                <a:pPr marL="804863" indent="-447675">
                  <a:tabLst>
                    <a:tab pos="804863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804863" indent="-447675">
                  <a:tabLst>
                    <a:tab pos="804863" algn="l"/>
                  </a:tabLst>
                </a:pPr>
                <a:r>
                  <a:rPr lang="en-US" sz="2000" dirty="0"/>
                  <a:t>	</a:t>
                </a:r>
                <a:r>
                  <a:rPr lang="en-US" dirty="0"/>
                  <a:t>(This is called the </a:t>
                </a:r>
                <a:r>
                  <a:rPr lang="en-US" dirty="0">
                    <a:solidFill>
                      <a:srgbClr val="C00000"/>
                    </a:solidFill>
                  </a:rPr>
                  <a:t>inductive hypothesis</a:t>
                </a:r>
                <a:r>
                  <a:rPr lang="en-US" dirty="0"/>
                  <a:t>.) 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3299291"/>
                <a:ext cx="5379559" cy="1452192"/>
              </a:xfrm>
              <a:prstGeom prst="rect">
                <a:avLst/>
              </a:prstGeom>
              <a:blipFill>
                <a:blip r:embed="rId5"/>
                <a:stretch>
                  <a:fillRect l="-1247" t="-2101" b="-5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5727031" y="2786876"/>
            <a:ext cx="0" cy="35746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673889" y="2661800"/>
                <a:ext cx="6341648" cy="2928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4863" indent="-447675">
                  <a:tabLst>
                    <a:tab pos="804863" algn="l"/>
                  </a:tabLst>
                </a:pPr>
                <a:r>
                  <a:rPr lang="en-US" sz="2000" dirty="0"/>
                  <a:t>3.2	Then</a:t>
                </a:r>
              </a:p>
              <a:p>
                <a:pPr marL="804863" indent="-447675">
                  <a:spcAft>
                    <a:spcPts val="400"/>
                  </a:spcAft>
                  <a:tabLst>
                    <a:tab pos="804863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	</a:t>
                </a:r>
              </a:p>
              <a:p>
                <a:pPr marL="804863" indent="-447675">
                  <a:spcAft>
                    <a:spcPts val="400"/>
                  </a:spcAft>
                  <a:tabLst>
                    <a:tab pos="804863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sz="1600" dirty="0">
                    <a:solidFill>
                      <a:srgbClr val="006600"/>
                    </a:solidFill>
                  </a:rPr>
                  <a:t>(by inductive hypothesis)</a:t>
                </a:r>
              </a:p>
              <a:p>
                <a:pPr marL="804863" indent="-447675">
                  <a:spcAft>
                    <a:spcPts val="400"/>
                  </a:spcAft>
                  <a:tabLst>
                    <a:tab pos="804863" algn="l"/>
                  </a:tabLst>
                </a:pPr>
                <a:r>
                  <a:rPr lang="en-US" sz="1600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+6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rgbClr val="006600"/>
                  </a:solidFill>
                </a:endParaRPr>
              </a:p>
              <a:p>
                <a:pPr marL="804863" indent="-447675">
                  <a:spcAft>
                    <a:spcPts val="400"/>
                  </a:spcAft>
                  <a:tabLst>
                    <a:tab pos="804863" algn="l"/>
                  </a:tabLst>
                </a:pPr>
                <a:r>
                  <a:rPr lang="en-US" sz="1600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+7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+6</m:t>
                        </m:r>
                      </m:e>
                    </m:d>
                  </m:oMath>
                </a14:m>
                <a:endParaRPr lang="en-US" dirty="0">
                  <a:solidFill>
                    <a:srgbClr val="006600"/>
                  </a:solidFill>
                </a:endParaRPr>
              </a:p>
              <a:p>
                <a:pPr marL="804863" indent="-447675">
                  <a:spcAft>
                    <a:spcPts val="400"/>
                  </a:spcAft>
                  <a:tabLst>
                    <a:tab pos="804863" algn="l"/>
                  </a:tabLst>
                </a:pPr>
                <a:r>
                  <a:rPr lang="en-US" sz="1600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+2)(2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+3)</m:t>
                    </m:r>
                  </m:oMath>
                </a14:m>
                <a:endParaRPr lang="en-US" dirty="0">
                  <a:solidFill>
                    <a:srgbClr val="006600"/>
                  </a:solidFill>
                </a:endParaRPr>
              </a:p>
              <a:p>
                <a:pPr marL="804863" indent="-447675">
                  <a:spcAft>
                    <a:spcPts val="400"/>
                  </a:spcAft>
                  <a:tabLst>
                    <a:tab pos="804863" algn="l"/>
                  </a:tabLst>
                </a:pPr>
                <a:r>
                  <a:rPr lang="en-US" sz="1600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)(2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 </a:t>
                </a:r>
                <a:r>
                  <a:rPr lang="en-US" sz="1600" dirty="0">
                    <a:solidFill>
                      <a:srgbClr val="006600"/>
                    </a:solidFill>
                  </a:rPr>
                  <a:t>(basic algebra)</a:t>
                </a:r>
                <a:endParaRPr lang="en-US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889" y="2661800"/>
                <a:ext cx="6341648" cy="2928687"/>
              </a:xfrm>
              <a:prstGeom prst="rect">
                <a:avLst/>
              </a:prstGeom>
              <a:blipFill>
                <a:blip r:embed="rId6"/>
                <a:stretch>
                  <a:fillRect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673889" y="5503102"/>
                <a:ext cx="43982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4863" indent="-447675">
                  <a:tabLst>
                    <a:tab pos="804863" algn="l"/>
                  </a:tabLst>
                </a:pPr>
                <a:r>
                  <a:rPr lang="en-US" sz="2000" dirty="0"/>
                  <a:t>3.3	Therefore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000" dirty="0"/>
                  <a:t> is true.</a:t>
                </a:r>
                <a:endParaRPr lang="en-US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889" y="5503102"/>
                <a:ext cx="4398264" cy="400110"/>
              </a:xfrm>
              <a:prstGeom prst="rect">
                <a:avLst/>
              </a:prstGeom>
              <a:blipFill>
                <a:blip r:embed="rId7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727031" y="5954258"/>
                <a:ext cx="46525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5113" algn="l"/>
                  </a:tabLst>
                </a:pPr>
                <a:r>
                  <a:rPr lang="en-US" sz="2000" dirty="0"/>
                  <a:t>4.	Hence,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true by MI.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031" y="5954258"/>
                <a:ext cx="4652574" cy="400110"/>
              </a:xfrm>
              <a:prstGeom prst="rect">
                <a:avLst/>
              </a:prstGeom>
              <a:blipFill>
                <a:blip r:embed="rId8"/>
                <a:stretch>
                  <a:fillRect l="-1309" t="-9231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116074" y="2164409"/>
                <a:ext cx="3802630" cy="369332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(Aim: to show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/>
                  <a:t> is true.)</a:t>
                </a:r>
                <a:endParaRPr lang="en-SG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074" y="2164409"/>
                <a:ext cx="3802630" cy="369332"/>
              </a:xfrm>
              <a:prstGeom prst="rect">
                <a:avLst/>
              </a:prstGeom>
              <a:blipFill>
                <a:blip r:embed="rId9"/>
                <a:stretch>
                  <a:fillRect l="-1118" t="-6349" b="-2222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24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  <p:bldP spid="24" grpId="0"/>
      <p:bldP spid="25" grpId="0"/>
      <p:bldP spid="26" grpId="0"/>
      <p:bldP spid="28" grpId="0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Q3.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8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1379979" y="413205"/>
                <a:ext cx="84890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≥−1</m:t>
                        </m:r>
                      </m:sub>
                    </m:sSub>
                  </m:oMath>
                </a14:m>
                <a:r>
                  <a:rPr lang="en-US" sz="2800" b="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. Prove: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1+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𝑛𝑥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(1+</m:t>
                        </m:r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979" y="413205"/>
                <a:ext cx="8489001" cy="523220"/>
              </a:xfrm>
              <a:prstGeom prst="rect">
                <a:avLst/>
              </a:prstGeom>
              <a:blipFill>
                <a:blip r:embed="rId2"/>
                <a:stretch>
                  <a:fillRect l="-1436" t="-11628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25631" y="1045641"/>
                <a:ext cx="796328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en-US" sz="2200" dirty="0"/>
                  <a:t>1.	</a:t>
                </a:r>
                <a:r>
                  <a:rPr lang="en-US" sz="2200" dirty="0">
                    <a:solidFill>
                      <a:srgbClr val="0000FF"/>
                    </a:solidFill>
                  </a:rPr>
                  <a:t>(Define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2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0000FF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SG" sz="2200" dirty="0"/>
                  <a:t>, let </a:t>
                </a:r>
                <a14:m>
                  <m:oMath xmlns:m="http://schemas.openxmlformats.org/officeDocument/2006/math">
                    <m:r>
                      <a:rPr lang="en-SG" sz="22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SG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2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m:rPr>
                        <m:nor/>
                      </m:rPr>
                      <a:rPr lang="en-US" sz="2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SG" sz="2200" dirty="0"/>
                      <m:t>be</m:t>
                    </m:r>
                    <m:r>
                      <m:rPr>
                        <m:nor/>
                      </m:rPr>
                      <a:rPr lang="en-SG" sz="2200" dirty="0"/>
                      <m:t> “</m:t>
                    </m:r>
                    <m:d>
                      <m:d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𝑛𝑥</m:t>
                        </m:r>
                        <m: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p>
                          <m:sSup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m:rPr>
                        <m:nor/>
                      </m:rPr>
                      <a:rPr lang="en-SG" sz="2200" dirty="0"/>
                      <m:t>”</m:t>
                    </m:r>
                  </m:oMath>
                </a14:m>
                <a:r>
                  <a:rPr lang="en-SG" sz="22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1" y="1045641"/>
                <a:ext cx="7963285" cy="430887"/>
              </a:xfrm>
              <a:prstGeom prst="rect">
                <a:avLst/>
              </a:prstGeom>
              <a:blipFill>
                <a:blip r:embed="rId3"/>
                <a:stretch>
                  <a:fillRect l="-995" t="-10000" b="-285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125632" y="1512431"/>
                <a:ext cx="4970368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tabLst>
                    <a:tab pos="357188" algn="l"/>
                  </a:tabLst>
                </a:pPr>
                <a:r>
                  <a:rPr lang="en-US" sz="2200" dirty="0"/>
                  <a:t>2.	</a:t>
                </a:r>
                <a:r>
                  <a:rPr lang="en-US" sz="2200" dirty="0">
                    <a:solidFill>
                      <a:srgbClr val="0000FF"/>
                    </a:solidFill>
                  </a:rPr>
                  <a:t>(Basis step)</a:t>
                </a:r>
              </a:p>
              <a:p>
                <a:pPr marL="357188" indent="-357188">
                  <a:tabLst>
                    <a:tab pos="357188" algn="l"/>
                  </a:tabLst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marL="357188" indent="-357188">
                  <a:tabLst>
                    <a:tab pos="357188" algn="l"/>
                  </a:tabLst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(1) </m:t>
                    </m:r>
                  </m:oMath>
                </a14:m>
                <a:r>
                  <a:rPr lang="en-US" sz="2200" dirty="0"/>
                  <a:t>is true. 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2" y="1512431"/>
                <a:ext cx="4970368" cy="1107996"/>
              </a:xfrm>
              <a:prstGeom prst="rect">
                <a:avLst/>
              </a:prstGeom>
              <a:blipFill>
                <a:blip r:embed="rId4"/>
                <a:stretch>
                  <a:fillRect l="-1595" t="-3846" b="-1044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125632" y="2634301"/>
                <a:ext cx="9637848" cy="775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tabLst>
                    <a:tab pos="357188" algn="l"/>
                  </a:tabLst>
                </a:pPr>
                <a:r>
                  <a:rPr lang="en-US" sz="2200" dirty="0"/>
                  <a:t>3.	</a:t>
                </a:r>
                <a:r>
                  <a:rPr lang="en-US" sz="2200" dirty="0">
                    <a:solidFill>
                      <a:srgbClr val="0000FF"/>
                    </a:solidFill>
                  </a:rPr>
                  <a:t>(Inductive step)</a:t>
                </a:r>
              </a:p>
              <a:p>
                <a:pPr marL="804863" indent="-447675">
                  <a:tabLst>
                    <a:tab pos="804863" algn="l"/>
                  </a:tabLst>
                </a:pPr>
                <a:r>
                  <a:rPr lang="en-US" sz="2200" dirty="0"/>
                  <a:t>3.1	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s.t.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is true, i.e.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(1+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200" dirty="0"/>
                  <a:t> </a:t>
                </a:r>
                <a:r>
                  <a:rPr lang="en-US" sz="2200" dirty="0">
                    <a:solidFill>
                      <a:srgbClr val="C00000"/>
                    </a:solidFill>
                  </a:rPr>
                  <a:t>(inductive hypothesis) 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2" y="2634301"/>
                <a:ext cx="9637848" cy="775533"/>
              </a:xfrm>
              <a:prstGeom prst="rect">
                <a:avLst/>
              </a:prstGeom>
              <a:blipFill>
                <a:blip r:embed="rId5"/>
                <a:stretch>
                  <a:fillRect l="-822" t="-5512" b="-15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125631" y="3841852"/>
                <a:ext cx="10528655" cy="1555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4863" indent="-447675">
                  <a:tabLst>
                    <a:tab pos="804863" algn="l"/>
                  </a:tabLst>
                </a:pPr>
                <a:r>
                  <a:rPr lang="en-US" sz="2200" dirty="0"/>
                  <a:t>3.2	Then</a:t>
                </a:r>
              </a:p>
              <a:p>
                <a:pPr marL="804863" indent="-447675">
                  <a:spcAft>
                    <a:spcPts val="400"/>
                  </a:spcAft>
                  <a:tabLst>
                    <a:tab pos="804863" algn="l"/>
                    <a:tab pos="6819900" algn="l"/>
                  </a:tabLst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(1+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(1+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)≥(1+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)(1+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	</a:t>
                </a:r>
                <a:r>
                  <a:rPr lang="en-US" sz="2200" dirty="0">
                    <a:solidFill>
                      <a:srgbClr val="003300"/>
                    </a:solidFill>
                  </a:rPr>
                  <a:t>(</a:t>
                </a:r>
                <a:r>
                  <a:rPr lang="en-US" sz="2200" dirty="0">
                    <a:solidFill>
                      <a:srgbClr val="006600"/>
                    </a:solidFill>
                  </a:rPr>
                  <a:t>by the  inductive hypothesis</a:t>
                </a:r>
                <a:r>
                  <a:rPr lang="en-US" sz="2200" dirty="0">
                    <a:solidFill>
                      <a:srgbClr val="003300"/>
                    </a:solidFill>
                  </a:rPr>
                  <a:t>, </a:t>
                </a:r>
              </a:p>
              <a:p>
                <a:pPr marL="804863" indent="-447675">
                  <a:spcAft>
                    <a:spcPts val="400"/>
                  </a:spcAft>
                  <a:tabLst>
                    <a:tab pos="804863" algn="l"/>
                    <a:tab pos="6819900" algn="l"/>
                  </a:tabLst>
                </a:pPr>
                <a:r>
                  <a:rPr lang="en-US" sz="2200" dirty="0">
                    <a:solidFill>
                      <a:srgbClr val="003300"/>
                    </a:solidFill>
                  </a:rPr>
                  <a:t>		as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3300"/>
                        </a:solidFill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sz="2200" i="1" dirty="0" smtClean="0">
                        <a:solidFill>
                          <a:srgbClr val="0033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solidFill>
                          <a:srgbClr val="00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200" b="0" i="1" dirty="0" smtClean="0">
                        <a:solidFill>
                          <a:srgbClr val="00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00" dirty="0">
                    <a:solidFill>
                      <a:srgbClr val="003300"/>
                    </a:solidFill>
                  </a:rPr>
                  <a:t>)</a:t>
                </a:r>
              </a:p>
              <a:p>
                <a:pPr marL="804863" indent="-447675">
                  <a:spcAft>
                    <a:spcPts val="400"/>
                  </a:spcAft>
                  <a:tabLst>
                    <a:tab pos="804863" algn="l"/>
                  </a:tabLst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solidFill>
                      <a:srgbClr val="006600"/>
                    </a:solidFill>
                  </a:rPr>
                  <a:t> </a:t>
                </a:r>
                <a:r>
                  <a:rPr lang="en-US" sz="2200" dirty="0">
                    <a:solidFill>
                      <a:srgbClr val="003300"/>
                    </a:solidFill>
                  </a:rPr>
                  <a:t>(as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33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smtClean="0">
                        <a:solidFill>
                          <a:srgbClr val="00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200" dirty="0">
                    <a:solidFill>
                      <a:srgbClr val="003300"/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solidFill>
                              <a:srgbClr val="0033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0033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0033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 smtClean="0">
                        <a:solidFill>
                          <a:srgbClr val="00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200" b="0" i="1" smtClean="0">
                        <a:solidFill>
                          <a:srgbClr val="00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00" dirty="0">
                    <a:solidFill>
                      <a:srgbClr val="003300"/>
                    </a:solidFill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srgbClr val="0033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200" dirty="0">
                    <a:solidFill>
                      <a:srgbClr val="0033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1" y="3841852"/>
                <a:ext cx="10528655" cy="1555234"/>
              </a:xfrm>
              <a:prstGeom prst="rect">
                <a:avLst/>
              </a:prstGeom>
              <a:blipFill>
                <a:blip r:embed="rId6"/>
                <a:stretch>
                  <a:fillRect t="-2745" b="-74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125632" y="5305657"/>
                <a:ext cx="439826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4863" indent="-447675">
                  <a:tabLst>
                    <a:tab pos="804863" algn="l"/>
                  </a:tabLst>
                </a:pPr>
                <a:r>
                  <a:rPr lang="en-US" sz="2200" dirty="0"/>
                  <a:t>3.3	Therefore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200" dirty="0"/>
                  <a:t> is true.</a:t>
                </a:r>
                <a:endParaRPr lang="en-US" sz="2200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2" y="5305657"/>
                <a:ext cx="4398264" cy="430887"/>
              </a:xfrm>
              <a:prstGeom prst="rect">
                <a:avLst/>
              </a:prstGeom>
              <a:blipFill>
                <a:blip r:embed="rId7"/>
                <a:stretch>
                  <a:fillRect t="-8451" b="-281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125632" y="5812359"/>
                <a:ext cx="465257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5113" algn="l"/>
                  </a:tabLst>
                </a:pPr>
                <a:r>
                  <a:rPr lang="en-US" sz="2200" dirty="0"/>
                  <a:t>4.	Hence,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is true by MI.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2" y="5812359"/>
                <a:ext cx="4652574" cy="430887"/>
              </a:xfrm>
              <a:prstGeom prst="rect">
                <a:avLst/>
              </a:prstGeom>
              <a:blipFill>
                <a:blip r:embed="rId8"/>
                <a:stretch>
                  <a:fillRect l="-1704" t="-8451" b="-281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38958" y="3459305"/>
                <a:ext cx="7042725" cy="405624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rgbClr val="FF66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5113" algn="l"/>
                  </a:tabLst>
                </a:pPr>
                <a:r>
                  <a:rPr lang="en-US" sz="2000" dirty="0"/>
                  <a:t>Aim: To show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000" dirty="0"/>
                  <a:t> is true, i.e.,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</m:t>
                    </m:r>
                    <m:d>
                      <m:d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958" y="3459305"/>
                <a:ext cx="7042725" cy="405624"/>
              </a:xfrm>
              <a:prstGeom prst="rect">
                <a:avLst/>
              </a:prstGeom>
              <a:blipFill>
                <a:blip r:embed="rId9"/>
                <a:stretch>
                  <a:fillRect l="-777" t="-4348" b="-23188"/>
                </a:stretch>
              </a:blipFill>
              <a:ln>
                <a:solidFill>
                  <a:srgbClr val="FF6600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51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  <p:bldP spid="24" grpId="0"/>
      <p:bldP spid="25" grpId="0"/>
      <p:bldP spid="26" grpId="0"/>
      <p:bldP spid="28" grpId="0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Q4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9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1379979" y="348918"/>
                <a:ext cx="9105804" cy="562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 b="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 be an odd integer. Prove: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| (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−1).</m:t>
                    </m:r>
                  </m:oMath>
                </a14:m>
                <a:endParaRPr lang="en-US" sz="2800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979" y="348918"/>
                <a:ext cx="9105804" cy="562655"/>
              </a:xfrm>
              <a:prstGeom prst="rect">
                <a:avLst/>
              </a:prstGeom>
              <a:blipFill>
                <a:blip r:embed="rId2"/>
                <a:stretch>
                  <a:fillRect l="-1339" t="-3226" b="-2903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76222" y="1237316"/>
                <a:ext cx="6741897" cy="428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en-US" sz="2000" dirty="0"/>
                  <a:t>2.	</a:t>
                </a:r>
                <a:r>
                  <a:rPr lang="en-US" sz="2000" dirty="0">
                    <a:solidFill>
                      <a:srgbClr val="0000FF"/>
                    </a:solidFill>
                  </a:rPr>
                  <a:t>(Define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SG" sz="2000" dirty="0"/>
                  <a:t>, let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SG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SG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| (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endParaRPr lang="en-SG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22" y="1237316"/>
                <a:ext cx="6741897" cy="428451"/>
              </a:xfrm>
              <a:prstGeom prst="rect">
                <a:avLst/>
              </a:prstGeom>
              <a:blipFill>
                <a:blip r:embed="rId3"/>
                <a:stretch>
                  <a:fillRect l="-995" t="-1429" b="-257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076222" y="1603879"/>
                <a:ext cx="9667978" cy="1057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tabLst>
                    <a:tab pos="357188" algn="l"/>
                  </a:tabLst>
                </a:pPr>
                <a:r>
                  <a:rPr lang="en-US" sz="2000" dirty="0"/>
                  <a:t>3.	</a:t>
                </a:r>
                <a:r>
                  <a:rPr lang="en-US" sz="2000" dirty="0">
                    <a:solidFill>
                      <a:srgbClr val="0000FF"/>
                    </a:solidFill>
                  </a:rPr>
                  <a:t>(Basis step)</a:t>
                </a:r>
              </a:p>
              <a:p>
                <a:pPr marL="804863" indent="-447675">
                  <a:tabLst>
                    <a:tab pos="804863" algn="l"/>
                    <a:tab pos="1700213" algn="l"/>
                  </a:tabLst>
                </a:pPr>
                <a:r>
                  <a:rPr lang="en-US" sz="2000" dirty="0"/>
                  <a:t>3.1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+1−1)(2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+1+1)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 (by line 1)</a:t>
                </a:r>
                <a:br>
                  <a:rPr lang="en-US" sz="2000" dirty="0">
                    <a:solidFill>
                      <a:srgbClr val="006600"/>
                    </a:solidFill>
                  </a:rPr>
                </a:b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22" y="1603879"/>
                <a:ext cx="9667978" cy="1057277"/>
              </a:xfrm>
              <a:prstGeom prst="rect">
                <a:avLst/>
              </a:prstGeom>
              <a:blipFill>
                <a:blip r:embed="rId4"/>
                <a:stretch>
                  <a:fillRect l="-694" t="-2874" b="-517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076222" y="907838"/>
                <a:ext cx="75437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en-US" sz="2000" dirty="0"/>
                  <a:t>1.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US" sz="2000" dirty="0"/>
                  <a:t>for some integer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006600"/>
                    </a:solidFill>
                  </a:rPr>
                  <a:t>(by the definition of odd integers)</a:t>
                </a:r>
                <a:endParaRPr lang="en-SG" sz="2000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22" y="907838"/>
                <a:ext cx="7543796" cy="400110"/>
              </a:xfrm>
              <a:prstGeom prst="rect">
                <a:avLst/>
              </a:prstGeom>
              <a:blipFill>
                <a:blip r:embed="rId5"/>
                <a:stretch>
                  <a:fillRect l="-889" t="-9091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076221" y="2731670"/>
                <a:ext cx="10333901" cy="1637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4863" indent="-447675">
                  <a:spcAft>
                    <a:spcPts val="600"/>
                  </a:spcAft>
                  <a:tabLst>
                    <a:tab pos="804863" algn="l"/>
                    <a:tab pos="1700213" algn="l"/>
                  </a:tabLst>
                </a:pPr>
                <a:r>
                  <a:rPr lang="en-US" sz="2000" dirty="0"/>
                  <a:t>3.2	</a:t>
                </a:r>
                <a:r>
                  <a:rPr lang="en-US" sz="2000" dirty="0">
                    <a:solidFill>
                      <a:schemeClr val="tx1"/>
                    </a:solidFill>
                  </a:rPr>
                  <a:t>Note that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even</a:t>
                </a:r>
                <a:r>
                  <a:rPr lang="en-US" sz="2000" dirty="0">
                    <a:solidFill>
                      <a:srgbClr val="0000FF"/>
                    </a:solidFill>
                  </a:rPr>
                  <a:t> </a:t>
                </a:r>
                <a:r>
                  <a:rPr lang="en-US" sz="2000" dirty="0">
                    <a:solidFill>
                      <a:srgbClr val="006600"/>
                    </a:solidFill>
                  </a:rPr>
                  <a:t>(by “the product of 2 consecutive integers is even” as given).</a:t>
                </a:r>
              </a:p>
              <a:p>
                <a:pPr marL="804863" indent="-447675">
                  <a:spcAft>
                    <a:spcPts val="600"/>
                  </a:spcAft>
                  <a:tabLst>
                    <a:tab pos="804863" algn="l"/>
                    <a:tab pos="1700213" algn="l"/>
                  </a:tabLst>
                </a:pPr>
                <a:r>
                  <a:rPr lang="en-US" sz="2000" dirty="0">
                    <a:solidFill>
                      <a:schemeClr val="tx1"/>
                    </a:solidFill>
                  </a:rPr>
                  <a:t>3.3	Then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SG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SG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for some integer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rgbClr val="006600"/>
                    </a:solidFill>
                  </a:rPr>
                  <a:t>(by the definition of even number)</a:t>
                </a:r>
              </a:p>
              <a:p>
                <a:pPr marL="804863" indent="-447675">
                  <a:spcAft>
                    <a:spcPts val="600"/>
                  </a:spcAft>
                  <a:tabLst>
                    <a:tab pos="804863" algn="l"/>
                    <a:tab pos="1700213" algn="l"/>
                  </a:tabLst>
                </a:pPr>
                <a:r>
                  <a:rPr lang="en-US" sz="2000" dirty="0">
                    <a:solidFill>
                      <a:schemeClr val="tx1"/>
                    </a:solidFill>
                  </a:rPr>
                  <a:t>3.4	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SG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SG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SG" sz="2000" b="0" dirty="0"/>
              </a:p>
              <a:p>
                <a:pPr marL="804863" indent="-447675">
                  <a:spcAft>
                    <a:spcPts val="600"/>
                  </a:spcAft>
                  <a:tabLst>
                    <a:tab pos="804863" algn="l"/>
                    <a:tab pos="1700213" algn="l"/>
                  </a:tabLst>
                </a:pPr>
                <a:r>
                  <a:rPr lang="en-US" sz="2000" dirty="0"/>
                  <a:t>3.5	 Hence,</a:t>
                </a:r>
                <a:r>
                  <a:rPr lang="en-US" sz="20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</a:rPr>
                  <a:t> </a:t>
                </a:r>
                <a:r>
                  <a:rPr lang="en-US" sz="2000" dirty="0">
                    <a:solidFill>
                      <a:srgbClr val="006600"/>
                    </a:solidFill>
                  </a:rPr>
                  <a:t>(by the definition of divisibility)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21" y="2731670"/>
                <a:ext cx="10333901" cy="1637500"/>
              </a:xfrm>
              <a:prstGeom prst="rect">
                <a:avLst/>
              </a:prstGeom>
              <a:blipFill>
                <a:blip r:embed="rId6"/>
                <a:stretch>
                  <a:fillRect t="-1859" b="-55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76222" y="4439685"/>
                <a:ext cx="96679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4863" indent="-447675">
                  <a:tabLst>
                    <a:tab pos="804863" algn="l"/>
                    <a:tab pos="1700213" algn="l"/>
                  </a:tabLst>
                </a:pPr>
                <a:r>
                  <a:rPr lang="en-US" sz="2000" dirty="0"/>
                  <a:t>3.6	Therefore,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000" dirty="0"/>
                  <a:t> is true. 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22" y="4439685"/>
                <a:ext cx="9667978" cy="400110"/>
              </a:xfrm>
              <a:prstGeom prst="rect">
                <a:avLst/>
              </a:prstGeom>
              <a:blipFill>
                <a:blip r:embed="rId7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5F9A4C-2F02-4B32-A51A-705307A8E898}"/>
                  </a:ext>
                </a:extLst>
              </p:cNvPr>
              <p:cNvSpPr txBox="1"/>
              <p:nvPr/>
            </p:nvSpPr>
            <p:spPr>
              <a:xfrm>
                <a:off x="8835993" y="6233419"/>
                <a:ext cx="3070458" cy="369332"/>
              </a:xfrm>
              <a:prstGeom prst="rect">
                <a:avLst/>
              </a:prstGeom>
              <a:solidFill>
                <a:srgbClr val="FFCCCC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⇔   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5F9A4C-2F02-4B32-A51A-705307A8E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5993" y="6233419"/>
                <a:ext cx="307045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D6C1E09-2E7C-4C55-96B9-7BEE559654B4}"/>
              </a:ext>
            </a:extLst>
          </p:cNvPr>
          <p:cNvSpPr txBox="1"/>
          <p:nvPr/>
        </p:nvSpPr>
        <p:spPr>
          <a:xfrm>
            <a:off x="9750287" y="911573"/>
            <a:ext cx="2156164" cy="1015663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Fact.  </a:t>
            </a:r>
            <a:r>
              <a:rPr lang="en-US" sz="2000" dirty="0"/>
              <a:t>The product of two consecutive integers is even.</a:t>
            </a:r>
            <a:endParaRPr lang="en-SG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95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  <p:bldP spid="16" grpId="0"/>
      <p:bldP spid="14" grpId="0" build="p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Q4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10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1379979" y="348918"/>
                <a:ext cx="9105804" cy="562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 b="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 be an odd integer. Prove: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| (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009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−1).</m:t>
                    </m:r>
                  </m:oMath>
                </a14:m>
                <a:endParaRPr lang="en-US" sz="2800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979" y="348918"/>
                <a:ext cx="9105804" cy="562655"/>
              </a:xfrm>
              <a:prstGeom prst="rect">
                <a:avLst/>
              </a:prstGeom>
              <a:blipFill>
                <a:blip r:embed="rId2"/>
                <a:stretch>
                  <a:fillRect l="-1339" t="-3226" b="-2903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76222" y="1237316"/>
                <a:ext cx="6741897" cy="428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en-US" sz="2000" dirty="0"/>
                  <a:t>2.	(</a:t>
                </a:r>
                <a:r>
                  <a:rPr lang="en-US" sz="2000" dirty="0">
                    <a:solidFill>
                      <a:srgbClr val="0000FF"/>
                    </a:solidFill>
                  </a:rPr>
                  <a:t>Define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SG" sz="2000" dirty="0"/>
                  <a:t>, let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SG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SG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| (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endParaRPr lang="en-SG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22" y="1237316"/>
                <a:ext cx="6741897" cy="428451"/>
              </a:xfrm>
              <a:prstGeom prst="rect">
                <a:avLst/>
              </a:prstGeom>
              <a:blipFill>
                <a:blip r:embed="rId3"/>
                <a:stretch>
                  <a:fillRect l="-995" t="-1429" b="-257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076222" y="2180414"/>
                <a:ext cx="10536658" cy="33961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tabLst>
                    <a:tab pos="357188" algn="l"/>
                  </a:tabLst>
                </a:pPr>
                <a:r>
                  <a:rPr lang="en-US" sz="2000" dirty="0"/>
                  <a:t>4.	</a:t>
                </a:r>
                <a:r>
                  <a:rPr lang="en-US" sz="2000" dirty="0">
                    <a:solidFill>
                      <a:srgbClr val="0000FF"/>
                    </a:solidFill>
                  </a:rPr>
                  <a:t>(Inductive step)</a:t>
                </a:r>
              </a:p>
              <a:p>
                <a:pPr marL="804863" indent="-447675">
                  <a:spcAft>
                    <a:spcPts val="600"/>
                  </a:spcAft>
                  <a:tabLst>
                    <a:tab pos="804863" algn="l"/>
                    <a:tab pos="1700213" algn="l"/>
                  </a:tabLst>
                </a:pPr>
                <a:r>
                  <a:rPr lang="en-US" sz="2000" dirty="0"/>
                  <a:t>4.1	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true,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| (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804863" indent="-447675">
                  <a:spcAft>
                    <a:spcPts val="600"/>
                  </a:spcAft>
                  <a:tabLst>
                    <a:tab pos="804863" algn="l"/>
                    <a:tab pos="1700213" algn="l"/>
                  </a:tabLst>
                </a:pPr>
                <a:r>
                  <a:rPr lang="en-US" sz="2000" dirty="0"/>
                  <a:t>4.2	Then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for some integer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(by </a:t>
                </a:r>
                <a:r>
                  <a:rPr lang="en-US" dirty="0" err="1">
                    <a:solidFill>
                      <a:srgbClr val="006600"/>
                    </a:solidFill>
                  </a:rPr>
                  <a:t>defn</a:t>
                </a:r>
                <a:r>
                  <a:rPr lang="en-US" dirty="0">
                    <a:solidFill>
                      <a:srgbClr val="006600"/>
                    </a:solidFill>
                  </a:rPr>
                  <a:t> of divisibility)  </a:t>
                </a:r>
                <a:r>
                  <a:rPr lang="en-US" dirty="0">
                    <a:solidFill>
                      <a:srgbClr val="C00000"/>
                    </a:solidFill>
                  </a:rPr>
                  <a:t>– inductive hypothesis</a:t>
                </a:r>
              </a:p>
              <a:p>
                <a:pPr marL="804863" indent="-447675">
                  <a:spcAft>
                    <a:spcPts val="600"/>
                  </a:spcAft>
                  <a:tabLst>
                    <a:tab pos="804863" algn="l"/>
                    <a:tab pos="1700213" algn="l"/>
                    <a:tab pos="1884363" algn="l"/>
                  </a:tabLst>
                </a:pPr>
                <a:r>
                  <a:rPr lang="en-US" sz="2000" dirty="0"/>
                  <a:t>4.3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sup>
                        </m:s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sup>
                        </m:s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804863" indent="-447675">
                  <a:spcAft>
                    <a:spcPts val="600"/>
                  </a:spcAft>
                  <a:tabLst>
                    <a:tab pos="804863" algn="l"/>
                    <a:tab pos="1700213" algn="l"/>
                    <a:tab pos="1792288" algn="l"/>
                  </a:tabLst>
                </a:pPr>
                <a:r>
                  <a:rPr lang="en-US" dirty="0"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</m:t>
                                </m:r>
                              </m:sup>
                            </m:s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(by the inductive hypothesis)</a:t>
                </a:r>
              </a:p>
              <a:p>
                <a:pPr marL="804863" indent="-447675">
                  <a:spcAft>
                    <a:spcPts val="600"/>
                  </a:spcAft>
                  <a:tabLst>
                    <a:tab pos="804863" algn="l"/>
                    <a:tab pos="1700213" algn="l"/>
                    <a:tab pos="1792288" algn="l"/>
                    <a:tab pos="7985125" algn="l"/>
                  </a:tabLst>
                </a:pPr>
                <a:r>
                  <a:rPr lang="en-US" dirty="0"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(by closure of integers 			under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)</a:t>
                </a:r>
              </a:p>
              <a:p>
                <a:pPr marL="804863" indent="-447675">
                  <a:spcAft>
                    <a:spcPts val="600"/>
                  </a:spcAft>
                  <a:tabLst>
                    <a:tab pos="804863" algn="l"/>
                    <a:tab pos="1700213" algn="l"/>
                    <a:tab pos="1884363" algn="l"/>
                  </a:tabLst>
                </a:pPr>
                <a:r>
                  <a:rPr lang="en-US" sz="2000" dirty="0"/>
                  <a:t>4.4	Then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+1)+2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 (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) and hence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+1) </m:t>
                    </m:r>
                  </m:oMath>
                </a14:m>
                <a:r>
                  <a:rPr lang="en-US" sz="2000" dirty="0"/>
                  <a:t>is true.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22" y="2180414"/>
                <a:ext cx="10536658" cy="3396123"/>
              </a:xfrm>
              <a:prstGeom prst="rect">
                <a:avLst/>
              </a:prstGeom>
              <a:blipFill>
                <a:blip r:embed="rId4"/>
                <a:stretch>
                  <a:fillRect l="-637" t="-1077" b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076222" y="907838"/>
                <a:ext cx="68703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en-US" sz="2000" dirty="0"/>
                  <a:t>1.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US" sz="2000" dirty="0"/>
                  <a:t>for some integer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dirty="0">
                    <a:solidFill>
                      <a:srgbClr val="003300"/>
                    </a:solidFill>
                  </a:rPr>
                  <a:t>(by </a:t>
                </a:r>
                <a:r>
                  <a:rPr lang="en-US" dirty="0" err="1">
                    <a:solidFill>
                      <a:srgbClr val="003300"/>
                    </a:solidFill>
                  </a:rPr>
                  <a:t>defn</a:t>
                </a:r>
                <a:r>
                  <a:rPr lang="en-US" dirty="0">
                    <a:solidFill>
                      <a:srgbClr val="003300"/>
                    </a:solidFill>
                  </a:rPr>
                  <a:t> of odd integers)</a:t>
                </a:r>
                <a:endParaRPr lang="en-SG" dirty="0">
                  <a:solidFill>
                    <a:srgbClr val="0033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22" y="907838"/>
                <a:ext cx="6870343" cy="400110"/>
              </a:xfrm>
              <a:prstGeom prst="rect">
                <a:avLst/>
              </a:prstGeom>
              <a:blipFill>
                <a:blip r:embed="rId5"/>
                <a:stretch>
                  <a:fillRect l="-976" t="-9091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6222" y="5583099"/>
                <a:ext cx="67418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en-US" sz="2000" dirty="0"/>
                  <a:t>5.	</a:t>
                </a:r>
                <a:r>
                  <a:rPr lang="en-SG" sz="2000" dirty="0"/>
                  <a:t>Hence, 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true by MI.</a:t>
                </a:r>
                <a:r>
                  <a:rPr lang="en-SG" sz="2000" dirty="0"/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22" y="5583099"/>
                <a:ext cx="6741897" cy="400110"/>
              </a:xfrm>
              <a:prstGeom prst="rect">
                <a:avLst/>
              </a:prstGeom>
              <a:blipFill>
                <a:blip r:embed="rId6"/>
                <a:stretch>
                  <a:fillRect l="-995" t="-9231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76222" y="1665767"/>
                <a:ext cx="67418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en-US" sz="2000" dirty="0"/>
                  <a:t>3.	</a:t>
                </a:r>
                <a:r>
                  <a:rPr lang="en-US" sz="2000" dirty="0">
                    <a:solidFill>
                      <a:srgbClr val="0000FF"/>
                    </a:solidFill>
                  </a:rPr>
                  <a:t>(Basis step) </a:t>
                </a:r>
                <a:r>
                  <a:rPr lang="en-US" sz="2000" dirty="0"/>
                  <a:t>…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000" dirty="0"/>
                  <a:t> is true.</a:t>
                </a:r>
                <a:endParaRPr lang="en-SG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22" y="1665767"/>
                <a:ext cx="6741897" cy="400110"/>
              </a:xfrm>
              <a:prstGeom prst="rect">
                <a:avLst/>
              </a:prstGeom>
              <a:blipFill>
                <a:blip r:embed="rId7"/>
                <a:stretch>
                  <a:fillRect l="-995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F037D0-DDD4-4891-B0A4-0FFB013A2A1C}"/>
                  </a:ext>
                </a:extLst>
              </p:cNvPr>
              <p:cNvSpPr txBox="1"/>
              <p:nvPr/>
            </p:nvSpPr>
            <p:spPr>
              <a:xfrm>
                <a:off x="8835993" y="6233419"/>
                <a:ext cx="3070458" cy="369332"/>
              </a:xfrm>
              <a:prstGeom prst="rect">
                <a:avLst/>
              </a:prstGeom>
              <a:solidFill>
                <a:srgbClr val="FFCCCC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⇔   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F037D0-DDD4-4891-B0A4-0FFB013A2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5993" y="6233419"/>
                <a:ext cx="307045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50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 bldLvl="2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FD62D-70A9-4D4D-BD8B-3D217A3454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3180" y="1248853"/>
                <a:ext cx="4514850" cy="5428074"/>
              </a:xfrm>
            </p:spPr>
            <p:txBody>
              <a:bodyPr>
                <a:normAutofit lnSpcReduction="10000"/>
              </a:bodyPr>
              <a:lstStyle/>
              <a:p>
                <a:pPr marL="45720" indent="0">
                  <a:buNone/>
                </a:pPr>
                <a:r>
                  <a:rPr lang="en-SG" sz="2800" dirty="0">
                    <a:solidFill>
                      <a:schemeClr val="tx1"/>
                    </a:solidFill>
                  </a:rPr>
                  <a:t>Possible Approach:</a:t>
                </a:r>
              </a:p>
              <a:p>
                <a:pPr marL="45720" indent="0">
                  <a:buNone/>
                </a:pPr>
                <a:r>
                  <a:rPr lang="en-SG" sz="2800" dirty="0">
                    <a:solidFill>
                      <a:schemeClr val="tx1"/>
                    </a:solidFill>
                  </a:rPr>
                  <a:t>1) Listing first few </a:t>
                </a:r>
                <a14:m>
                  <m:oMath xmlns:m="http://schemas.openxmlformats.org/officeDocument/2006/math">
                    <m:r>
                      <a:rPr lang="en-SG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SG" sz="2800" dirty="0">
                    <a:solidFill>
                      <a:schemeClr val="tx1"/>
                    </a:solidFill>
                  </a:rPr>
                  <a:t>, we have</a:t>
                </a:r>
              </a:p>
              <a:p>
                <a:pPr marL="45720" indent="0">
                  <a:buNone/>
                </a:pPr>
                <a:r>
                  <a:rPr lang="en-SG" sz="2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8 = 3(1) + 5(1)</a:t>
                </a:r>
              </a:p>
              <a:p>
                <a:pPr marL="45720" indent="0">
                  <a:buNone/>
                </a:pPr>
                <a:r>
                  <a:rPr lang="en-SG" sz="2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9 = 3(3) + 5(0)</a:t>
                </a:r>
              </a:p>
              <a:p>
                <a:pPr marL="45720" indent="0">
                  <a:buNone/>
                </a:pPr>
                <a:r>
                  <a:rPr lang="en-SG" sz="2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10 = 3(0) + 5(2)</a:t>
                </a:r>
              </a:p>
              <a:p>
                <a:pPr marL="45720" indent="0">
                  <a:buNone/>
                </a:pPr>
                <a:r>
                  <a:rPr lang="en-SG" sz="2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11 = 3(2) + 5(1)</a:t>
                </a:r>
              </a:p>
              <a:p>
                <a:pPr marL="45720" indent="0">
                  <a:buNone/>
                </a:pPr>
                <a:r>
                  <a:rPr lang="en-SG" sz="2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12 = 3(4) +5(0)</a:t>
                </a:r>
              </a:p>
              <a:p>
                <a:pPr marL="45720" indent="0">
                  <a:buNone/>
                </a:pPr>
                <a:r>
                  <a:rPr lang="en-SG" sz="2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13 = 3(1) + 5(2)</a:t>
                </a:r>
              </a:p>
              <a:p>
                <a:pPr marL="45720" indent="0">
                  <a:buNone/>
                </a:pPr>
                <a:r>
                  <a:rPr lang="en-SG" sz="2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14 = 3(3) + 5(1)</a:t>
                </a:r>
              </a:p>
              <a:p>
                <a:pPr marL="45720" indent="0">
                  <a:buNone/>
                </a:pPr>
                <a:r>
                  <a:rPr lang="en-SG" sz="2800" dirty="0">
                    <a:solidFill>
                      <a:schemeClr val="tx1"/>
                    </a:solidFill>
                  </a:rPr>
                  <a:t>…</a:t>
                </a:r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FD62D-70A9-4D4D-BD8B-3D217A345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3180" y="1248853"/>
                <a:ext cx="4514850" cy="5428074"/>
              </a:xfrm>
              <a:blipFill>
                <a:blip r:embed="rId2"/>
                <a:stretch>
                  <a:fillRect l="-1619" t="-2584" r="-20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24D65-7EC1-4392-82DC-E549F54C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F6BD0F-AC23-4E1A-84EA-D0C41E7F5EF3}"/>
              </a:ext>
            </a:extLst>
          </p:cNvPr>
          <p:cNvSpPr txBox="1">
            <a:spLocks/>
          </p:cNvSpPr>
          <p:nvPr/>
        </p:nvSpPr>
        <p:spPr>
          <a:xfrm>
            <a:off x="314662" y="226852"/>
            <a:ext cx="1318424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Q5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5A6371-2002-4649-831D-80727B2F26F0}"/>
                  </a:ext>
                </a:extLst>
              </p:cNvPr>
              <p:cNvSpPr txBox="1"/>
              <p:nvPr/>
            </p:nvSpPr>
            <p:spPr>
              <a:xfrm>
                <a:off x="1379979" y="413205"/>
                <a:ext cx="69593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∃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800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5A6371-2002-4649-831D-80727B2F2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979" y="413205"/>
                <a:ext cx="6959349" cy="523220"/>
              </a:xfrm>
              <a:prstGeom prst="rect">
                <a:avLst/>
              </a:prstGeom>
              <a:blipFill>
                <a:blip r:embed="rId3"/>
                <a:stretch>
                  <a:fillRect l="-1751" t="-11628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53AB7D01-8F7A-4716-8621-82DF087136A6}"/>
              </a:ext>
            </a:extLst>
          </p:cNvPr>
          <p:cNvGrpSpPr/>
          <p:nvPr/>
        </p:nvGrpSpPr>
        <p:grpSpPr>
          <a:xfrm>
            <a:off x="1798188" y="2348804"/>
            <a:ext cx="2073263" cy="623030"/>
            <a:chOff x="1813023" y="2300849"/>
            <a:chExt cx="2073263" cy="62303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94DDAC-7DE1-4276-BEE1-205AECA83510}"/>
                </a:ext>
              </a:extLst>
            </p:cNvPr>
            <p:cNvSpPr txBox="1"/>
            <p:nvPr/>
          </p:nvSpPr>
          <p:spPr>
            <a:xfrm>
              <a:off x="1951357" y="2463678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+2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  <p:pic>
          <p:nvPicPr>
            <p:cNvPr id="1028" name="Picture 4" descr="Curved Red Arrow Clipart Images Gallery #862800 - PNG Images - PNGio">
              <a:extLst>
                <a:ext uri="{FF2B5EF4-FFF2-40B4-BE49-F238E27FC236}">
                  <a16:creationId xmlns:a16="http://schemas.microsoft.com/office/drawing/2014/main" id="{6C7F9F85-2E11-41C8-A58F-5C071AC285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923379" flipH="1">
              <a:off x="1630187" y="2483685"/>
              <a:ext cx="608482" cy="242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0026002-479E-417B-B9B9-2E9FE6B0B7CF}"/>
                </a:ext>
              </a:extLst>
            </p:cNvPr>
            <p:cNvSpPr txBox="1"/>
            <p:nvPr/>
          </p:nvSpPr>
          <p:spPr>
            <a:xfrm>
              <a:off x="3009986" y="2458562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-1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  <p:pic>
          <p:nvPicPr>
            <p:cNvPr id="25" name="Picture 4" descr="Curved Red Arrow Clipart Images Gallery #862800 - PNG Images - PNGio">
              <a:extLst>
                <a:ext uri="{FF2B5EF4-FFF2-40B4-BE49-F238E27FC236}">
                  <a16:creationId xmlns:a16="http://schemas.microsoft.com/office/drawing/2014/main" id="{0A07D524-03B7-4B6C-8B53-7F257E1C9E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923379" flipH="1">
              <a:off x="2688816" y="2498233"/>
              <a:ext cx="608482" cy="242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08FC41D-586E-4B58-BCA8-D314D2B46A67}"/>
              </a:ext>
            </a:extLst>
          </p:cNvPr>
          <p:cNvGrpSpPr/>
          <p:nvPr/>
        </p:nvGrpSpPr>
        <p:grpSpPr>
          <a:xfrm>
            <a:off x="2006996" y="3535277"/>
            <a:ext cx="2073263" cy="623030"/>
            <a:chOff x="1813023" y="2300849"/>
            <a:chExt cx="2073263" cy="62303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1595774-3412-42B5-85C2-853BE6CC2FAE}"/>
                </a:ext>
              </a:extLst>
            </p:cNvPr>
            <p:cNvSpPr txBox="1"/>
            <p:nvPr/>
          </p:nvSpPr>
          <p:spPr>
            <a:xfrm>
              <a:off x="1951357" y="2404342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+2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  <p:pic>
          <p:nvPicPr>
            <p:cNvPr id="29" name="Picture 4" descr="Curved Red Arrow Clipart Images Gallery #862800 - PNG Images - PNGio">
              <a:extLst>
                <a:ext uri="{FF2B5EF4-FFF2-40B4-BE49-F238E27FC236}">
                  <a16:creationId xmlns:a16="http://schemas.microsoft.com/office/drawing/2014/main" id="{40B19714-F7EC-4CBE-A3BA-B973DFC8E3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923379" flipH="1">
              <a:off x="1630187" y="2483685"/>
              <a:ext cx="608482" cy="242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F0DA536-CB67-4217-9826-9A6DF928C257}"/>
                </a:ext>
              </a:extLst>
            </p:cNvPr>
            <p:cNvSpPr txBox="1"/>
            <p:nvPr/>
          </p:nvSpPr>
          <p:spPr>
            <a:xfrm>
              <a:off x="3009986" y="2458562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-1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  <p:pic>
          <p:nvPicPr>
            <p:cNvPr id="31" name="Picture 4" descr="Curved Red Arrow Clipart Images Gallery #862800 - PNG Images - PNGio">
              <a:extLst>
                <a:ext uri="{FF2B5EF4-FFF2-40B4-BE49-F238E27FC236}">
                  <a16:creationId xmlns:a16="http://schemas.microsoft.com/office/drawing/2014/main" id="{131B6257-A3A9-44E2-B091-804714A094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923379" flipH="1">
              <a:off x="2688816" y="2498233"/>
              <a:ext cx="608482" cy="242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D623A2E-CBF0-400D-A85D-B922E703A8C2}"/>
              </a:ext>
            </a:extLst>
          </p:cNvPr>
          <p:cNvGrpSpPr/>
          <p:nvPr/>
        </p:nvGrpSpPr>
        <p:grpSpPr>
          <a:xfrm>
            <a:off x="1941590" y="2959286"/>
            <a:ext cx="2073263" cy="623030"/>
            <a:chOff x="1813023" y="2300849"/>
            <a:chExt cx="2073263" cy="62303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EC10599-1234-4C14-975A-2BE966945E87}"/>
                </a:ext>
              </a:extLst>
            </p:cNvPr>
            <p:cNvSpPr txBox="1"/>
            <p:nvPr/>
          </p:nvSpPr>
          <p:spPr>
            <a:xfrm>
              <a:off x="1951357" y="2463678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0070C0"/>
                  </a:solidFill>
                </a:rPr>
                <a:t>-3</a:t>
              </a:r>
              <a:endParaRPr lang="en-GB" b="1" dirty="0">
                <a:solidFill>
                  <a:srgbClr val="0070C0"/>
                </a:solidFill>
              </a:endParaRPr>
            </a:p>
          </p:txBody>
        </p:sp>
        <p:pic>
          <p:nvPicPr>
            <p:cNvPr id="34" name="Picture 4" descr="Curved Red Arrow Clipart Images Gallery #862800 - PNG Images - PNGio">
              <a:extLst>
                <a:ext uri="{FF2B5EF4-FFF2-40B4-BE49-F238E27FC236}">
                  <a16:creationId xmlns:a16="http://schemas.microsoft.com/office/drawing/2014/main" id="{9AE31641-6A53-4C7A-96FA-FC3D7C54AC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856359" flipH="1">
              <a:off x="1630187" y="2483685"/>
              <a:ext cx="608482" cy="242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A80D547-5323-46B6-9179-089365B308AE}"/>
                </a:ext>
              </a:extLst>
            </p:cNvPr>
            <p:cNvSpPr txBox="1"/>
            <p:nvPr/>
          </p:nvSpPr>
          <p:spPr>
            <a:xfrm>
              <a:off x="3009986" y="2458562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0070C0"/>
                  </a:solidFill>
                </a:rPr>
                <a:t>+2</a:t>
              </a:r>
              <a:endParaRPr lang="en-GB" b="1" dirty="0">
                <a:solidFill>
                  <a:srgbClr val="0070C0"/>
                </a:solidFill>
              </a:endParaRPr>
            </a:p>
          </p:txBody>
        </p:sp>
        <p:pic>
          <p:nvPicPr>
            <p:cNvPr id="36" name="Picture 4" descr="Curved Red Arrow Clipart Images Gallery #862800 - PNG Images - PNGio">
              <a:extLst>
                <a:ext uri="{FF2B5EF4-FFF2-40B4-BE49-F238E27FC236}">
                  <a16:creationId xmlns:a16="http://schemas.microsoft.com/office/drawing/2014/main" id="{6C1C213A-6293-42DE-B971-7268BD2116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908915" flipH="1">
              <a:off x="2688816" y="2498233"/>
              <a:ext cx="608482" cy="242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54374F5-AD2E-4A4F-99B7-B7A231D7D554}"/>
              </a:ext>
            </a:extLst>
          </p:cNvPr>
          <p:cNvGrpSpPr/>
          <p:nvPr/>
        </p:nvGrpSpPr>
        <p:grpSpPr>
          <a:xfrm>
            <a:off x="2038010" y="4489969"/>
            <a:ext cx="2073263" cy="623030"/>
            <a:chOff x="1813023" y="2300849"/>
            <a:chExt cx="2073263" cy="62303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5A41051-F328-4174-B7F2-2968FC60DD16}"/>
                </a:ext>
              </a:extLst>
            </p:cNvPr>
            <p:cNvSpPr txBox="1"/>
            <p:nvPr/>
          </p:nvSpPr>
          <p:spPr>
            <a:xfrm>
              <a:off x="1951357" y="2463678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0070C0"/>
                  </a:solidFill>
                </a:rPr>
                <a:t>-3</a:t>
              </a:r>
              <a:endParaRPr lang="en-GB" b="1" dirty="0">
                <a:solidFill>
                  <a:srgbClr val="0070C0"/>
                </a:solidFill>
              </a:endParaRPr>
            </a:p>
          </p:txBody>
        </p:sp>
        <p:pic>
          <p:nvPicPr>
            <p:cNvPr id="39" name="Picture 4" descr="Curved Red Arrow Clipart Images Gallery #862800 - PNG Images - PNGio">
              <a:extLst>
                <a:ext uri="{FF2B5EF4-FFF2-40B4-BE49-F238E27FC236}">
                  <a16:creationId xmlns:a16="http://schemas.microsoft.com/office/drawing/2014/main" id="{B3BC1D29-668F-4D58-BB9C-C95A6F868F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670828" flipH="1">
              <a:off x="1630187" y="2483685"/>
              <a:ext cx="608482" cy="242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ADD5DC4-4639-4F12-B110-47D0364343FD}"/>
                </a:ext>
              </a:extLst>
            </p:cNvPr>
            <p:cNvSpPr txBox="1"/>
            <p:nvPr/>
          </p:nvSpPr>
          <p:spPr>
            <a:xfrm>
              <a:off x="3009986" y="2458562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0070C0"/>
                  </a:solidFill>
                </a:rPr>
                <a:t>+2</a:t>
              </a:r>
              <a:endParaRPr lang="en-GB" b="1" dirty="0">
                <a:solidFill>
                  <a:srgbClr val="0070C0"/>
                </a:solidFill>
              </a:endParaRPr>
            </a:p>
          </p:txBody>
        </p:sp>
        <p:pic>
          <p:nvPicPr>
            <p:cNvPr id="41" name="Picture 4" descr="Curved Red Arrow Clipart Images Gallery #862800 - PNG Images - PNGio">
              <a:extLst>
                <a:ext uri="{FF2B5EF4-FFF2-40B4-BE49-F238E27FC236}">
                  <a16:creationId xmlns:a16="http://schemas.microsoft.com/office/drawing/2014/main" id="{211ED653-DC7B-4C62-934B-8965B26D4A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848697" flipH="1">
              <a:off x="2688816" y="2498233"/>
              <a:ext cx="608482" cy="242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28BEE6F-160E-478E-94DF-1E9C5DEC3901}"/>
              </a:ext>
            </a:extLst>
          </p:cNvPr>
          <p:cNvGrpSpPr/>
          <p:nvPr/>
        </p:nvGrpSpPr>
        <p:grpSpPr>
          <a:xfrm>
            <a:off x="2004009" y="3952229"/>
            <a:ext cx="2073263" cy="623030"/>
            <a:chOff x="1813023" y="2300849"/>
            <a:chExt cx="2073263" cy="62303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45071DB-DD11-4235-AB5E-578E860E9E7D}"/>
                </a:ext>
              </a:extLst>
            </p:cNvPr>
            <p:cNvSpPr txBox="1"/>
            <p:nvPr/>
          </p:nvSpPr>
          <p:spPr>
            <a:xfrm>
              <a:off x="1951357" y="2463678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+2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  <p:pic>
          <p:nvPicPr>
            <p:cNvPr id="44" name="Picture 4" descr="Curved Red Arrow Clipart Images Gallery #862800 - PNG Images - PNGio">
              <a:extLst>
                <a:ext uri="{FF2B5EF4-FFF2-40B4-BE49-F238E27FC236}">
                  <a16:creationId xmlns:a16="http://schemas.microsoft.com/office/drawing/2014/main" id="{18B31901-2CEF-40CD-9EF7-D33A0C115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923379" flipH="1">
              <a:off x="1630187" y="2483685"/>
              <a:ext cx="608482" cy="242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B0DD220-66C5-474B-8982-272B08E06CA8}"/>
                </a:ext>
              </a:extLst>
            </p:cNvPr>
            <p:cNvSpPr txBox="1"/>
            <p:nvPr/>
          </p:nvSpPr>
          <p:spPr>
            <a:xfrm>
              <a:off x="3009986" y="2458562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-1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  <p:pic>
          <p:nvPicPr>
            <p:cNvPr id="46" name="Picture 4" descr="Curved Red Arrow Clipart Images Gallery #862800 - PNG Images - PNGio">
              <a:extLst>
                <a:ext uri="{FF2B5EF4-FFF2-40B4-BE49-F238E27FC236}">
                  <a16:creationId xmlns:a16="http://schemas.microsoft.com/office/drawing/2014/main" id="{E52691DE-9862-44C6-A528-3CF188D19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923379" flipH="1">
              <a:off x="2688816" y="2498233"/>
              <a:ext cx="608482" cy="242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4E0244A-12AF-40AE-B2FC-76F152E0C023}"/>
              </a:ext>
            </a:extLst>
          </p:cNvPr>
          <p:cNvGrpSpPr/>
          <p:nvPr/>
        </p:nvGrpSpPr>
        <p:grpSpPr>
          <a:xfrm>
            <a:off x="2016012" y="5057595"/>
            <a:ext cx="2073263" cy="623030"/>
            <a:chOff x="1813023" y="2300849"/>
            <a:chExt cx="2073263" cy="62303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8ABEED4-8C6F-41A8-B2F2-6DBA06F510D8}"/>
                </a:ext>
              </a:extLst>
            </p:cNvPr>
            <p:cNvSpPr txBox="1"/>
            <p:nvPr/>
          </p:nvSpPr>
          <p:spPr>
            <a:xfrm>
              <a:off x="1951357" y="2463678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+2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  <p:pic>
          <p:nvPicPr>
            <p:cNvPr id="49" name="Picture 4" descr="Curved Red Arrow Clipart Images Gallery #862800 - PNG Images - PNGio">
              <a:extLst>
                <a:ext uri="{FF2B5EF4-FFF2-40B4-BE49-F238E27FC236}">
                  <a16:creationId xmlns:a16="http://schemas.microsoft.com/office/drawing/2014/main" id="{2A5A7DCD-F80C-4716-AF1B-F64C3C943D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923379" flipH="1">
              <a:off x="1630187" y="2483685"/>
              <a:ext cx="608482" cy="242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8F0DCD2-9C07-46B1-BD74-FDA961E668E9}"/>
                </a:ext>
              </a:extLst>
            </p:cNvPr>
            <p:cNvSpPr txBox="1"/>
            <p:nvPr/>
          </p:nvSpPr>
          <p:spPr>
            <a:xfrm>
              <a:off x="3009986" y="2458562"/>
              <a:ext cx="876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-1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  <p:pic>
          <p:nvPicPr>
            <p:cNvPr id="51" name="Picture 4" descr="Curved Red Arrow Clipart Images Gallery #862800 - PNG Images - PNGio">
              <a:extLst>
                <a:ext uri="{FF2B5EF4-FFF2-40B4-BE49-F238E27FC236}">
                  <a16:creationId xmlns:a16="http://schemas.microsoft.com/office/drawing/2014/main" id="{EBF652FB-2DD1-4345-81B1-12845555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923379" flipH="1">
              <a:off x="2688816" y="2498233"/>
              <a:ext cx="608482" cy="242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5B293C89-14CB-4758-BE32-D28CB90443D6}"/>
              </a:ext>
            </a:extLst>
          </p:cNvPr>
          <p:cNvSpPr txBox="1">
            <a:spLocks/>
          </p:cNvSpPr>
          <p:nvPr/>
        </p:nvSpPr>
        <p:spPr>
          <a:xfrm>
            <a:off x="5489742" y="1777397"/>
            <a:ext cx="4514850" cy="56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en-SG" sz="2800" dirty="0">
                <a:solidFill>
                  <a:schemeClr val="tx1"/>
                </a:solidFill>
              </a:rPr>
              <a:t>2) Finding a pattern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0B1301E-ECEB-4058-840C-3D9C20C1FEDD}"/>
                  </a:ext>
                </a:extLst>
              </p:cNvPr>
              <p:cNvSpPr/>
              <p:nvPr/>
            </p:nvSpPr>
            <p:spPr>
              <a:xfrm>
                <a:off x="5855725" y="2181793"/>
                <a:ext cx="5866883" cy="28931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" indent="0">
                  <a:buFont typeface="Corbel" pitchFamily="34" charset="0"/>
                  <a:buNone/>
                </a:pPr>
                <a:r>
                  <a:rPr lang="en-SG" sz="2800" u="sng" dirty="0"/>
                  <a:t>For successive integers </a:t>
                </a:r>
                <a14:m>
                  <m:oMath xmlns:m="http://schemas.openxmlformats.org/officeDocument/2006/math">
                    <m:r>
                      <a:rPr lang="en-SG" sz="2800" i="1" u="sng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sz="2800" u="sng" dirty="0"/>
              </a:p>
              <a:p>
                <a:pPr marL="457200" indent="-365125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GB" sz="2400" dirty="0"/>
                  <a:t>Split the inductive step into two cases (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en-GB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&gt; 0</m:t>
                    </m:r>
                  </m:oMath>
                </a14:m>
                <a:r>
                  <a:rPr lang="en-GB" sz="2400" dirty="0">
                    <a:ea typeface="Cambria" panose="02040503050406030204" pitchFamily="18" charset="0"/>
                  </a:rPr>
                  <a:t> or</a:t>
                </a:r>
                <a:r>
                  <a:rPr lang="en-GB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en-GB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= 0</m:t>
                    </m:r>
                  </m:oMath>
                </a14:m>
                <a:r>
                  <a:rPr lang="en-GB" sz="2400" dirty="0"/>
                  <a:t>)</a:t>
                </a:r>
              </a:p>
              <a:p>
                <a:pPr marL="457200" indent="-365125">
                  <a:buFont typeface="Wingdings" panose="05000000000000000000" pitchFamily="2" charset="2"/>
                  <a:buChar char="§"/>
                </a:pPr>
                <a:r>
                  <a:rPr lang="en-GB" sz="2400" dirty="0"/>
                  <a:t>Case 1: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en-GB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&gt; 0</m:t>
                    </m:r>
                  </m:oMath>
                </a14:m>
                <a:r>
                  <a:rPr lang="en-GB" sz="2400" dirty="0">
                    <a:ea typeface="Cambria" panose="02040503050406030204" pitchFamily="18" charset="0"/>
                  </a:rPr>
                  <a:t> </a:t>
                </a:r>
              </a:p>
              <a:p>
                <a:pPr marL="914400" lvl="1" indent="-365125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>
                    <a:ea typeface="Cambria" panose="02040503050406030204" pitchFamily="18" charset="0"/>
                  </a:rPr>
                  <a:t> to decrease by 1;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ea typeface="Cambria" panose="02040503050406030204" pitchFamily="18" charset="0"/>
                  </a:rPr>
                  <a:t> to increase by 2</a:t>
                </a:r>
              </a:p>
              <a:p>
                <a:pPr marL="457200" indent="-365125">
                  <a:buFont typeface="Wingdings" panose="05000000000000000000" pitchFamily="2" charset="2"/>
                  <a:buChar char="§"/>
                </a:pPr>
                <a:r>
                  <a:rPr lang="en-GB" sz="2400" dirty="0">
                    <a:ea typeface="Cambria" panose="02040503050406030204" pitchFamily="18" charset="0"/>
                  </a:rPr>
                  <a:t>Case 2: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en-GB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= 0</m:t>
                    </m:r>
                  </m:oMath>
                </a14:m>
                <a:endParaRPr lang="en-GB" sz="2400" dirty="0"/>
              </a:p>
              <a:p>
                <a:pPr marL="914400" lvl="1" indent="-365125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 to increase by 2;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to decrease by 3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0B1301E-ECEB-4058-840C-3D9C20C1FE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725" y="2181793"/>
                <a:ext cx="5866883" cy="2893100"/>
              </a:xfrm>
              <a:prstGeom prst="rect">
                <a:avLst/>
              </a:prstGeom>
              <a:blipFill>
                <a:blip r:embed="rId5"/>
                <a:stretch>
                  <a:fillRect l="-1351" t="-2110" b="-40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994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0" grpId="0"/>
      <p:bldP spid="5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Q5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12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1379979" y="413205"/>
                <a:ext cx="69593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∃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800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979" y="413205"/>
                <a:ext cx="6959349" cy="523220"/>
              </a:xfrm>
              <a:prstGeom prst="rect">
                <a:avLst/>
              </a:prstGeom>
              <a:blipFill>
                <a:blip r:embed="rId2"/>
                <a:stretch>
                  <a:fillRect l="-1751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25630" y="904732"/>
                <a:ext cx="75292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57188" algn="l"/>
                  </a:tabLst>
                </a:pPr>
                <a:r>
                  <a:rPr lang="en-US" sz="2000" dirty="0"/>
                  <a:t>1.	</a:t>
                </a:r>
                <a:r>
                  <a:rPr lang="en-US" sz="2000" dirty="0">
                    <a:solidFill>
                      <a:srgbClr val="0000FF"/>
                    </a:solidFill>
                  </a:rPr>
                  <a:t>(Define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</a:rPr>
                  <a:t>)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SG" sz="2000" dirty="0"/>
                  <a:t>, let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SG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SG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 </m:t>
                    </m:r>
                  </m:oMath>
                </a14:m>
                <a:endParaRPr lang="en-SG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0" y="904732"/>
                <a:ext cx="7529271" cy="400110"/>
              </a:xfrm>
              <a:prstGeom prst="rect">
                <a:avLst/>
              </a:prstGeom>
              <a:blipFill>
                <a:blip r:embed="rId3"/>
                <a:stretch>
                  <a:fillRect l="-891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125632" y="1301729"/>
                <a:ext cx="55746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tabLst>
                    <a:tab pos="357188" algn="l"/>
                  </a:tabLst>
                </a:pPr>
                <a:r>
                  <a:rPr lang="en-US" sz="2000" dirty="0"/>
                  <a:t>2.	</a:t>
                </a:r>
                <a:r>
                  <a:rPr lang="en-US" sz="2000" dirty="0">
                    <a:solidFill>
                      <a:srgbClr val="0000FF"/>
                    </a:solidFill>
                  </a:rPr>
                  <a:t>(Basis step)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(8) </m:t>
                    </m:r>
                  </m:oMath>
                </a14:m>
                <a:r>
                  <a:rPr lang="en-US" sz="2000" dirty="0"/>
                  <a:t>is true as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8=3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1)+5(1).</m:t>
                    </m:r>
                  </m:oMath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2" y="1301729"/>
                <a:ext cx="5574652" cy="400110"/>
              </a:xfrm>
              <a:prstGeom prst="rect">
                <a:avLst/>
              </a:prstGeom>
              <a:blipFill>
                <a:blip r:embed="rId4"/>
                <a:stretch>
                  <a:fillRect l="-1204" t="-9231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125632" y="1701839"/>
                <a:ext cx="72136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tabLst>
                    <a:tab pos="357188" algn="l"/>
                  </a:tabLst>
                </a:pPr>
                <a:r>
                  <a:rPr lang="en-US" sz="2000" dirty="0"/>
                  <a:t>3.	</a:t>
                </a:r>
                <a:r>
                  <a:rPr lang="en-US" sz="2000" dirty="0">
                    <a:solidFill>
                      <a:srgbClr val="0000FF"/>
                    </a:solidFill>
                  </a:rPr>
                  <a:t>(Inductive step)</a:t>
                </a:r>
              </a:p>
              <a:p>
                <a:pPr marL="804863" indent="-447675">
                  <a:tabLst>
                    <a:tab pos="804863" algn="l"/>
                  </a:tabLst>
                </a:pPr>
                <a:r>
                  <a:rPr lang="en-US" sz="2000" dirty="0"/>
                  <a:t>3.1	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is true, i.e.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=3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+5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804863" indent="-447675">
                  <a:tabLst>
                    <a:tab pos="804863" algn="l"/>
                  </a:tabLst>
                </a:pPr>
                <a:r>
                  <a:rPr lang="en-US" sz="2000" dirty="0"/>
                  <a:t>3.2	Find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2" y="1701839"/>
                <a:ext cx="7213696" cy="1015663"/>
              </a:xfrm>
              <a:prstGeom prst="rect">
                <a:avLst/>
              </a:prstGeom>
              <a:blipFill>
                <a:blip r:embed="rId5"/>
                <a:stretch>
                  <a:fillRect l="-930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125631" y="2620835"/>
                <a:ext cx="9511266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4863" indent="-447675">
                  <a:tabLst>
                    <a:tab pos="804863" algn="l"/>
                  </a:tabLst>
                </a:pPr>
                <a:r>
                  <a:rPr lang="en-US" sz="2000" dirty="0"/>
                  <a:t>3.3	</a:t>
                </a:r>
                <a:r>
                  <a:rPr lang="en-US" sz="2000" dirty="0">
                    <a:solidFill>
                      <a:srgbClr val="0000FF"/>
                    </a:solidFill>
                  </a:rPr>
                  <a:t>Case 1: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</a:rPr>
                  <a:t>.</a:t>
                </a:r>
              </a:p>
              <a:p>
                <a:pPr marL="1436688" indent="-635000">
                  <a:tabLst>
                    <a:tab pos="1436688" algn="l"/>
                  </a:tabLst>
                </a:pPr>
                <a:r>
                  <a:rPr lang="en-US" dirty="0"/>
                  <a:t>3.3.1	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+1=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+1 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+5(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1436688" indent="-635000">
                  <a:tabLst>
                    <a:tab pos="1436688" algn="l"/>
                  </a:tabLst>
                </a:pPr>
                <a:r>
                  <a:rPr lang="en-US" dirty="0"/>
                  <a:t>3.3.2	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(from line 3.3) </a:t>
                </a:r>
                <a:r>
                  <a:rPr lang="en-US" dirty="0"/>
                  <a:t>, we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m:rPr>
                        <m:nor/>
                      </m:rPr>
                      <a:rPr lang="en-US" dirty="0"/>
                      <m:t>.</m:t>
                    </m:r>
                  </m:oMath>
                </a14:m>
                <a:endParaRPr lang="en-US" dirty="0"/>
              </a:p>
              <a:p>
                <a:pPr marL="1436688" indent="-635000">
                  <a:tabLst>
                    <a:tab pos="1436688" algn="l"/>
                  </a:tabLst>
                </a:pPr>
                <a:r>
                  <a:rPr lang="en-US" dirty="0"/>
                  <a:t>3.3.3	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/>
                  <a:t> is true.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1" y="2620835"/>
                <a:ext cx="9511266" cy="1231106"/>
              </a:xfrm>
              <a:prstGeom prst="rect">
                <a:avLst/>
              </a:prstGeom>
              <a:blipFill>
                <a:blip r:embed="rId6"/>
                <a:stretch>
                  <a:fillRect t="-2970" b="-693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125631" y="5699670"/>
                <a:ext cx="48739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4863" indent="-447675">
                  <a:tabLst>
                    <a:tab pos="804863" algn="l"/>
                  </a:tabLst>
                </a:pPr>
                <a:r>
                  <a:rPr lang="en-US" sz="2000" dirty="0"/>
                  <a:t>3.5	Thus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000" dirty="0"/>
                  <a:t> is true for all case.</a:t>
                </a:r>
                <a:endParaRPr lang="en-US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1" y="5699670"/>
                <a:ext cx="4873952" cy="400110"/>
              </a:xfrm>
              <a:prstGeom prst="rect">
                <a:avLst/>
              </a:prstGeom>
              <a:blipFill>
                <a:blip r:embed="rId7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125632" y="6099780"/>
                <a:ext cx="46525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5113" algn="l"/>
                  </a:tabLst>
                </a:pPr>
                <a:r>
                  <a:rPr lang="en-US" sz="2000" dirty="0"/>
                  <a:t>4.	Hence,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true by MI.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2" y="6099780"/>
                <a:ext cx="4652574" cy="400110"/>
              </a:xfrm>
              <a:prstGeom prst="rect">
                <a:avLst/>
              </a:prstGeom>
              <a:blipFill>
                <a:blip r:embed="rId8"/>
                <a:stretch>
                  <a:fillRect l="-1442" t="-9231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125631" y="3810642"/>
                <a:ext cx="9511266" cy="1920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4863" indent="-447675">
                  <a:tabLst>
                    <a:tab pos="804863" algn="l"/>
                  </a:tabLst>
                </a:pPr>
                <a:r>
                  <a:rPr lang="en-US" sz="2000" dirty="0"/>
                  <a:t>3.4	</a:t>
                </a:r>
                <a:r>
                  <a:rPr lang="en-US" sz="2000" dirty="0">
                    <a:solidFill>
                      <a:srgbClr val="0000FF"/>
                    </a:solidFill>
                  </a:rPr>
                  <a:t>Case 2: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</a:rPr>
                  <a:t>.</a:t>
                </a:r>
              </a:p>
              <a:p>
                <a:pPr marL="1436688" indent="-635000">
                  <a:tabLst>
                    <a:tab pos="1436688" algn="l"/>
                  </a:tabLst>
                </a:pPr>
                <a:r>
                  <a:rPr lang="en-US" dirty="0"/>
                  <a:t>3.4.1	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+5(0) =3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1436688" indent="-635000">
                  <a:tabLst>
                    <a:tab pos="1436688" algn="l"/>
                  </a:tabLst>
                </a:pPr>
                <a:r>
                  <a:rPr lang="en-US" dirty="0"/>
                  <a:t>3.4.2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/3≥8/3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3300"/>
                    </a:solidFill>
                  </a:rPr>
                  <a:t>(as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rgbClr val="00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≥8</m:t>
                    </m:r>
                    <m:r>
                      <a:rPr lang="en-US" b="0" i="0" smtClean="0">
                        <a:solidFill>
                          <a:srgbClr val="00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00"/>
                    </a:solidFill>
                  </a:rPr>
                  <a:t> </a:t>
                </a:r>
                <a:endParaRPr lang="en-US" dirty="0"/>
              </a:p>
              <a:p>
                <a:pPr marL="1436688" indent="-635000">
                  <a:tabLst>
                    <a:tab pos="1436688" algn="l"/>
                  </a:tabLst>
                </a:pPr>
                <a:r>
                  <a:rPr lang="en-US" dirty="0"/>
                  <a:t>3.4.3	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begChr m:val="⌈"/>
                        <m:endChr m:val="⌉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(as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 </a:t>
                </a:r>
              </a:p>
              <a:p>
                <a:pPr marL="1436688" indent="-635000">
                  <a:tabLst>
                    <a:tab pos="1436688" algn="l"/>
                  </a:tabLst>
                </a:pPr>
                <a:r>
                  <a:rPr lang="en-US" dirty="0"/>
                  <a:t>3.4.4</a:t>
                </a:r>
                <a:r>
                  <a:rPr lang="en-US" dirty="0">
                    <a:solidFill>
                      <a:srgbClr val="003300"/>
                    </a:solidFill>
                  </a:rPr>
                  <a:t>	</a:t>
                </a:r>
                <a:r>
                  <a:rPr lang="en-US" dirty="0"/>
                  <a:t>Thus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+1=3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+1=3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+5(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−3∈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1436688" indent="-635000">
                  <a:tabLst>
                    <a:tab pos="1436688" algn="l"/>
                  </a:tabLst>
                </a:pPr>
                <a:r>
                  <a:rPr lang="en-US" dirty="0"/>
                  <a:t>3.4.5	 So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/>
                  <a:t> is true.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1" y="3810642"/>
                <a:ext cx="9511266" cy="1920590"/>
              </a:xfrm>
              <a:prstGeom prst="rect">
                <a:avLst/>
              </a:prstGeom>
              <a:blipFill>
                <a:blip r:embed="rId9"/>
                <a:stretch>
                  <a:fillRect t="-1587" b="-412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3265549-DD31-498B-A018-E1E0B80DDB58}"/>
                  </a:ext>
                </a:extLst>
              </p:cNvPr>
              <p:cNvSpPr/>
              <p:nvPr/>
            </p:nvSpPr>
            <p:spPr>
              <a:xfrm>
                <a:off x="7293936" y="3392400"/>
                <a:ext cx="4516262" cy="1631216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square">
                <a:spAutoFit/>
              </a:bodyPr>
              <a:lstStyle/>
              <a:p>
                <a:pPr indent="-182880">
                  <a:spcAft>
                    <a:spcPts val="600"/>
                  </a:spcAft>
                </a:pPr>
                <a:r>
                  <a:rPr lang="en-GB" dirty="0"/>
                  <a:t>Split the inductive step into two cases.</a:t>
                </a:r>
              </a:p>
              <a:p>
                <a:pPr indent="-182880">
                  <a:buFont typeface="Wingdings" panose="05000000000000000000" pitchFamily="2" charset="2"/>
                  <a:buChar char="§"/>
                </a:pPr>
                <a:r>
                  <a:rPr lang="en-GB" dirty="0"/>
                  <a:t>Case 1: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>
                    <a:ea typeface="Cambria" panose="02040503050406030204" pitchFamily="18" charset="0"/>
                  </a:rPr>
                  <a:t>.</a:t>
                </a:r>
              </a:p>
              <a:p>
                <a:pPr marL="0" lvl="1" indent="-182880">
                  <a:spcAft>
                    <a:spcPts val="600"/>
                  </a:spcAft>
                  <a:buFontTx/>
                  <a:buChar char="–"/>
                </a:pPr>
                <a:r>
                  <a:rPr lang="en-GB" dirty="0">
                    <a:ea typeface="Cambria" panose="02040503050406030204" pitchFamily="18" charset="0"/>
                  </a:rPr>
                  <a:t>decrease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ea typeface="Cambria" panose="02040503050406030204" pitchFamily="18" charset="0"/>
                  </a:rPr>
                  <a:t> by 1; increase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>
                    <a:ea typeface="Cambria" panose="02040503050406030204" pitchFamily="18" charset="0"/>
                  </a:rPr>
                  <a:t> by 2</a:t>
                </a:r>
              </a:p>
              <a:p>
                <a:pPr indent="-182880">
                  <a:buFont typeface="Wingdings" panose="05000000000000000000" pitchFamily="2" charset="2"/>
                  <a:buChar char="§"/>
                </a:pPr>
                <a:r>
                  <a:rPr lang="en-GB" dirty="0">
                    <a:ea typeface="Cambria" panose="02040503050406030204" pitchFamily="18" charset="0"/>
                  </a:rPr>
                  <a:t>Case 2: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en-GB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lvl="1" indent="-182880">
                  <a:spcAft>
                    <a:spcPts val="600"/>
                  </a:spcAft>
                  <a:buFontTx/>
                  <a:buChar char="–"/>
                </a:pPr>
                <a:r>
                  <a:rPr lang="en-US" b="0" dirty="0"/>
                  <a:t>increase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by 2; decrease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by 3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3265549-DD31-498B-A018-E1E0B80DD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936" y="3392400"/>
                <a:ext cx="4516262" cy="1631216"/>
              </a:xfrm>
              <a:prstGeom prst="rect">
                <a:avLst/>
              </a:prstGeom>
              <a:blipFill>
                <a:blip r:embed="rId10"/>
                <a:stretch>
                  <a:fillRect l="-1216" t="-1866" b="-48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DF96DE57-5183-D74B-7C7D-5F22869D4828}"/>
              </a:ext>
            </a:extLst>
          </p:cNvPr>
          <p:cNvGrpSpPr/>
          <p:nvPr/>
        </p:nvGrpSpPr>
        <p:grpSpPr>
          <a:xfrm>
            <a:off x="5778206" y="2209670"/>
            <a:ext cx="4815111" cy="1339898"/>
            <a:chOff x="5778206" y="2209670"/>
            <a:chExt cx="4815111" cy="1339898"/>
          </a:xfrm>
        </p:grpSpPr>
        <p:sp>
          <p:nvSpPr>
            <p:cNvPr id="4" name="Callout: Bent Line 3">
              <a:extLst>
                <a:ext uri="{FF2B5EF4-FFF2-40B4-BE49-F238E27FC236}">
                  <a16:creationId xmlns:a16="http://schemas.microsoft.com/office/drawing/2014/main" id="{1EE93C35-F446-D67F-07A4-46C123EE5864}"/>
                </a:ext>
              </a:extLst>
            </p:cNvPr>
            <p:cNvSpPr/>
            <p:nvPr/>
          </p:nvSpPr>
          <p:spPr>
            <a:xfrm>
              <a:off x="8510816" y="2209670"/>
              <a:ext cx="2082501" cy="696143"/>
            </a:xfrm>
            <a:prstGeom prst="borderCallout2">
              <a:avLst>
                <a:gd name="adj1" fmla="val 20277"/>
                <a:gd name="adj2" fmla="val 922"/>
                <a:gd name="adj3" fmla="val 21805"/>
                <a:gd name="adj4" fmla="val -18199"/>
                <a:gd name="adj5" fmla="val 176578"/>
                <a:gd name="adj6" fmla="val -74499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This is important. Why?</a:t>
              </a:r>
              <a:endParaRPr lang="en-SG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DE8A13C-A3CE-73F2-3F5B-50CBA74EA439}"/>
                </a:ext>
              </a:extLst>
            </p:cNvPr>
            <p:cNvSpPr/>
            <p:nvPr/>
          </p:nvSpPr>
          <p:spPr>
            <a:xfrm>
              <a:off x="5778206" y="3236388"/>
              <a:ext cx="1111692" cy="31318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2137B01-7544-7C3F-3A6D-752604C76FC5}"/>
              </a:ext>
            </a:extLst>
          </p:cNvPr>
          <p:cNvGrpSpPr/>
          <p:nvPr/>
        </p:nvGrpSpPr>
        <p:grpSpPr>
          <a:xfrm>
            <a:off x="7169165" y="5103152"/>
            <a:ext cx="4250202" cy="692029"/>
            <a:chOff x="6543750" y="2300723"/>
            <a:chExt cx="4250202" cy="692029"/>
          </a:xfrm>
        </p:grpSpPr>
        <p:sp>
          <p:nvSpPr>
            <p:cNvPr id="9" name="Callout: Bent Line 8">
              <a:extLst>
                <a:ext uri="{FF2B5EF4-FFF2-40B4-BE49-F238E27FC236}">
                  <a16:creationId xmlns:a16="http://schemas.microsoft.com/office/drawing/2014/main" id="{74337EB2-75F4-75FA-FFC4-98B58A1C66F2}"/>
                </a:ext>
              </a:extLst>
            </p:cNvPr>
            <p:cNvSpPr/>
            <p:nvPr/>
          </p:nvSpPr>
          <p:spPr>
            <a:xfrm>
              <a:off x="8515631" y="2548013"/>
              <a:ext cx="2278321" cy="444739"/>
            </a:xfrm>
            <a:prstGeom prst="borderCallout2">
              <a:avLst>
                <a:gd name="adj1" fmla="val 20277"/>
                <a:gd name="adj2" fmla="val 922"/>
                <a:gd name="adj3" fmla="val 21805"/>
                <a:gd name="adj4" fmla="val -18199"/>
                <a:gd name="adj5" fmla="val -8232"/>
                <a:gd name="adj6" fmla="val -37228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This is important too.</a:t>
              </a:r>
              <a:endParaRPr lang="en-SG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5D2C3A9-F7CD-4512-4C80-A75696A02160}"/>
                </a:ext>
              </a:extLst>
            </p:cNvPr>
            <p:cNvSpPr/>
            <p:nvPr/>
          </p:nvSpPr>
          <p:spPr>
            <a:xfrm>
              <a:off x="6543750" y="2300723"/>
              <a:ext cx="1111692" cy="31318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423061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  <p:bldP spid="24" grpId="0" uiExpand="1" build="p" bldLvl="2"/>
      <p:bldP spid="25" grpId="0" uiExpand="1" build="p" bldLvl="3"/>
      <p:bldP spid="26" grpId="0"/>
      <p:bldP spid="28" grpId="0"/>
      <p:bldP spid="17" grpId="0" uiExpand="1" build="p" bldLvl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Q6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13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1332580" y="528419"/>
                <a:ext cx="10385923" cy="1747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b="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Prove that every positive integer can be written as a sum of distinct non-negative integer powers of 2, </a:t>
                </a:r>
                <a:r>
                  <a:rPr lang="en-US" sz="2400" b="0" dirty="0" err="1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i.e</a:t>
                </a:r>
                <a:r>
                  <a:rPr lang="en-US" sz="240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US" sz="2800" b="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endParaRPr lang="en-US" sz="2400" i="1" dirty="0">
                  <a:solidFill>
                    <a:srgbClr val="00009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sup>
                      </m:s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solidFill>
                            <a:srgbClr val="0000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580" y="528419"/>
                <a:ext cx="10385923" cy="1747723"/>
              </a:xfrm>
              <a:prstGeom prst="rect">
                <a:avLst/>
              </a:prstGeom>
              <a:blipFill>
                <a:blip r:embed="rId2"/>
                <a:stretch>
                  <a:fillRect l="-940" t="-2797" r="-822" b="-279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08698" y="2309623"/>
            <a:ext cx="1613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Examples:</a:t>
            </a:r>
            <a:endParaRPr lang="en-SG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18993" y="2953948"/>
                <a:ext cx="5141372" cy="86260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712788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123=1+2+8+16+32+64</m:t>
                      </m:r>
                    </m:oMath>
                  </m:oMathPara>
                </a14:m>
                <a:endParaRPr lang="en-US" sz="2400" dirty="0"/>
              </a:p>
              <a:p>
                <a:pPr>
                  <a:tabLst>
                    <a:tab pos="630238" algn="l"/>
                  </a:tabLst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SG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993" y="2953948"/>
                <a:ext cx="5141372" cy="862608"/>
              </a:xfrm>
              <a:prstGeom prst="rect">
                <a:avLst/>
              </a:prstGeom>
              <a:blipFill>
                <a:blip r:embed="rId3"/>
                <a:stretch>
                  <a:fillRect l="-35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72529" y="2948395"/>
                <a:ext cx="2624328" cy="461665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712788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123=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1111011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529" y="2948395"/>
                <a:ext cx="2624328" cy="461665"/>
              </a:xfrm>
              <a:prstGeom prst="rect">
                <a:avLst/>
              </a:prstGeom>
              <a:blipFill>
                <a:blip r:embed="rId4"/>
                <a:stretch>
                  <a:fillRect l="-23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18993" y="4023953"/>
                <a:ext cx="6238652" cy="862608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712788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1717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128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512+1024</m:t>
                      </m:r>
                    </m:oMath>
                  </m:oMathPara>
                </a14:m>
                <a:endParaRPr lang="en-US" sz="2400" dirty="0"/>
              </a:p>
              <a:p>
                <a:pPr>
                  <a:tabLst>
                    <a:tab pos="712788" algn="l"/>
                  </a:tabLst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endParaRPr lang="en-SG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993" y="4023953"/>
                <a:ext cx="6238652" cy="862608"/>
              </a:xfrm>
              <a:prstGeom prst="rect">
                <a:avLst/>
              </a:prstGeom>
              <a:blipFill>
                <a:blip r:embed="rId5"/>
                <a:stretch>
                  <a:fillRect l="-29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572529" y="4023953"/>
                <a:ext cx="3378708" cy="461665"/>
              </a:xfrm>
              <a:prstGeom prst="rect">
                <a:avLst/>
              </a:prstGeom>
              <a:solidFill>
                <a:srgbClr val="CCECFF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712788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717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529" y="4023953"/>
                <a:ext cx="3378708" cy="461665"/>
              </a:xfrm>
              <a:prstGeom prst="rect">
                <a:avLst/>
              </a:prstGeom>
              <a:blipFill>
                <a:blip r:embed="rId6"/>
                <a:stretch>
                  <a:fillRect l="-18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18993" y="5136316"/>
                <a:ext cx="3300834" cy="862608"/>
              </a:xfrm>
              <a:prstGeom prst="rect">
                <a:avLst/>
              </a:prstGeom>
              <a:solidFill>
                <a:srgbClr val="99FF99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712788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776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=8+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6+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512</m:t>
                      </m:r>
                    </m:oMath>
                  </m:oMathPara>
                </a14:m>
                <a:endParaRPr lang="en-US" sz="2400" dirty="0"/>
              </a:p>
              <a:p>
                <a:pPr>
                  <a:tabLst>
                    <a:tab pos="630238" algn="l"/>
                  </a:tabLst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lang="en-SG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993" y="5136316"/>
                <a:ext cx="3300834" cy="862608"/>
              </a:xfrm>
              <a:prstGeom prst="rect">
                <a:avLst/>
              </a:prstGeom>
              <a:blipFill>
                <a:blip r:embed="rId7"/>
                <a:stretch>
                  <a:fillRect l="-55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572529" y="5136316"/>
                <a:ext cx="2997935" cy="461665"/>
              </a:xfrm>
              <a:prstGeom prst="rect">
                <a:avLst/>
              </a:prstGeom>
              <a:solidFill>
                <a:srgbClr val="99FF99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712788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76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0000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529" y="5136316"/>
                <a:ext cx="2997935" cy="461665"/>
              </a:xfrm>
              <a:prstGeom prst="rect">
                <a:avLst/>
              </a:prstGeom>
              <a:blipFill>
                <a:blip r:embed="rId8"/>
                <a:stretch>
                  <a:fillRect l="-20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572530" y="2574662"/>
            <a:ext cx="2624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Binary representation</a:t>
            </a:r>
            <a:endParaRPr lang="en-SG" sz="2000" i="1" dirty="0"/>
          </a:p>
        </p:txBody>
      </p:sp>
    </p:spTree>
    <p:extLst>
      <p:ext uri="{BB962C8B-B14F-4D97-AF65-F5344CB8AC3E}">
        <p14:creationId xmlns:p14="http://schemas.microsoft.com/office/powerpoint/2010/main" val="20460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Q6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14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1332580" y="528419"/>
                <a:ext cx="10207148" cy="1128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1.	</a:t>
                </a:r>
                <a:r>
                  <a:rPr lang="en-US" sz="2000" b="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(Define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, 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be</a:t>
                </a:r>
                <a:br>
                  <a:rPr lang="en-US" sz="200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</a:br>
                <a:r>
                  <a:rPr lang="en-US" sz="2000" dirty="0">
                    <a:solidFill>
                      <a:srgbClr val="000099"/>
                    </a:solidFill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00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0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0099"/>
                  </a:solidFill>
                  <a:ea typeface="Cambria Math" panose="02040503050406030204" pitchFamily="18" charset="0"/>
                </a:endParaRPr>
              </a:p>
              <a:p>
                <a:pPr marL="357188" indent="-357188">
                  <a:spcAft>
                    <a:spcPts val="600"/>
                  </a:spcAft>
                </a:pPr>
                <a:r>
                  <a:rPr lang="en-US" sz="2000" dirty="0">
                    <a:ea typeface="Cambria Math" panose="02040503050406030204" pitchFamily="18" charset="0"/>
                  </a:rPr>
                  <a:t>2.	</a:t>
                </a:r>
                <a:r>
                  <a:rPr lang="en-US" sz="200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(Basis step)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is true because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1=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580" y="528419"/>
                <a:ext cx="10207148" cy="1128963"/>
              </a:xfrm>
              <a:prstGeom prst="rect">
                <a:avLst/>
              </a:prstGeom>
              <a:blipFill>
                <a:blip r:embed="rId2"/>
                <a:stretch>
                  <a:fillRect l="-657" t="-3243" b="-648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564485" y="1701380"/>
                <a:ext cx="11119162" cy="3835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3.	</a:t>
                </a:r>
                <a:r>
                  <a:rPr lang="en-US" sz="2000" b="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(Inductive step: </a:t>
                </a:r>
                <a:r>
                  <a:rPr lang="en-US" sz="1600" b="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Show that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1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1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∧⋯∧</m:t>
                        </m:r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600" b="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 is true.</a:t>
                </a:r>
                <a:r>
                  <a:rPr lang="en-US" sz="2000" b="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)</a:t>
                </a:r>
              </a:p>
              <a:p>
                <a:pPr marL="895350" indent="-538163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3.1	Let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are true. </a:t>
                </a:r>
                <a:r>
                  <a:rPr lang="en-US" sz="200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(inductive hypothesis)</a:t>
                </a:r>
              </a:p>
              <a:p>
                <a:pPr marL="895350" indent="-538163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3.2	Find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:r>
                  <a:rPr lang="en-US" sz="2000" dirty="0" err="1">
                    <a:ea typeface="Cambria Math" panose="02040503050406030204" pitchFamily="18" charset="0"/>
                  </a:rPr>
                  <a:t>s.t.</a:t>
                </a:r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(this is possible 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 is either even or odd)</a:t>
                </a:r>
                <a:endParaRPr lang="en-US" sz="2000" dirty="0">
                  <a:solidFill>
                    <a:srgbClr val="006600"/>
                  </a:solidFill>
                  <a:ea typeface="Cambria Math" panose="02040503050406030204" pitchFamily="18" charset="0"/>
                </a:endParaRPr>
              </a:p>
              <a:p>
                <a:pPr marL="895350" indent="-538163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3.3	Note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(from line 3.2)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(as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.</a:t>
                </a:r>
              </a:p>
              <a:p>
                <a:pPr marL="895350" indent="-538163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3.4	So,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.</a:t>
                </a:r>
              </a:p>
              <a:p>
                <a:pPr marL="895350" indent="-538163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3.5	Also,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(from line 3.2)</a:t>
                </a:r>
                <a:endParaRPr lang="en-US" sz="2000" dirty="0">
                  <a:ea typeface="Cambria Math" panose="02040503050406030204" pitchFamily="18" charset="0"/>
                </a:endParaRPr>
              </a:p>
              <a:p>
                <a:pPr marL="895350" indent="-538163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b="0" dirty="0">
                    <a:ea typeface="Cambria Math" panose="02040503050406030204" pitchFamily="18" charset="0"/>
                  </a:rPr>
                  <a:t>3.6	So,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 (as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 is an integer and is the smallest integer above 1/2)</a:t>
                </a:r>
              </a:p>
              <a:p>
                <a:pPr marL="895350" indent="-538163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3.7	</a:t>
                </a:r>
                <a:r>
                  <a:rPr lang="en-US" sz="20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By lines 3.4 and 3.6</a:t>
                </a:r>
                <a:r>
                  <a:rPr lang="en-US" sz="200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 is true </a:t>
                </a:r>
                <a:r>
                  <a:rPr lang="en-US" sz="20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by the inductive hypothesis</a:t>
                </a:r>
                <a:r>
                  <a:rPr lang="en-US" sz="2000" dirty="0">
                    <a:ea typeface="Cambria Math" panose="02040503050406030204" pitchFamily="18" charset="0"/>
                  </a:rPr>
                  <a:t>.</a:t>
                </a:r>
              </a:p>
              <a:p>
                <a:pPr marL="895350" indent="-538163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3.8	Apply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to find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:r>
                  <a:rPr lang="en-US" sz="2000" dirty="0" err="1">
                    <a:ea typeface="Cambria Math" panose="02040503050406030204" pitchFamily="18" charset="0"/>
                  </a:rPr>
                  <a:t>s.t.</a:t>
                </a:r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:br>
                  <a:rPr lang="en-US" sz="200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85" y="1701380"/>
                <a:ext cx="11119162" cy="3835281"/>
              </a:xfrm>
              <a:prstGeom prst="rect">
                <a:avLst/>
              </a:prstGeom>
              <a:blipFill>
                <a:blip r:embed="rId3"/>
                <a:stretch>
                  <a:fillRect l="-603" t="-795" b="-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9287919" y="274705"/>
            <a:ext cx="2395728" cy="400110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Using Strong MI</a:t>
            </a:r>
            <a:endParaRPr lang="en-SG" sz="2000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97689577-BA86-04AD-E31F-9AAD855119CB}"/>
              </a:ext>
            </a:extLst>
          </p:cNvPr>
          <p:cNvSpPr/>
          <p:nvPr/>
        </p:nvSpPr>
        <p:spPr>
          <a:xfrm>
            <a:off x="10616546" y="953013"/>
            <a:ext cx="911738" cy="78831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88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Q6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15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1264841" y="360567"/>
                <a:ext cx="9064147" cy="2256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tabLst>
                    <a:tab pos="895350" algn="l"/>
                  </a:tabLst>
                </a:pP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3.	</a:t>
                </a:r>
                <a:r>
                  <a:rPr lang="en-US" sz="2000" b="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(Inductive step)</a:t>
                </a:r>
              </a:p>
              <a:p>
                <a:pPr marL="895350" indent="-538163"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3.1	Let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are true. </a:t>
                </a:r>
                <a:r>
                  <a:rPr lang="en-US" sz="200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(inductive hypothesis)</a:t>
                </a:r>
              </a:p>
              <a:p>
                <a:pPr marL="895350" indent="-538163"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3.2	Find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:r>
                  <a:rPr lang="en-US" sz="2000" dirty="0" err="1">
                    <a:ea typeface="Cambria Math" panose="02040503050406030204" pitchFamily="18" charset="0"/>
                  </a:rPr>
                  <a:t>s.t.</a:t>
                </a:r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</a:p>
              <a:p>
                <a:pPr marL="895350" indent="-538163"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…</a:t>
                </a:r>
              </a:p>
              <a:p>
                <a:pPr marL="895350" indent="-538163"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3.7	… so we know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 is true </a:t>
                </a:r>
                <a:r>
                  <a:rPr lang="en-US" sz="2000" dirty="0">
                    <a:ea typeface="Cambria Math" panose="02040503050406030204" pitchFamily="18" charset="0"/>
                  </a:rPr>
                  <a:t>by the inductive hypothesis.</a:t>
                </a:r>
              </a:p>
              <a:p>
                <a:pPr marL="895350" indent="-538163"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3.8	Apply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to find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:r>
                  <a:rPr lang="en-US" sz="2000" dirty="0" err="1">
                    <a:ea typeface="Cambria Math" panose="02040503050406030204" pitchFamily="18" charset="0"/>
                  </a:rPr>
                  <a:t>s.t.</a:t>
                </a:r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:br>
                  <a:rPr lang="en-US" sz="200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841" y="360567"/>
                <a:ext cx="9064147" cy="2256772"/>
              </a:xfrm>
              <a:prstGeom prst="rect">
                <a:avLst/>
              </a:prstGeom>
              <a:blipFill>
                <a:blip r:embed="rId2"/>
                <a:stretch>
                  <a:fillRect l="-672" t="-1351" b="-4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9287919" y="274705"/>
            <a:ext cx="2395728" cy="400110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Using Strong MI</a:t>
            </a:r>
            <a:endParaRPr lang="en-SG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295508" y="2669251"/>
                <a:ext cx="3241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41338" indent="-538163" defTabSz="719138">
                  <a:tabLst>
                    <a:tab pos="541338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3.9	Case 1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 = 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.</a:t>
                </a:r>
                <a:endParaRPr lang="en-US" sz="200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08" y="2669251"/>
                <a:ext cx="3241844" cy="400110"/>
              </a:xfrm>
              <a:prstGeom prst="rect">
                <a:avLst/>
              </a:prstGeom>
              <a:blipFill>
                <a:blip r:embed="rId3"/>
                <a:stretch>
                  <a:fillRect l="-1692" t="-9091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565045" y="3069361"/>
                <a:ext cx="5649143" cy="1926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25475" indent="-622300" defTabSz="719138">
                  <a:spcAft>
                    <a:spcPts val="600"/>
                  </a:spcAft>
                  <a:tabLst>
                    <a:tab pos="625475" algn="l"/>
                  </a:tabLst>
                </a:pPr>
                <a:r>
                  <a:rPr lang="en-US" dirty="0">
                    <a:ea typeface="Cambria Math" panose="02040503050406030204" pitchFamily="18" charset="0"/>
                  </a:rPr>
                  <a:t>3.9.1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 2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br>
                  <a:rPr lang="en-US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(by the choice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)</a:t>
                </a:r>
                <a:b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.</a:t>
                </a:r>
              </a:p>
              <a:p>
                <a:pPr marL="625475" indent="-622300" defTabSz="719138">
                  <a:spcAft>
                    <a:spcPts val="600"/>
                  </a:spcAft>
                  <a:tabLst>
                    <a:tab pos="625475" algn="l"/>
                  </a:tabLst>
                </a:pPr>
                <a:r>
                  <a:rPr lang="en-US" dirty="0">
                    <a:ea typeface="Cambria Math" panose="02040503050406030204" pitchFamily="18" charset="0"/>
                  </a:rPr>
                  <a:t>3.9.2	Also,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+1&lt;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br>
                  <a:rPr lang="en-US" dirty="0">
                    <a:ea typeface="Cambria Math" panose="02040503050406030204" pitchFamily="18" charset="0"/>
                  </a:rPr>
                </a:br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(as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)</a:t>
                </a:r>
              </a:p>
              <a:p>
                <a:pPr marL="625475" indent="-622300" defTabSz="719138">
                  <a:spcAft>
                    <a:spcPts val="600"/>
                  </a:spcAft>
                  <a:tabLst>
                    <a:tab pos="625475" algn="l"/>
                  </a:tabLst>
                </a:pPr>
                <a:r>
                  <a:rPr lang="en-US" dirty="0">
                    <a:ea typeface="Cambria Math" panose="02040503050406030204" pitchFamily="18" charset="0"/>
                  </a:rPr>
                  <a:t>3.9.3	So,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is true.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45" y="3069361"/>
                <a:ext cx="5649143" cy="1926040"/>
              </a:xfrm>
              <a:prstGeom prst="rect">
                <a:avLst/>
              </a:prstGeom>
              <a:blipFill>
                <a:blip r:embed="rId4"/>
                <a:stretch>
                  <a:fillRect l="-864" t="-1905" r="-648" b="-444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6316824" y="2659369"/>
                <a:ext cx="37643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41338" indent="-538163" defTabSz="719138">
                  <a:tabLst>
                    <a:tab pos="541338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3.10	Case 2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 = 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.</a:t>
                </a:r>
                <a:endParaRPr lang="en-US" sz="200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824" y="2659369"/>
                <a:ext cx="3764359" cy="400110"/>
              </a:xfrm>
              <a:prstGeom prst="rect">
                <a:avLst/>
              </a:prstGeom>
              <a:blipFill>
                <a:blip r:embed="rId5"/>
                <a:stretch>
                  <a:fillRect l="-1456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6270171" y="2687996"/>
            <a:ext cx="0" cy="26432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6366588" y="3101509"/>
                <a:ext cx="5317059" cy="2229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25475" indent="-622300" defTabSz="719138">
                  <a:spcAft>
                    <a:spcPts val="600"/>
                  </a:spcAft>
                  <a:tabLst>
                    <a:tab pos="625475" algn="l"/>
                    <a:tab pos="2603500" algn="l"/>
                  </a:tabLst>
                </a:pPr>
                <a:r>
                  <a:rPr lang="en-US" dirty="0">
                    <a:ea typeface="Cambria Math" panose="02040503050406030204" pitchFamily="18" charset="0"/>
                  </a:rPr>
                  <a:t>3.10.1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 2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br>
                  <a:rPr lang="en-US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br>
                  <a:rPr lang="en-US" dirty="0">
                    <a:ea typeface="Cambria Math" panose="02040503050406030204" pitchFamily="18" charset="0"/>
                  </a:rPr>
                </a:br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(by the choice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)</a:t>
                </a:r>
                <a:b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.</a:t>
                </a:r>
              </a:p>
              <a:p>
                <a:pPr marL="625475" indent="-622300" defTabSz="719138">
                  <a:spcAft>
                    <a:spcPts val="600"/>
                  </a:spcAft>
                  <a:tabLst>
                    <a:tab pos="625475" algn="l"/>
                  </a:tabLst>
                </a:pPr>
                <a:r>
                  <a:rPr lang="en-US" dirty="0">
                    <a:ea typeface="Cambria Math" panose="02040503050406030204" pitchFamily="18" charset="0"/>
                  </a:rPr>
                  <a:t>3.10.2	Also,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+1&lt;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br>
                  <a:rPr lang="en-US" dirty="0">
                    <a:ea typeface="Cambria Math" panose="02040503050406030204" pitchFamily="18" charset="0"/>
                  </a:rPr>
                </a:br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(as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)</a:t>
                </a:r>
              </a:p>
              <a:p>
                <a:pPr marL="625475" indent="-622300" defTabSz="719138">
                  <a:spcAft>
                    <a:spcPts val="600"/>
                  </a:spcAft>
                  <a:tabLst>
                    <a:tab pos="625475" algn="l"/>
                  </a:tabLst>
                </a:pPr>
                <a:r>
                  <a:rPr lang="en-US" dirty="0">
                    <a:ea typeface="Cambria Math" panose="02040503050406030204" pitchFamily="18" charset="0"/>
                  </a:rPr>
                  <a:t>3.10.3	So,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is true.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588" y="3101509"/>
                <a:ext cx="5317059" cy="2229778"/>
              </a:xfrm>
              <a:prstGeom prst="rect">
                <a:avLst/>
              </a:prstGeom>
              <a:blipFill>
                <a:blip r:embed="rId6"/>
                <a:stretch>
                  <a:fillRect l="-802" t="-1639" b="-327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3321736" y="5446039"/>
                <a:ext cx="48238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41338" indent="-538163" defTabSz="719138">
                  <a:tabLst>
                    <a:tab pos="541338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3.11	Thus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is true in all cases.</a:t>
                </a:r>
                <a:endParaRPr lang="en-US" sz="200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736" y="5446039"/>
                <a:ext cx="4823888" cy="400110"/>
              </a:xfrm>
              <a:prstGeom prst="rect">
                <a:avLst/>
              </a:prstGeom>
              <a:blipFill>
                <a:blip r:embed="rId7"/>
                <a:stretch>
                  <a:fillRect l="-1264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2820993" y="5846149"/>
                <a:ext cx="57911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7675" indent="-444500" defTabSz="719138">
                  <a:tabLst>
                    <a:tab pos="447675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4.	</a:t>
                </a:r>
                <a:r>
                  <a:rPr lang="en-US" sz="2000" dirty="0"/>
                  <a:t> Hence,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true by Strong MI.</a:t>
                </a:r>
                <a:endParaRPr lang="en-US" sz="200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993" y="5846149"/>
                <a:ext cx="5791161" cy="400110"/>
              </a:xfrm>
              <a:prstGeom prst="rect">
                <a:avLst/>
              </a:prstGeom>
              <a:blipFill>
                <a:blip r:embed="rId8"/>
                <a:stretch>
                  <a:fillRect l="-1053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tar: 5 Points 2">
            <a:extLst>
              <a:ext uri="{FF2B5EF4-FFF2-40B4-BE49-F238E27FC236}">
                <a16:creationId xmlns:a16="http://schemas.microsoft.com/office/drawing/2014/main" id="{D6EB9053-0E2F-517B-8814-5920B2BDA52A}"/>
              </a:ext>
            </a:extLst>
          </p:cNvPr>
          <p:cNvSpPr/>
          <p:nvPr/>
        </p:nvSpPr>
        <p:spPr>
          <a:xfrm>
            <a:off x="10616546" y="953013"/>
            <a:ext cx="911738" cy="78831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35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  <p:bldP spid="9" grpId="0"/>
      <p:bldP spid="12" grpId="0" build="p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3799-418B-483D-D8BF-249C155A4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3FCD-F34B-D649-2EB2-EFE4D5998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Q6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0392E771-CCF8-7D0B-EE53-4E06A4D6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16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F034E0-7F94-D38F-E529-ECABF4151878}"/>
              </a:ext>
            </a:extLst>
          </p:cNvPr>
          <p:cNvSpPr txBox="1"/>
          <p:nvPr/>
        </p:nvSpPr>
        <p:spPr>
          <a:xfrm>
            <a:off x="9287919" y="274705"/>
            <a:ext cx="2395728" cy="400110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Using Strong MI</a:t>
            </a:r>
            <a:endParaRPr lang="en-SG" sz="2000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8AE6A272-B734-AC36-AD16-D6DE861F2DE6}"/>
              </a:ext>
            </a:extLst>
          </p:cNvPr>
          <p:cNvSpPr/>
          <p:nvPr/>
        </p:nvSpPr>
        <p:spPr>
          <a:xfrm>
            <a:off x="10616546" y="953013"/>
            <a:ext cx="911738" cy="78831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73B601-29CD-1F8B-8AF0-75EC2137C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651" y="474760"/>
            <a:ext cx="7824268" cy="59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33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22686-CC70-D280-9A29-5B85286D6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3" y="2750820"/>
            <a:ext cx="9875520" cy="1356360"/>
          </a:xfrm>
        </p:spPr>
        <p:txBody>
          <a:bodyPr/>
          <a:lstStyle/>
          <a:p>
            <a:r>
              <a:rPr lang="en-SG" dirty="0"/>
              <a:t>Break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2BEA4-8BBE-039A-9BAD-F2AB7220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73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Q7.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18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1626254" y="409614"/>
                <a:ext cx="8852697" cy="127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US" sz="2400" dirty="0">
                    <a:solidFill>
                      <a:srgbClr val="000099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 be the sequence satisfying</a:t>
                </a:r>
              </a:p>
              <a:p>
                <a:pPr>
                  <a:spcAft>
                    <a:spcPts val="300"/>
                  </a:spcAft>
                  <a:tabLst>
                    <a:tab pos="630238" algn="l"/>
                  </a:tabLst>
                </a:pPr>
                <a:r>
                  <a:rPr lang="en-US" sz="2400" dirty="0">
                    <a:solidFill>
                      <a:srgbClr val="000099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=2,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=7,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>
                    <a:solidFill>
                      <a:srgbClr val="000099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 </a:t>
                </a:r>
              </a:p>
              <a:p>
                <a:pPr>
                  <a:spcAft>
                    <a:spcPts val="300"/>
                  </a:spcAft>
                </a:pPr>
                <a:r>
                  <a:rPr lang="en-US" sz="2400" dirty="0">
                    <a:solidFill>
                      <a:srgbClr val="000099"/>
                    </a:solidFill>
                  </a:rPr>
                  <a:t>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 Prove by induction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254" y="409614"/>
                <a:ext cx="8852697" cy="1277273"/>
              </a:xfrm>
              <a:prstGeom prst="rect">
                <a:avLst/>
              </a:prstGeom>
              <a:blipFill>
                <a:blip r:embed="rId2"/>
                <a:stretch>
                  <a:fillRect l="-1102" t="-3810" b="-95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766315" y="1825468"/>
                <a:ext cx="10572576" cy="4038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1.	</a:t>
                </a:r>
                <a:r>
                  <a:rPr lang="en-US" sz="2000" b="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(Define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, 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357188" indent="-357188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2.	</a:t>
                </a:r>
                <a:r>
                  <a:rPr lang="en-US" sz="200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(Basis step)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are true. </a:t>
                </a:r>
                <a:r>
                  <a:rPr lang="en-US" b="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=0&lt;1=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)</a:t>
                </a:r>
              </a:p>
              <a:p>
                <a:pPr>
                  <a:tabLst>
                    <a:tab pos="357188" algn="l"/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</a:t>
                </a:r>
                <a:r>
                  <a:rPr lang="en-US" sz="200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	(Inductive step)</a:t>
                </a:r>
              </a:p>
              <a:p>
                <a:pPr marL="895350" indent="-538163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3.1	Let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s.t.</a:t>
                </a: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+2)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are true. </a:t>
                </a:r>
                <a:r>
                  <a:rPr lang="en-US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(inductive hypothesis)</a:t>
                </a:r>
              </a:p>
              <a:p>
                <a:pPr marL="895350" indent="-538163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3.2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+2)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are true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sz="2000" dirty="0">
                    <a:ea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sz="2000" dirty="0">
                    <a:ea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. </a:t>
                </a:r>
              </a:p>
              <a:p>
                <a:pPr marL="895350" indent="-538163">
                  <a:spcAft>
                    <a:spcPts val="1200"/>
                  </a:spcAft>
                  <a:tabLst>
                    <a:tab pos="895350" algn="l"/>
                    <a:tab pos="2066925" algn="l"/>
                    <a:tab pos="5202238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3.3	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en-US" sz="20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(by the definition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)</a:t>
                </a:r>
                <a:br>
                  <a:rPr lang="en-US" sz="20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</a:br>
                <a:r>
                  <a:rPr lang="en-US" sz="20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en-US" sz="20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(by the inductive hypothesis)</a:t>
                </a:r>
                <a:br>
                  <a:rPr lang="en-US" sz="20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</a:b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	</a:t>
                </a:r>
                <a:b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</a:b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895350" indent="-538163">
                  <a:spcAft>
                    <a:spcPts val="600"/>
                  </a:spcAft>
                  <a:tabLst>
                    <a:tab pos="895350" algn="l"/>
                    <a:tab pos="1619250" algn="l"/>
                    <a:tab pos="5916613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3.4	Thus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+3)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is true.</a:t>
                </a:r>
                <a:endParaRPr lang="en-US" sz="20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357188" indent="-357188">
                  <a:spcAft>
                    <a:spcPts val="600"/>
                  </a:spcAft>
                  <a:tabLst>
                    <a:tab pos="895350" algn="l"/>
                  </a:tabLst>
                </a:pP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4.	Hence,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true by Strong MI.</a:t>
                </a:r>
                <a:endParaRPr lang="en-US" sz="20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15" y="1825468"/>
                <a:ext cx="10572576" cy="4038541"/>
              </a:xfrm>
              <a:prstGeom prst="rect">
                <a:avLst/>
              </a:prstGeom>
              <a:blipFill>
                <a:blip r:embed="rId3"/>
                <a:stretch>
                  <a:fillRect l="-634" t="-754" b="-1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9287919" y="274705"/>
            <a:ext cx="2395728" cy="400110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Using Strong MI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30933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Q8.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19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1372768" y="474760"/>
                <a:ext cx="10219824" cy="955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solidFill>
                      <a:srgbClr val="000099"/>
                    </a:solidFill>
                  </a:rPr>
                  <a:t>An interesting property of the Fibonacci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,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b="0" i="0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dirty="0">
                  <a:solidFill>
                    <a:srgbClr val="000099"/>
                  </a:solidFill>
                  <a:ea typeface="Cambria Math" panose="02040503050406030204" pitchFamily="18" charset="0"/>
                </a:endParaRPr>
              </a:p>
              <a:p>
                <a:pPr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≥0,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sz="2400" dirty="0">
                  <a:solidFill>
                    <a:srgbClr val="000099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68" y="474760"/>
                <a:ext cx="10219824" cy="955454"/>
              </a:xfrm>
              <a:prstGeom prst="rect">
                <a:avLst/>
              </a:prstGeom>
              <a:blipFill>
                <a:blip r:embed="rId2"/>
                <a:stretch>
                  <a:fillRect l="-894" t="-5096" b="-114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0014846" y="274705"/>
            <a:ext cx="1874629" cy="400110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Using Strong MI</a:t>
            </a:r>
            <a:endParaRPr lang="en-SG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FDBE8A-1A4D-4F52-8F80-E62FC47A498A}"/>
                  </a:ext>
                </a:extLst>
              </p:cNvPr>
              <p:cNvSpPr txBox="1"/>
              <p:nvPr/>
            </p:nvSpPr>
            <p:spPr>
              <a:xfrm>
                <a:off x="819398" y="1430214"/>
                <a:ext cx="780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34988" indent="-534988"/>
                <a:r>
                  <a:rPr lang="en-US" sz="2400" dirty="0">
                    <a:solidFill>
                      <a:srgbClr val="000099"/>
                    </a:solidFill>
                  </a:rPr>
                  <a:t>(a)	Prove the basis steps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(1,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 </a:t>
                </a:r>
                <a:endParaRPr lang="en-SG" sz="2400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FDBE8A-1A4D-4F52-8F80-E62FC47A4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398" y="1430214"/>
                <a:ext cx="7802088" cy="461665"/>
              </a:xfrm>
              <a:prstGeom prst="rect">
                <a:avLst/>
              </a:prstGeom>
              <a:blipFill>
                <a:blip r:embed="rId3"/>
                <a:stretch>
                  <a:fillRect l="-1172" t="-10667" b="-30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CB6CD1-DA97-4291-93AA-5309DDC84C0A}"/>
                  </a:ext>
                </a:extLst>
              </p:cNvPr>
              <p:cNvSpPr txBox="1"/>
              <p:nvPr/>
            </p:nvSpPr>
            <p:spPr>
              <a:xfrm>
                <a:off x="629415" y="1897397"/>
                <a:ext cx="11103406" cy="2081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0850" indent="-450850">
                  <a:tabLst>
                    <a:tab pos="1614488" algn="l"/>
                    <a:tab pos="6192838" algn="l"/>
                  </a:tabLst>
                </a:pPr>
                <a:r>
                  <a:rPr lang="en-US" sz="2400" dirty="0"/>
                  <a:t>1.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0+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450850" indent="-450850">
                  <a:tabLst>
                    <a:tab pos="1614488" algn="l"/>
                    <a:tab pos="6192838" algn="l"/>
                  </a:tabLst>
                </a:pPr>
                <a:r>
                  <a:rPr lang="en-US" sz="2400" dirty="0"/>
                  <a:t>2.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endParaRPr lang="en-US" sz="2400" dirty="0">
                  <a:solidFill>
                    <a:srgbClr val="0066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0850" indent="-450850">
                  <a:tabLst>
                    <a:tab pos="1614488" algn="l"/>
                    <a:tab pos="6192838" algn="l"/>
                  </a:tabLst>
                </a:pPr>
                <a:r>
                  <a:rPr lang="en-US" sz="2400" dirty="0">
                    <a:cs typeface="Calibri" panose="020F0502020204030204" pitchFamily="34" charset="0"/>
                  </a:rPr>
                  <a:t>3.	</a:t>
                </a:r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(1)=1 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d>
                      <m:dPr>
                        <m:ctrlPr>
                          <a:rPr lang="en-US" sz="24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e>
                    </m:d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endParaRPr lang="en-US" sz="2400" dirty="0">
                  <a:solidFill>
                    <a:srgbClr val="0066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0850" indent="-450850">
                  <a:tabLst>
                    <a:tab pos="1614488" algn="l"/>
                    <a:tab pos="6192838" algn="l"/>
                  </a:tabLs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	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0+1</m:t>
                            </m:r>
                          </m:e>
                        </m:d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</a:p>
              <a:p>
                <a:pPr marL="355600" indent="-355600">
                  <a:spcAft>
                    <a:spcPts val="600"/>
                  </a:spcAft>
                  <a:tabLst>
                    <a:tab pos="1614488" algn="l"/>
                    <a:tab pos="6103938" algn="l"/>
                  </a:tabLst>
                </a:pPr>
                <a:r>
                  <a:rPr lang="en-US" sz="2400" dirty="0"/>
                  <a:t>5.	Therefore,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true.`</a:t>
                </a:r>
                <a:endParaRPr lang="en-SG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CB6CD1-DA97-4291-93AA-5309DDC84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15" y="1897397"/>
                <a:ext cx="11103406" cy="2081532"/>
              </a:xfrm>
              <a:prstGeom prst="rect">
                <a:avLst/>
              </a:prstGeom>
              <a:blipFill>
                <a:blip r:embed="rId4"/>
                <a:stretch>
                  <a:fillRect l="-823" t="-2339" b="-555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97F55C-528E-4A7E-8C7C-CB6F478AC83A}"/>
                  </a:ext>
                </a:extLst>
              </p:cNvPr>
              <p:cNvSpPr txBox="1"/>
              <p:nvPr/>
            </p:nvSpPr>
            <p:spPr>
              <a:xfrm>
                <a:off x="629414" y="4201135"/>
                <a:ext cx="11103407" cy="2081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0850" indent="-450850">
                  <a:tabLst>
                    <a:tab pos="1614488" algn="l"/>
                    <a:tab pos="6192838" algn="l"/>
                  </a:tabLst>
                </a:pPr>
                <a:r>
                  <a:rPr lang="en-US" sz="2400" dirty="0"/>
                  <a:t>1.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450850" indent="-450850">
                  <a:tabLst>
                    <a:tab pos="1614488" algn="l"/>
                    <a:tab pos="6192838" algn="l"/>
                  </a:tabLst>
                </a:pPr>
                <a:r>
                  <a:rPr lang="en-US" sz="2400" dirty="0"/>
                  <a:t>2.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	by the definition of Fibonacci</a:t>
                </a:r>
              </a:p>
              <a:p>
                <a:pPr marL="450850" indent="-450850">
                  <a:tabLst>
                    <a:tab pos="1614488" algn="l"/>
                    <a:tab pos="6192838" algn="l"/>
                  </a:tabLst>
                </a:pPr>
                <a:r>
                  <a:rPr lang="en-US" sz="2400" dirty="0">
                    <a:cs typeface="Calibri" panose="020F0502020204030204" pitchFamily="34" charset="0"/>
                  </a:rPr>
                  <a:t>3.	</a:t>
                </a:r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(2)=1 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d>
                      <m:dPr>
                        <m:ctrlPr>
                          <a:rPr lang="en-US" sz="24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e>
                    </m:d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</m:oMath>
                </a14:m>
                <a:endParaRPr lang="en-US" sz="2400" dirty="0">
                  <a:solidFill>
                    <a:srgbClr val="0066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0850" indent="-450850">
                  <a:tabLst>
                    <a:tab pos="1614488" algn="l"/>
                    <a:tab pos="6192838" algn="l"/>
                  </a:tabLs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	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</a:p>
              <a:p>
                <a:pPr marL="355600" indent="-355600">
                  <a:spcAft>
                    <a:spcPts val="600"/>
                  </a:spcAft>
                  <a:tabLst>
                    <a:tab pos="1614488" algn="l"/>
                    <a:tab pos="6103938" algn="l"/>
                  </a:tabLst>
                </a:pPr>
                <a:r>
                  <a:rPr lang="en-US" sz="2400" dirty="0"/>
                  <a:t>5.	Therefore,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(1,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true.</a:t>
                </a:r>
                <a:endParaRPr lang="en-SG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97F55C-528E-4A7E-8C7C-CB6F478AC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14" y="4201135"/>
                <a:ext cx="11103407" cy="2081532"/>
              </a:xfrm>
              <a:prstGeom prst="rect">
                <a:avLst/>
              </a:prstGeom>
              <a:blipFill>
                <a:blip r:embed="rId5"/>
                <a:stretch>
                  <a:fillRect l="-823" t="-2339" b="-555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94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Q8.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20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1372768" y="474760"/>
                <a:ext cx="10219824" cy="955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solidFill>
                      <a:srgbClr val="000099"/>
                    </a:solidFill>
                  </a:rPr>
                  <a:t>An interesting property of the Fibonacci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,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b="0" i="0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dirty="0">
                  <a:solidFill>
                    <a:srgbClr val="000099"/>
                  </a:solidFill>
                  <a:ea typeface="Cambria Math" panose="02040503050406030204" pitchFamily="18" charset="0"/>
                </a:endParaRPr>
              </a:p>
              <a:p>
                <a:pPr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≥0,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sz="2400" dirty="0">
                  <a:solidFill>
                    <a:srgbClr val="000099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68" y="474760"/>
                <a:ext cx="10219824" cy="955454"/>
              </a:xfrm>
              <a:prstGeom prst="rect">
                <a:avLst/>
              </a:prstGeom>
              <a:blipFill>
                <a:blip r:embed="rId2"/>
                <a:stretch>
                  <a:fillRect l="-894" t="-5096" b="-114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FDBE8A-1A4D-4F52-8F80-E62FC47A498A}"/>
                  </a:ext>
                </a:extLst>
              </p:cNvPr>
              <p:cNvSpPr txBox="1"/>
              <p:nvPr/>
            </p:nvSpPr>
            <p:spPr>
              <a:xfrm>
                <a:off x="819398" y="1430214"/>
                <a:ext cx="9765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34988" indent="-534988">
                  <a:buAutoNum type="alphaLcParenBoth" startAt="2"/>
                </a:pPr>
                <a:r>
                  <a:rPr lang="en-US" sz="2400" dirty="0">
                    <a:solidFill>
                      <a:srgbClr val="000099"/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 Prove: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)∧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+1,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</a:t>
                </a:r>
                <a:endParaRPr lang="en-SG" sz="2400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FDBE8A-1A4D-4F52-8F80-E62FC47A4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398" y="1430214"/>
                <a:ext cx="9765776" cy="461665"/>
              </a:xfrm>
              <a:prstGeom prst="rect">
                <a:avLst/>
              </a:prstGeom>
              <a:blipFill>
                <a:blip r:embed="rId3"/>
                <a:stretch>
                  <a:fillRect l="-999" t="-13333" b="-30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9F969F-6450-442A-9E89-4B1240F90717}"/>
                  </a:ext>
                </a:extLst>
              </p:cNvPr>
              <p:cNvSpPr txBox="1"/>
              <p:nvPr/>
            </p:nvSpPr>
            <p:spPr>
              <a:xfrm>
                <a:off x="314663" y="1878178"/>
                <a:ext cx="11574812" cy="4864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5600" indent="-355600">
                  <a:spcAft>
                    <a:spcPts val="600"/>
                  </a:spcAft>
                </a:pPr>
                <a:r>
                  <a:rPr lang="en-US" sz="2000" dirty="0"/>
                  <a:t>1.	</a:t>
                </a:r>
                <a:r>
                  <a:rPr lang="en-US" sz="2000" dirty="0">
                    <a:solidFill>
                      <a:srgbClr val="7030A0"/>
                    </a:solidFill>
                  </a:rPr>
                  <a:t>(Basis step)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(1,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proved in part (a).</a:t>
                </a:r>
              </a:p>
              <a:p>
                <a:pPr marL="355600" indent="-355600">
                  <a:spcAft>
                    <a:spcPts val="600"/>
                  </a:spcAft>
                </a:pPr>
                <a:r>
                  <a:rPr lang="en-SG" sz="2000" dirty="0"/>
                  <a:t>2.	</a:t>
                </a:r>
                <a:r>
                  <a:rPr lang="en-SG" sz="2000" dirty="0">
                    <a:solidFill>
                      <a:srgbClr val="7030A0"/>
                    </a:solidFill>
                  </a:rPr>
                  <a:t>(Inductive step)</a:t>
                </a:r>
              </a:p>
              <a:p>
                <a:pPr marL="744538" indent="-473075">
                  <a:spcAft>
                    <a:spcPts val="600"/>
                  </a:spcAft>
                  <a:tabLst>
                    <a:tab pos="8428038" algn="l"/>
                  </a:tabLst>
                </a:pPr>
                <a:r>
                  <a:rPr lang="en-US" sz="2000" dirty="0"/>
                  <a:t>2.1. 	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dirty="0"/>
                  <a:t>.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 such that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744538" indent="-473075">
                  <a:spcAft>
                    <a:spcPts val="600"/>
                  </a:spcAft>
                  <a:tabLst>
                    <a:tab pos="8428038" algn="l"/>
                  </a:tabLst>
                </a:pPr>
                <a:r>
                  <a:rPr lang="en-US" sz="2000" dirty="0"/>
                  <a:t>2.2.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2000" dirty="0"/>
                  <a:t>  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basic algebra</a:t>
                </a:r>
                <a:endParaRPr lang="en-SG" sz="2000" dirty="0">
                  <a:solidFill>
                    <a:srgbClr val="006600"/>
                  </a:solidFill>
                </a:endParaRPr>
              </a:p>
              <a:p>
                <a:pPr marL="744538" indent="-473075">
                  <a:spcAft>
                    <a:spcPts val="600"/>
                  </a:spcAft>
                  <a:tabLst>
                    <a:tab pos="712788" algn="l"/>
                    <a:tab pos="8431213" algn="l"/>
                  </a:tabLst>
                </a:pPr>
                <a:r>
                  <a:rPr lang="en-US" sz="2000" dirty="0"/>
                  <a:t>2.3.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000" dirty="0"/>
                  <a:t>  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 </a:t>
                </a:r>
                <a:endParaRPr lang="en-SG" sz="2000" dirty="0"/>
              </a:p>
              <a:p>
                <a:pPr marL="744538" indent="-473075">
                  <a:spcAft>
                    <a:spcPts val="600"/>
                  </a:spcAft>
                  <a:tabLst>
                    <a:tab pos="712788" algn="l"/>
                    <a:tab pos="8431213" algn="l"/>
                  </a:tabLst>
                </a:pPr>
                <a:r>
                  <a:rPr lang="en-US" sz="2000" dirty="0"/>
                  <a:t>2.4.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hypothesis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sz="2000" dirty="0">
                  <a:solidFill>
                    <a:srgbClr val="006600"/>
                  </a:solidFill>
                </a:endParaRPr>
              </a:p>
              <a:p>
                <a:pPr marL="744538" indent="-473075">
                  <a:spcAft>
                    <a:spcPts val="600"/>
                  </a:spcAft>
                  <a:tabLst>
                    <a:tab pos="712788" algn="l"/>
                    <a:tab pos="8431213" algn="l"/>
                  </a:tabLst>
                </a:pPr>
                <a:r>
                  <a:rPr lang="en-US" sz="2000" dirty="0"/>
                  <a:t>2.5.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+1)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−1))+</m:t>
                    </m:r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hypothesis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sz="2000" dirty="0">
                  <a:solidFill>
                    <a:srgbClr val="006600"/>
                  </a:solidFill>
                </a:endParaRPr>
              </a:p>
              <a:p>
                <a:pPr marL="744538" indent="-473075">
                  <a:spcAft>
                    <a:spcPts val="600"/>
                  </a:spcAft>
                  <a:tabLst>
                    <a:tab pos="712788" algn="l"/>
                    <a:tab pos="8431213" algn="l"/>
                  </a:tabLst>
                </a:pPr>
                <a:r>
                  <a:rPr lang="en-US" sz="2000" dirty="0"/>
                  <a:t>2.6.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basic algebra</a:t>
                </a:r>
                <a:endParaRPr lang="en-SG" sz="2000" dirty="0">
                  <a:solidFill>
                    <a:srgbClr val="006600"/>
                  </a:solidFill>
                </a:endParaRPr>
              </a:p>
              <a:p>
                <a:pPr marL="744538" indent="-473075">
                  <a:spcAft>
                    <a:spcPts val="600"/>
                  </a:spcAft>
                  <a:tabLst>
                    <a:tab pos="712788" algn="l"/>
                    <a:tab pos="8431213" algn="l"/>
                  </a:tabLst>
                </a:pPr>
                <a:r>
                  <a:rPr lang="en-US" sz="2000" dirty="0"/>
                  <a:t>2.7.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distributive law x2</a:t>
                </a:r>
                <a:endParaRPr lang="en-SG" sz="2000" dirty="0">
                  <a:solidFill>
                    <a:srgbClr val="006600"/>
                  </a:solidFill>
                </a:endParaRPr>
              </a:p>
              <a:p>
                <a:pPr marL="744538" indent="-473075">
                  <a:spcAft>
                    <a:spcPts val="600"/>
                  </a:spcAft>
                  <a:tabLst>
                    <a:tab pos="712788" algn="l"/>
                    <a:tab pos="8431213" algn="l"/>
                  </a:tabLst>
                </a:pPr>
                <a:r>
                  <a:rPr lang="en-US" sz="2000" dirty="0"/>
                  <a:t>2.8.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+2)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000" dirty="0"/>
                  <a:t>   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SG" sz="2000" dirty="0">
                  <a:solidFill>
                    <a:srgbClr val="006600"/>
                  </a:solidFill>
                </a:endParaRPr>
              </a:p>
              <a:p>
                <a:pPr marL="744538" indent="-473075">
                  <a:spcAft>
                    <a:spcPts val="600"/>
                  </a:spcAft>
                  <a:tabLst>
                    <a:tab pos="8428038" algn="l"/>
                  </a:tabLst>
                </a:pPr>
                <a:r>
                  <a:rPr lang="en-US" sz="2000" dirty="0"/>
                  <a:t>2.9.	Hence,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true.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SG" sz="2000" dirty="0">
                  <a:solidFill>
                    <a:srgbClr val="006600"/>
                  </a:solidFill>
                </a:endParaRPr>
              </a:p>
              <a:p>
                <a:pPr marL="355600" indent="-355600">
                  <a:spcAft>
                    <a:spcPts val="600"/>
                  </a:spcAft>
                </a:pPr>
                <a:r>
                  <a:rPr lang="en-US" sz="2000" dirty="0"/>
                  <a:t>3.	Therefore,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for all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SG" sz="2000" dirty="0"/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9F969F-6450-442A-9E89-4B1240F90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63" y="1878178"/>
                <a:ext cx="11574812" cy="4864858"/>
              </a:xfrm>
              <a:prstGeom prst="rect">
                <a:avLst/>
              </a:prstGeom>
              <a:blipFill>
                <a:blip r:embed="rId4"/>
                <a:stretch>
                  <a:fillRect l="-580" t="-62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0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94BAC-D6DF-4D7B-BD6E-A47F1A0DA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53636BA-1DB8-4787-8392-C7DA11464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Q9.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3" name="Picture 2" descr="A wooden pyramid with a stick&#10;&#10;AI-generated content may be incorrect.">
            <a:extLst>
              <a:ext uri="{FF2B5EF4-FFF2-40B4-BE49-F238E27FC236}">
                <a16:creationId xmlns:a16="http://schemas.microsoft.com/office/drawing/2014/main" id="{2E1920BC-7CB6-61E2-5CB7-6B7F2C544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457" y="625114"/>
            <a:ext cx="3143250" cy="13811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F79849-7CC6-7A18-1633-B0F4AA50EC3C}"/>
                  </a:ext>
                </a:extLst>
              </p:cNvPr>
              <p:cNvSpPr txBox="1"/>
              <p:nvPr/>
            </p:nvSpPr>
            <p:spPr>
              <a:xfrm>
                <a:off x="1423096" y="522614"/>
                <a:ext cx="6864255" cy="1608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US" sz="2400" dirty="0">
                    <a:solidFill>
                      <a:srgbClr val="000099"/>
                    </a:solidFill>
                  </a:rPr>
                  <a:t>Tower </a:t>
                </a:r>
                <a:r>
                  <a:rPr lang="en-US" sz="2400">
                    <a:solidFill>
                      <a:srgbClr val="000099"/>
                    </a:solidFill>
                  </a:rPr>
                  <a:t>of Hanoi</a:t>
                </a:r>
                <a:endParaRPr lang="en-US" sz="2400" dirty="0">
                  <a:solidFill>
                    <a:srgbClr val="000099"/>
                  </a:solidFill>
                </a:endParaRPr>
              </a:p>
              <a:p>
                <a:pPr>
                  <a:spcAft>
                    <a:spcPts val="300"/>
                  </a:spcAft>
                </a:pPr>
                <a:r>
                  <a:rPr lang="en-US" sz="2400" dirty="0">
                    <a:solidFill>
                      <a:srgbClr val="000099"/>
                    </a:solidFill>
                  </a:rPr>
                  <a:t>Prove that the number of moves,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, to transfer the entire stack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 disks from one peg to another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</a:t>
                </a:r>
                <a:endParaRPr lang="en-US" sz="3200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F79849-7CC6-7A18-1633-B0F4AA50E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96" y="522614"/>
                <a:ext cx="6864255" cy="1608133"/>
              </a:xfrm>
              <a:prstGeom prst="rect">
                <a:avLst/>
              </a:prstGeom>
              <a:blipFill>
                <a:blip r:embed="rId3"/>
                <a:stretch>
                  <a:fillRect l="-1332" t="-3030" r="-888"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A302AF-1596-4E07-D0C3-91355675DADF}"/>
                  </a:ext>
                </a:extLst>
              </p:cNvPr>
              <p:cNvSpPr txBox="1"/>
              <p:nvPr/>
            </p:nvSpPr>
            <p:spPr>
              <a:xfrm>
                <a:off x="1180078" y="2150890"/>
                <a:ext cx="9319194" cy="3936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1963" indent="-461963">
                  <a:spcAft>
                    <a:spcPts val="600"/>
                  </a:spcAft>
                </a:pPr>
                <a:r>
                  <a:rPr lang="en-US" sz="2000" dirty="0"/>
                  <a:t>1.	For each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,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1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461963" indent="-461963">
                  <a:spcAft>
                    <a:spcPts val="600"/>
                  </a:spcAft>
                </a:pPr>
                <a:r>
                  <a:rPr lang="en-US" sz="2000" dirty="0"/>
                  <a:t>2.	</a:t>
                </a:r>
                <a:r>
                  <a:rPr lang="en-US" sz="2000" dirty="0">
                    <a:solidFill>
                      <a:srgbClr val="7030A0"/>
                    </a:solidFill>
                  </a:rPr>
                  <a:t>(Basis step)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(1)=1</m:t>
                    </m:r>
                  </m:oMath>
                </a14:m>
                <a:r>
                  <a:rPr lang="en-US" sz="2000" dirty="0"/>
                  <a:t> as we need to move the single disk once, hence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000" dirty="0"/>
                  <a:t> is true.</a:t>
                </a:r>
              </a:p>
              <a:p>
                <a:pPr marL="461963" indent="-461963"/>
                <a:r>
                  <a:rPr lang="en-US" sz="2000" dirty="0"/>
                  <a:t>3.	</a:t>
                </a:r>
                <a:r>
                  <a:rPr lang="en-US" sz="2000" dirty="0">
                    <a:solidFill>
                      <a:srgbClr val="7030A0"/>
                    </a:solidFill>
                  </a:rPr>
                  <a:t>(Inductive step)</a:t>
                </a:r>
              </a:p>
              <a:p>
                <a:pPr marL="1087438" indent="-625475">
                  <a:spcAft>
                    <a:spcPts val="600"/>
                  </a:spcAft>
                </a:pPr>
                <a:r>
                  <a:rPr lang="en-US" sz="2000" dirty="0"/>
                  <a:t>3.1.	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true, i.e.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1087438" indent="-625475">
                  <a:spcAft>
                    <a:spcPts val="600"/>
                  </a:spcAft>
                </a:pPr>
                <a:r>
                  <a:rPr lang="en-US" sz="2000" dirty="0"/>
                  <a:t>3.2.	To move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 disks from source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to target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using auxiliary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1771650" indent="-684213">
                  <a:spcAft>
                    <a:spcPts val="600"/>
                  </a:spcAft>
                </a:pPr>
                <a:r>
                  <a:rPr lang="en-US" sz="2000" dirty="0"/>
                  <a:t>3.2.1.	Move the top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disks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: This takes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move 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</a:t>
                </a:r>
                <a:r>
                  <a:rPr lang="en-US" sz="2000" dirty="0" err="1">
                    <a:solidFill>
                      <a:srgbClr val="006600"/>
                    </a:solidFill>
                  </a:rPr>
                  <a:t>IH</a:t>
                </a:r>
                <a:r>
                  <a:rPr lang="en-US" sz="2000" dirty="0"/>
                  <a:t>.</a:t>
                </a:r>
              </a:p>
              <a:p>
                <a:pPr marL="1771650" indent="-684213">
                  <a:spcAft>
                    <a:spcPts val="600"/>
                  </a:spcAft>
                </a:pPr>
                <a:r>
                  <a:rPr lang="en-US" sz="2000" dirty="0"/>
                  <a:t>3.2.2.	Move the largest disk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: This takes 1 move.</a:t>
                </a:r>
              </a:p>
              <a:p>
                <a:pPr marL="1771650" indent="-684213">
                  <a:spcAft>
                    <a:spcPts val="600"/>
                  </a:spcAft>
                </a:pPr>
                <a:r>
                  <a:rPr lang="en-US" sz="2000" dirty="0"/>
                  <a:t>3.2.3.	Move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disks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: This takes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move 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</a:t>
                </a:r>
                <a:r>
                  <a:rPr lang="en-US" sz="2000" dirty="0" err="1">
                    <a:solidFill>
                      <a:srgbClr val="006600"/>
                    </a:solidFill>
                  </a:rPr>
                  <a:t>IH</a:t>
                </a:r>
                <a:r>
                  <a:rPr lang="en-US" sz="2000" dirty="0"/>
                  <a:t>.</a:t>
                </a:r>
              </a:p>
              <a:p>
                <a:pPr marL="1087438" indent="-625475">
                  <a:spcAft>
                    <a:spcPts val="600"/>
                  </a:spcAft>
                </a:pPr>
                <a:r>
                  <a:rPr lang="en-US" sz="2000" dirty="0"/>
                  <a:t>3.3.	Hence, total moves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+1+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461963" indent="-461963">
                  <a:spcAft>
                    <a:spcPts val="600"/>
                  </a:spcAft>
                </a:pPr>
                <a:r>
                  <a:rPr lang="en-US" sz="2000" dirty="0"/>
                  <a:t>4.	Therefore,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true 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MI</a:t>
                </a:r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A302AF-1596-4E07-D0C3-91355675D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078" y="2150890"/>
                <a:ext cx="9319194" cy="3936655"/>
              </a:xfrm>
              <a:prstGeom prst="rect">
                <a:avLst/>
              </a:prstGeom>
              <a:blipFill>
                <a:blip r:embed="rId4"/>
                <a:stretch>
                  <a:fillRect l="-720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03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2E2C1-3F73-3002-E7B9-9F11E9296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D7E75-6B0E-CE4B-8400-198E86A0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C02E9A4-A720-2431-205F-3B83A368F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Q9.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3" name="Picture 2" descr="A wooden pyramid with a stick&#10;&#10;AI-generated content may be incorrect.">
            <a:extLst>
              <a:ext uri="{FF2B5EF4-FFF2-40B4-BE49-F238E27FC236}">
                <a16:creationId xmlns:a16="http://schemas.microsoft.com/office/drawing/2014/main" id="{C67B2D70-264A-261A-DB77-861218DB2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457" y="625114"/>
            <a:ext cx="3143250" cy="13811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CC011D-96AE-C99D-437A-773D9196B158}"/>
                  </a:ext>
                </a:extLst>
              </p:cNvPr>
              <p:cNvSpPr txBox="1"/>
              <p:nvPr/>
            </p:nvSpPr>
            <p:spPr>
              <a:xfrm>
                <a:off x="1423096" y="522614"/>
                <a:ext cx="6864255" cy="1608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US" sz="2400" dirty="0">
                    <a:solidFill>
                      <a:srgbClr val="000099"/>
                    </a:solidFill>
                  </a:rPr>
                  <a:t>Tower </a:t>
                </a:r>
                <a:r>
                  <a:rPr lang="en-US" sz="2400">
                    <a:solidFill>
                      <a:srgbClr val="000099"/>
                    </a:solidFill>
                  </a:rPr>
                  <a:t>of Hanoi</a:t>
                </a:r>
                <a:endParaRPr lang="en-US" sz="2400" dirty="0">
                  <a:solidFill>
                    <a:srgbClr val="000099"/>
                  </a:solidFill>
                </a:endParaRPr>
              </a:p>
              <a:p>
                <a:pPr>
                  <a:spcAft>
                    <a:spcPts val="300"/>
                  </a:spcAft>
                </a:pPr>
                <a:r>
                  <a:rPr lang="en-US" sz="2400" dirty="0">
                    <a:solidFill>
                      <a:srgbClr val="000099"/>
                    </a:solidFill>
                  </a:rPr>
                  <a:t>Prove that the number of moves,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, to transfer the entire stack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 disks from one peg to another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</a:t>
                </a:r>
                <a:endParaRPr lang="en-US" sz="3200" dirty="0">
                  <a:solidFill>
                    <a:srgbClr val="000099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CC011D-96AE-C99D-437A-773D9196B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96" y="522614"/>
                <a:ext cx="6864255" cy="1608133"/>
              </a:xfrm>
              <a:prstGeom prst="rect">
                <a:avLst/>
              </a:prstGeom>
              <a:blipFill>
                <a:blip r:embed="rId3"/>
                <a:stretch>
                  <a:fillRect l="-1332" t="-3030" r="-888" b="-7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9230921-ABF2-F711-5782-FE13DDADB32D}"/>
              </a:ext>
            </a:extLst>
          </p:cNvPr>
          <p:cNvSpPr txBox="1"/>
          <p:nvPr/>
        </p:nvSpPr>
        <p:spPr>
          <a:xfrm>
            <a:off x="718034" y="2560762"/>
            <a:ext cx="977678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b="1" dirty="0"/>
              <a:t>Actually, you’ve just somewhat defined the optimal solution. </a:t>
            </a:r>
            <a:r>
              <a:rPr lang="en-SG" sz="2800" dirty="0"/>
              <a:t>There is more nuance to be had here given the space ‘availability’ after each step from 3.2.1 – 3.2.2, but it is omitted here, and its correctness is relatively trivial to prove nonetheless.</a:t>
            </a:r>
          </a:p>
          <a:p>
            <a:endParaRPr lang="en-SG" sz="2800" dirty="0"/>
          </a:p>
          <a:p>
            <a:r>
              <a:rPr lang="en-SG" sz="2800" dirty="0"/>
              <a:t>The learning point here is how to use MI more than to solve the problem.</a:t>
            </a:r>
          </a:p>
          <a:p>
            <a:endParaRPr lang="en-SG" sz="2800" dirty="0"/>
          </a:p>
          <a:p>
            <a:r>
              <a:rPr lang="en-SG" dirty="0"/>
              <a:t>Maybe you’ll re-encounter this in CS2040S?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0564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94BAC-D6DF-4D7B-BD6E-A47F1A0DA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53636BA-1DB8-4787-8392-C7DA11464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2B0F94-278B-41F5-883D-15B90AF0F257}"/>
                  </a:ext>
                </a:extLst>
              </p:cNvPr>
              <p:cNvSpPr txBox="1"/>
              <p:nvPr/>
            </p:nvSpPr>
            <p:spPr>
              <a:xfrm>
                <a:off x="4683910" y="319049"/>
                <a:ext cx="7080597" cy="1508105"/>
              </a:xfrm>
              <a:prstGeom prst="rect">
                <a:avLst/>
              </a:prstGeom>
              <a:no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Define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recursively as follows: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(a)	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	</a:t>
                </a:r>
                <a:r>
                  <a:rPr lang="en-US" dirty="0">
                    <a:solidFill>
                      <a:srgbClr val="006600"/>
                    </a:solidFill>
                  </a:rPr>
                  <a:t>(base clause)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(b)	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	</a:t>
                </a:r>
                <a:r>
                  <a:rPr lang="en-US" dirty="0">
                    <a:solidFill>
                      <a:srgbClr val="006600"/>
                    </a:solidFill>
                  </a:rPr>
                  <a:t>(recursion clause)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(c)	Membership for S can always be demonstrated by (finitely many) successive applications of clauses above.	</a:t>
                </a:r>
                <a:r>
                  <a:rPr lang="en-US" dirty="0">
                    <a:solidFill>
                      <a:srgbClr val="006600"/>
                    </a:solidFill>
                  </a:rPr>
                  <a:t>(</a:t>
                </a:r>
                <a:r>
                  <a:rPr lang="en-US" dirty="0" err="1">
                    <a:solidFill>
                      <a:srgbClr val="006600"/>
                    </a:solidFill>
                  </a:rPr>
                  <a:t>minimality</a:t>
                </a:r>
                <a:r>
                  <a:rPr lang="en-US" dirty="0">
                    <a:solidFill>
                      <a:srgbClr val="006600"/>
                    </a:solidFill>
                  </a:rPr>
                  <a:t> clause)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2B0F94-278B-41F5-883D-15B90AF0F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910" y="319049"/>
                <a:ext cx="7080597" cy="1508105"/>
              </a:xfrm>
              <a:prstGeom prst="rect">
                <a:avLst/>
              </a:prstGeom>
              <a:blipFill>
                <a:blip r:embed="rId2"/>
                <a:stretch>
                  <a:fillRect l="-773" t="-1600" b="-4800"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7B480A-827F-4215-8A04-70117D748DF9}"/>
                  </a:ext>
                </a:extLst>
              </p:cNvPr>
              <p:cNvSpPr txBox="1"/>
              <p:nvPr/>
            </p:nvSpPr>
            <p:spPr>
              <a:xfrm>
                <a:off x="1547630" y="520055"/>
                <a:ext cx="32217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solidFill>
                      <a:srgbClr val="000099"/>
                    </a:solidFill>
                  </a:rPr>
                  <a:t>Which of the numbers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0,6,15,16,36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 are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? Which are not?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7B480A-827F-4215-8A04-70117D748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30" y="520055"/>
                <a:ext cx="3221736" cy="1200329"/>
              </a:xfrm>
              <a:prstGeom prst="rect">
                <a:avLst/>
              </a:prstGeom>
              <a:blipFill>
                <a:blip r:embed="rId3"/>
                <a:stretch>
                  <a:fillRect l="-3030" t="-4061" b="-1066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2040389" y="3403701"/>
            <a:ext cx="1507066" cy="1638859"/>
            <a:chOff x="1615570" y="2834533"/>
            <a:chExt cx="1507066" cy="1638859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1615570" y="3836291"/>
              <a:ext cx="1507066" cy="6371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/>
            <p:cNvCxnSpPr/>
            <p:nvPr/>
          </p:nvCxnSpPr>
          <p:spPr>
            <a:xfrm flipV="1">
              <a:off x="1615570" y="2834533"/>
              <a:ext cx="1488077" cy="65722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/>
                <p:nvPr/>
              </p:nvSpPr>
              <p:spPr>
                <a:xfrm>
                  <a:off x="1934610" y="3086458"/>
                  <a:ext cx="647699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10" y="3086458"/>
                  <a:ext cx="647699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/>
                <p:nvPr/>
              </p:nvSpPr>
              <p:spPr>
                <a:xfrm>
                  <a:off x="1934610" y="3779925"/>
                  <a:ext cx="647699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10" y="3779925"/>
                  <a:ext cx="647699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BEA7A21-5AFE-4BB1-9C71-335E265E39E1}"/>
              </a:ext>
            </a:extLst>
          </p:cNvPr>
          <p:cNvSpPr txBox="1"/>
          <p:nvPr/>
        </p:nvSpPr>
        <p:spPr>
          <a:xfrm>
            <a:off x="1433803" y="3852129"/>
            <a:ext cx="571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GB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5C5204-3808-4737-97CF-08AE08E3962A}"/>
              </a:ext>
            </a:extLst>
          </p:cNvPr>
          <p:cNvSpPr txBox="1"/>
          <p:nvPr/>
        </p:nvSpPr>
        <p:spPr>
          <a:xfrm>
            <a:off x="3568356" y="2944192"/>
            <a:ext cx="571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endParaRPr lang="en-GB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4187295" y="2651155"/>
            <a:ext cx="1507066" cy="1155132"/>
            <a:chOff x="1615570" y="3086458"/>
            <a:chExt cx="1507066" cy="1155132"/>
          </a:xfrm>
        </p:grpSpPr>
        <p:cxnSp>
          <p:nvCxnSpPr>
            <p:cNvPr id="50" name="Straight Arrow Connector 49"/>
            <p:cNvCxnSpPr/>
            <p:nvPr/>
          </p:nvCxnSpPr>
          <p:spPr>
            <a:xfrm>
              <a:off x="1615570" y="3836291"/>
              <a:ext cx="1507066" cy="2780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V="1">
              <a:off x="1615570" y="3105780"/>
              <a:ext cx="1487663" cy="3859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/>
                <p:nvPr/>
              </p:nvSpPr>
              <p:spPr>
                <a:xfrm>
                  <a:off x="1934610" y="3086458"/>
                  <a:ext cx="647699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10" y="3086458"/>
                  <a:ext cx="647699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/>
                <p:nvPr/>
              </p:nvSpPr>
              <p:spPr>
                <a:xfrm>
                  <a:off x="1934610" y="3779925"/>
                  <a:ext cx="647699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10" y="3779925"/>
                  <a:ext cx="64769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85C5204-3808-4737-97CF-08AE08E3962A}"/>
              </a:ext>
            </a:extLst>
          </p:cNvPr>
          <p:cNvSpPr txBox="1"/>
          <p:nvPr/>
        </p:nvSpPr>
        <p:spPr>
          <a:xfrm>
            <a:off x="5663839" y="2190228"/>
            <a:ext cx="763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dirty="0">
                <a:latin typeface="Cambria" panose="02040503050406030204" pitchFamily="18" charset="0"/>
                <a:ea typeface="Cambria" panose="02040503050406030204" pitchFamily="18" charset="0"/>
              </a:rPr>
              <a:t>18</a:t>
            </a:r>
            <a:endParaRPr lang="en-GB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915730-7F47-4EEB-88D1-8623D844CAB0}"/>
              </a:ext>
            </a:extLst>
          </p:cNvPr>
          <p:cNvSpPr txBox="1"/>
          <p:nvPr/>
        </p:nvSpPr>
        <p:spPr>
          <a:xfrm>
            <a:off x="5646891" y="3305693"/>
            <a:ext cx="780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dirty="0">
                <a:latin typeface="Cambria" panose="02040503050406030204" pitchFamily="18" charset="0"/>
                <a:ea typeface="Cambria" panose="02040503050406030204" pitchFamily="18" charset="0"/>
              </a:rPr>
              <a:t>36</a:t>
            </a:r>
            <a:endParaRPr lang="en-GB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5C5204-3808-4737-97CF-08AE08E3962A}"/>
              </a:ext>
            </a:extLst>
          </p:cNvPr>
          <p:cNvSpPr txBox="1"/>
          <p:nvPr/>
        </p:nvSpPr>
        <p:spPr>
          <a:xfrm>
            <a:off x="3568356" y="4791415"/>
            <a:ext cx="571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en-GB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4187295" y="4689491"/>
            <a:ext cx="1507066" cy="1155132"/>
            <a:chOff x="1615570" y="3086458"/>
            <a:chExt cx="1507066" cy="1155132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615570" y="3836291"/>
              <a:ext cx="1507066" cy="2780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V="1">
              <a:off x="1615570" y="3105780"/>
              <a:ext cx="1487663" cy="3859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/>
                <p:nvPr/>
              </p:nvSpPr>
              <p:spPr>
                <a:xfrm>
                  <a:off x="1934610" y="3086458"/>
                  <a:ext cx="647699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10" y="3086458"/>
                  <a:ext cx="647699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/>
                <p:nvPr/>
              </p:nvSpPr>
              <p:spPr>
                <a:xfrm>
                  <a:off x="1934610" y="3779925"/>
                  <a:ext cx="647699" cy="46166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10" y="3779925"/>
                  <a:ext cx="647699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185C5204-3808-4737-97CF-08AE08E3962A}"/>
              </a:ext>
            </a:extLst>
          </p:cNvPr>
          <p:cNvSpPr txBox="1"/>
          <p:nvPr/>
        </p:nvSpPr>
        <p:spPr>
          <a:xfrm>
            <a:off x="5663839" y="4322281"/>
            <a:ext cx="763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dirty="0"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  <a:endParaRPr lang="en-GB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915730-7F47-4EEB-88D1-8623D844CAB0}"/>
              </a:ext>
            </a:extLst>
          </p:cNvPr>
          <p:cNvSpPr txBox="1"/>
          <p:nvPr/>
        </p:nvSpPr>
        <p:spPr>
          <a:xfrm>
            <a:off x="5646891" y="5437746"/>
            <a:ext cx="780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dirty="0"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  <a:endParaRPr lang="en-GB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6457564" y="2118388"/>
            <a:ext cx="1487663" cy="876242"/>
            <a:chOff x="1615570" y="3174151"/>
            <a:chExt cx="1487663" cy="876242"/>
          </a:xfrm>
        </p:grpSpPr>
        <p:cxnSp>
          <p:nvCxnSpPr>
            <p:cNvPr id="70" name="Straight Arrow Connector 69"/>
            <p:cNvCxnSpPr/>
            <p:nvPr/>
          </p:nvCxnSpPr>
          <p:spPr>
            <a:xfrm>
              <a:off x="1615570" y="3734524"/>
              <a:ext cx="1487663" cy="1190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 flipV="1">
              <a:off x="1615570" y="3335813"/>
              <a:ext cx="1487663" cy="1559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/>
                <p:nvPr/>
              </p:nvSpPr>
              <p:spPr>
                <a:xfrm>
                  <a:off x="1934609" y="3174151"/>
                  <a:ext cx="647699" cy="40011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09" y="3174151"/>
                  <a:ext cx="647699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/>
                <p:nvPr/>
              </p:nvSpPr>
              <p:spPr>
                <a:xfrm>
                  <a:off x="1934610" y="3650283"/>
                  <a:ext cx="647699" cy="40011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10" y="3650283"/>
                  <a:ext cx="647699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Group 83"/>
          <p:cNvGrpSpPr/>
          <p:nvPr/>
        </p:nvGrpSpPr>
        <p:grpSpPr>
          <a:xfrm>
            <a:off x="6457564" y="3214330"/>
            <a:ext cx="1487663" cy="876242"/>
            <a:chOff x="1615570" y="3174151"/>
            <a:chExt cx="1487663" cy="876242"/>
          </a:xfrm>
        </p:grpSpPr>
        <p:cxnSp>
          <p:nvCxnSpPr>
            <p:cNvPr id="85" name="Straight Arrow Connector 84"/>
            <p:cNvCxnSpPr/>
            <p:nvPr/>
          </p:nvCxnSpPr>
          <p:spPr>
            <a:xfrm>
              <a:off x="1615570" y="3734524"/>
              <a:ext cx="1487663" cy="1190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V="1">
              <a:off x="1615570" y="3335813"/>
              <a:ext cx="1487663" cy="1559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/>
                <p:nvPr/>
              </p:nvSpPr>
              <p:spPr>
                <a:xfrm>
                  <a:off x="1934609" y="3174151"/>
                  <a:ext cx="647699" cy="40011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09" y="3174151"/>
                  <a:ext cx="647699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/>
                <p:nvPr/>
              </p:nvSpPr>
              <p:spPr>
                <a:xfrm>
                  <a:off x="1934610" y="3650283"/>
                  <a:ext cx="647699" cy="40011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10" y="3650283"/>
                  <a:ext cx="647699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9" name="Group 88"/>
          <p:cNvGrpSpPr/>
          <p:nvPr/>
        </p:nvGrpSpPr>
        <p:grpSpPr>
          <a:xfrm>
            <a:off x="6457564" y="4307591"/>
            <a:ext cx="1487663" cy="876242"/>
            <a:chOff x="1615570" y="3174151"/>
            <a:chExt cx="1487663" cy="876242"/>
          </a:xfrm>
        </p:grpSpPr>
        <p:cxnSp>
          <p:nvCxnSpPr>
            <p:cNvPr id="90" name="Straight Arrow Connector 89"/>
            <p:cNvCxnSpPr/>
            <p:nvPr/>
          </p:nvCxnSpPr>
          <p:spPr>
            <a:xfrm>
              <a:off x="1615570" y="3734524"/>
              <a:ext cx="1487663" cy="1190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V="1">
              <a:off x="1615570" y="3335813"/>
              <a:ext cx="1487663" cy="1559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/>
                <p:nvPr/>
              </p:nvSpPr>
              <p:spPr>
                <a:xfrm>
                  <a:off x="1934609" y="3174151"/>
                  <a:ext cx="647699" cy="40011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09" y="3174151"/>
                  <a:ext cx="647699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/>
                <p:nvPr/>
              </p:nvSpPr>
              <p:spPr>
                <a:xfrm>
                  <a:off x="1934610" y="3650283"/>
                  <a:ext cx="647699" cy="40011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10" y="3650283"/>
                  <a:ext cx="647699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/>
          <p:cNvGrpSpPr/>
          <p:nvPr/>
        </p:nvGrpSpPr>
        <p:grpSpPr>
          <a:xfrm>
            <a:off x="6457564" y="5382958"/>
            <a:ext cx="1487663" cy="876242"/>
            <a:chOff x="1615570" y="3174151"/>
            <a:chExt cx="1487663" cy="876242"/>
          </a:xfrm>
        </p:grpSpPr>
        <p:cxnSp>
          <p:nvCxnSpPr>
            <p:cNvPr id="95" name="Straight Arrow Connector 94"/>
            <p:cNvCxnSpPr/>
            <p:nvPr/>
          </p:nvCxnSpPr>
          <p:spPr>
            <a:xfrm>
              <a:off x="1615570" y="3734524"/>
              <a:ext cx="1487663" cy="1190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 flipV="1">
              <a:off x="1615570" y="3335813"/>
              <a:ext cx="1487663" cy="1559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/>
                <p:nvPr/>
              </p:nvSpPr>
              <p:spPr>
                <a:xfrm>
                  <a:off x="1934609" y="3174151"/>
                  <a:ext cx="647699" cy="40011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AE983F3-F0A9-4890-86ED-F4820A7D1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09" y="3174151"/>
                  <a:ext cx="647699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/>
                <p:nvPr/>
              </p:nvSpPr>
              <p:spPr>
                <a:xfrm>
                  <a:off x="1934610" y="3650283"/>
                  <a:ext cx="647699" cy="40011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EBBE987A-8872-4DC4-885C-101B2D41E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610" y="3650283"/>
                  <a:ext cx="647699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4434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54" grpId="0"/>
      <p:bldP spid="55" grpId="0"/>
      <p:bldP spid="61" grpId="0"/>
      <p:bldP spid="67" grpId="0"/>
      <p:bldP spid="6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24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CBB4629-C8D6-4B67-A828-649B940A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4683910" y="319049"/>
                <a:ext cx="7080597" cy="1508105"/>
              </a:xfrm>
              <a:prstGeom prst="rect">
                <a:avLst/>
              </a:prstGeom>
              <a:no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Define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recursively as follows: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(a)	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	</a:t>
                </a:r>
                <a:r>
                  <a:rPr lang="en-US" dirty="0">
                    <a:solidFill>
                      <a:srgbClr val="006600"/>
                    </a:solidFill>
                  </a:rPr>
                  <a:t>(base clause)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(b)	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	</a:t>
                </a:r>
                <a:r>
                  <a:rPr lang="en-US" dirty="0">
                    <a:solidFill>
                      <a:srgbClr val="006600"/>
                    </a:solidFill>
                  </a:rPr>
                  <a:t>(recursion clause)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(c)	Membership for S can always be demonstrated by (finitely many) successive applications of clauses above.	</a:t>
                </a:r>
                <a:r>
                  <a:rPr lang="en-US" dirty="0">
                    <a:solidFill>
                      <a:srgbClr val="006600"/>
                    </a:solidFill>
                  </a:rPr>
                  <a:t>(</a:t>
                </a:r>
                <a:r>
                  <a:rPr lang="en-US" dirty="0" err="1">
                    <a:solidFill>
                      <a:srgbClr val="006600"/>
                    </a:solidFill>
                  </a:rPr>
                  <a:t>minimality</a:t>
                </a:r>
                <a:r>
                  <a:rPr lang="en-US" dirty="0">
                    <a:solidFill>
                      <a:srgbClr val="006600"/>
                    </a:solidFill>
                  </a:rPr>
                  <a:t> clause)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910" y="319049"/>
                <a:ext cx="7080597" cy="1508105"/>
              </a:xfrm>
              <a:prstGeom prst="rect">
                <a:avLst/>
              </a:prstGeom>
              <a:blipFill>
                <a:blip r:embed="rId2"/>
                <a:stretch>
                  <a:fillRect l="-773" t="-1600" b="-4800"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/>
              <p:nvPr/>
            </p:nvSpPr>
            <p:spPr>
              <a:xfrm>
                <a:off x="1547630" y="520055"/>
                <a:ext cx="32217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solidFill>
                      <a:srgbClr val="000099"/>
                    </a:solidFill>
                  </a:rPr>
                  <a:t>Which of the numbers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0,6,15,16,36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 are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? Which are not?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F00056-74A3-4D6F-9670-82BCCD03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30" y="520055"/>
                <a:ext cx="3221736" cy="1200329"/>
              </a:xfrm>
              <a:prstGeom prst="rect">
                <a:avLst/>
              </a:prstGeom>
              <a:blipFill>
                <a:blip r:embed="rId3"/>
                <a:stretch>
                  <a:fillRect l="-3030" t="-4061" b="-1066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30452" y="1905466"/>
                <a:ext cx="8723045" cy="1323439"/>
              </a:xfrm>
              <a:prstGeom prst="rect">
                <a:avLst/>
              </a:prstGeom>
              <a:noFill/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Structural induction over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r>
                  <a:rPr lang="en-US" sz="2000" dirty="0"/>
                  <a:t>To prove that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000" dirty="0"/>
                  <a:t> is true, where each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SG" sz="2000" dirty="0"/>
                  <a:t>is a proposition, it suffices to:</a:t>
                </a:r>
              </a:p>
              <a:p>
                <a:pPr marL="895350"/>
                <a:r>
                  <a:rPr lang="en-US" sz="2000" dirty="0">
                    <a:solidFill>
                      <a:srgbClr val="0000FF"/>
                    </a:solidFill>
                  </a:rPr>
                  <a:t>(basis step) </a:t>
                </a:r>
                <a:r>
                  <a:rPr lang="en-US" sz="2000" dirty="0"/>
                  <a:t>show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US" sz="2000" dirty="0"/>
                  <a:t> is true; and</a:t>
                </a:r>
              </a:p>
              <a:p>
                <a:pPr marL="895350"/>
                <a:r>
                  <a:rPr lang="en-US" sz="2000" dirty="0">
                    <a:solidFill>
                      <a:srgbClr val="0000FF"/>
                    </a:solidFill>
                  </a:rPr>
                  <a:t>(inductive step) </a:t>
                </a:r>
                <a:r>
                  <a:rPr lang="en-US" sz="2000" dirty="0"/>
                  <a:t>show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(3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SG" sz="2000" dirty="0"/>
                  <a:t> is true.</a:t>
                </a:r>
                <a:endParaRPr lang="en-US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52" y="1905466"/>
                <a:ext cx="8723045" cy="1323439"/>
              </a:xfrm>
              <a:prstGeom prst="rect">
                <a:avLst/>
              </a:prstGeom>
              <a:blipFill>
                <a:blip r:embed="rId4"/>
                <a:stretch>
                  <a:fillRect l="-628" t="-2283" b="-6849"/>
                </a:stretch>
              </a:blipFill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45008" y="3306807"/>
                <a:ext cx="68671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We know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because all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satisfy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SG" sz="2000" dirty="0"/>
                  <a:t>, as one can show by structural induction over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.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08" y="3306807"/>
                <a:ext cx="6867144" cy="707886"/>
              </a:xfrm>
              <a:prstGeom prst="rect">
                <a:avLst/>
              </a:prstGeom>
              <a:blipFill>
                <a:blip r:embed="rId5"/>
                <a:stretch>
                  <a:fillRect l="-799" t="-4274" b="-136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9663419" y="2198450"/>
              <a:ext cx="2101088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0544">
                      <a:extLst>
                        <a:ext uri="{9D8B030D-6E8A-4147-A177-3AD203B41FA5}">
                          <a16:colId xmlns:a16="http://schemas.microsoft.com/office/drawing/2014/main" val="3671616828"/>
                        </a:ext>
                      </a:extLst>
                    </a:gridCol>
                    <a:gridCol w="1050544">
                      <a:extLst>
                        <a:ext uri="{9D8B030D-6E8A-4147-A177-3AD203B41FA5}">
                          <a16:colId xmlns:a16="http://schemas.microsoft.com/office/drawing/2014/main" val="38037706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SG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SG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80303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45379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6</a:t>
                          </a:r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41090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15</a:t>
                          </a:r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408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16</a:t>
                          </a:r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2595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36</a:t>
                          </a:r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65022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5650224"/>
                  </p:ext>
                </p:extLst>
              </p:nvPr>
            </p:nvGraphicFramePr>
            <p:xfrm>
              <a:off x="9663419" y="2198450"/>
              <a:ext cx="2101088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0544">
                      <a:extLst>
                        <a:ext uri="{9D8B030D-6E8A-4147-A177-3AD203B41FA5}">
                          <a16:colId xmlns:a16="http://schemas.microsoft.com/office/drawing/2014/main" val="3671616828"/>
                        </a:ext>
                      </a:extLst>
                    </a:gridCol>
                    <a:gridCol w="1050544">
                      <a:extLst>
                        <a:ext uri="{9D8B030D-6E8A-4147-A177-3AD203B41FA5}">
                          <a16:colId xmlns:a16="http://schemas.microsoft.com/office/drawing/2014/main" val="380377064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578" t="-1333" r="-102312" b="-5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163" t="-1333" r="-2907" b="-5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803032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453795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6</a:t>
                          </a:r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4109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15</a:t>
                          </a:r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4082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16</a:t>
                          </a:r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25959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36</a:t>
                          </a:r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G" sz="24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650221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BECD0A91-DE3F-43DF-82A1-BB5DCCEAB73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798" y="3199491"/>
            <a:ext cx="335787" cy="3197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ECD0A91-DE3F-43DF-82A1-BB5DCCEAB73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798" y="4522525"/>
            <a:ext cx="335787" cy="3197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CD0A91-DE3F-43DF-82A1-BB5DCCEAB73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798" y="4079602"/>
            <a:ext cx="335787" cy="3197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97636A9-C0CF-487B-B871-C53BC8AE5BC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948" y="2754924"/>
            <a:ext cx="323637" cy="32363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97636A9-C0CF-487B-B871-C53BC8AE5BC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948" y="3642414"/>
            <a:ext cx="323637" cy="3236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45008" y="4014693"/>
                <a:ext cx="828751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</a:t>
                </a:r>
                <a:r>
                  <a:rPr lang="en-US" sz="2000" dirty="0"/>
                  <a:t>by the base clause.</a:t>
                </a:r>
              </a:p>
              <a:p>
                <a:pPr marL="265113" indent="-265113"/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by the recursion clause (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with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SG" sz="2000" dirty="0"/>
                  <a:t>) and the previous line.</a:t>
                </a:r>
              </a:p>
              <a:p>
                <a:pPr marL="265113" indent="-265113">
                  <a:tabLst>
                    <a:tab pos="265113" algn="l"/>
                  </a:tabLst>
                </a:pPr>
                <a:r>
                  <a:rPr lang="en-SG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by the recursion clause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with 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SG" sz="2000" dirty="0"/>
                  <a:t>) and the previous line.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08" y="4014693"/>
                <a:ext cx="8287512" cy="1015663"/>
              </a:xfrm>
              <a:prstGeom prst="rect">
                <a:avLst/>
              </a:prstGeom>
              <a:blipFill>
                <a:blip r:embed="rId9"/>
                <a:stretch>
                  <a:fillRect l="-662" t="-3614" b="-10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5007" y="5035551"/>
                <a:ext cx="828751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</a:t>
                </a:r>
                <a:r>
                  <a:rPr lang="en-US" sz="2000" dirty="0"/>
                  <a:t>by the base clause.</a:t>
                </a:r>
              </a:p>
              <a:p>
                <a:pPr marL="265113" indent="-265113"/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by the recursion clause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with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SG" sz="2000" dirty="0"/>
                  <a:t>) and the previous line.</a:t>
                </a:r>
              </a:p>
              <a:p>
                <a:pPr marL="265113" indent="-265113">
                  <a:tabLst>
                    <a:tab pos="265113" algn="l"/>
                  </a:tabLst>
                </a:pPr>
                <a:r>
                  <a:rPr lang="en-SG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by the recursion clause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with 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SG" sz="2000" dirty="0"/>
                  <a:t>) and the previous line.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07" y="5035551"/>
                <a:ext cx="8287513" cy="1015663"/>
              </a:xfrm>
              <a:prstGeom prst="rect">
                <a:avLst/>
              </a:prstGeom>
              <a:blipFill>
                <a:blip r:embed="rId10"/>
                <a:stretch>
                  <a:fillRect l="-662" t="-2994" b="-95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59575" y="6051214"/>
                <a:ext cx="100262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000" b="0" dirty="0"/>
                  <a:t>We know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</a:t>
                </a:r>
                <a:r>
                  <a:rPr lang="en-US" sz="2000" dirty="0"/>
                  <a:t>because no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is odd, as one can show by structural induction over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75" y="6051214"/>
                <a:ext cx="10026208" cy="400110"/>
              </a:xfrm>
              <a:prstGeom prst="rect">
                <a:avLst/>
              </a:prstGeom>
              <a:blipFill>
                <a:blip r:embed="rId11"/>
                <a:stretch>
                  <a:fillRect l="-547" t="-9231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22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26" grpId="0" uiExpand="1" build="p"/>
      <p:bldP spid="27" grpId="0" uiExpand="1" build="p"/>
      <p:bldP spid="28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94BAC-D6DF-4D7B-BD6E-A47F1A0DA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2057" y="6505279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53636BA-1DB8-4787-8392-C7DA11464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38469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Q11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7B480A-827F-4215-8A04-70117D748DF9}"/>
                  </a:ext>
                </a:extLst>
              </p:cNvPr>
              <p:cNvSpPr txBox="1"/>
              <p:nvPr/>
            </p:nvSpPr>
            <p:spPr>
              <a:xfrm>
                <a:off x="1653131" y="353264"/>
                <a:ext cx="3030779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536575" algn="l"/>
                  </a:tabLst>
                </a:pPr>
                <a:r>
                  <a:rPr lang="en-US" sz="2400" b="0" dirty="0">
                    <a:solidFill>
                      <a:srgbClr val="000099"/>
                    </a:solidFill>
                  </a:rPr>
                  <a:t>(a)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={2,4,7,9}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536575" algn="l"/>
                  </a:tabLst>
                </a:pPr>
                <a:r>
                  <a:rPr lang="en-US" sz="2400" dirty="0">
                    <a:solidFill>
                      <a:srgbClr val="000099"/>
                    </a:solidFill>
                  </a:rPr>
                  <a:t>(b)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={2,3,4,5}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7B480A-827F-4215-8A04-70117D748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131" y="353264"/>
                <a:ext cx="3030779" cy="907941"/>
              </a:xfrm>
              <a:prstGeom prst="rect">
                <a:avLst/>
              </a:prstGeom>
              <a:blipFill>
                <a:blip r:embed="rId3"/>
                <a:stretch>
                  <a:fillRect l="-3018" t="-5369" b="-14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FE8B8E-88CB-4855-BB7D-91F83A244A52}"/>
                  </a:ext>
                </a:extLst>
              </p:cNvPr>
              <p:cNvSpPr txBox="1"/>
              <p:nvPr/>
            </p:nvSpPr>
            <p:spPr>
              <a:xfrm>
                <a:off x="314662" y="1230287"/>
                <a:ext cx="4005359" cy="92333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contains precisely those sets that can be obtained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using intersection, union, and set difference.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FE8B8E-88CB-4855-BB7D-91F83A244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62" y="1230287"/>
                <a:ext cx="4005359" cy="923330"/>
              </a:xfrm>
              <a:prstGeom prst="rect">
                <a:avLst/>
              </a:prstGeom>
              <a:blipFill>
                <a:blip r:embed="rId4"/>
                <a:stretch>
                  <a:fillRect l="-1370" t="-3974" r="-1979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F034A5-BBBA-468C-AE3D-BEFD31043B71}"/>
                  </a:ext>
                </a:extLst>
              </p:cNvPr>
              <p:cNvSpPr txBox="1"/>
              <p:nvPr/>
            </p:nvSpPr>
            <p:spPr>
              <a:xfrm>
                <a:off x="679173" y="3687872"/>
                <a:ext cx="13384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536575" algn="l"/>
                  </a:tabLst>
                </a:pPr>
                <a:r>
                  <a:rPr lang="en-US" sz="2400" b="0" dirty="0">
                    <a:solidFill>
                      <a:srgbClr val="000099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F034A5-BBBA-468C-AE3D-BEFD31043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73" y="3687872"/>
                <a:ext cx="1338469" cy="461665"/>
              </a:xfrm>
              <a:prstGeom prst="rect">
                <a:avLst/>
              </a:prstGeom>
              <a:blipFill>
                <a:blip r:embed="rId5"/>
                <a:stretch>
                  <a:fillRect l="-6818" t="-10526" r="-363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F6B4B8A8-A4B9-48D2-B734-0EAE6E2D3DAA}"/>
              </a:ext>
            </a:extLst>
          </p:cNvPr>
          <p:cNvSpPr txBox="1"/>
          <p:nvPr/>
        </p:nvSpPr>
        <p:spPr>
          <a:xfrm>
            <a:off x="969251" y="4171057"/>
            <a:ext cx="1338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tabLst>
                <a:tab pos="536575" algn="l"/>
              </a:tabLst>
            </a:pPr>
            <a:r>
              <a:rPr lang="en-US" sz="2400" b="0" dirty="0">
                <a:solidFill>
                  <a:srgbClr val="000099"/>
                </a:solidFill>
              </a:rPr>
              <a:t>Why?</a:t>
            </a:r>
            <a:endParaRPr lang="en-US" sz="2400" dirty="0">
              <a:solidFill>
                <a:srgbClr val="000099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E1D247-FCB9-458D-A92E-EE138F8974FD}"/>
              </a:ext>
            </a:extLst>
          </p:cNvPr>
          <p:cNvSpPr txBox="1"/>
          <p:nvPr/>
        </p:nvSpPr>
        <p:spPr>
          <a:xfrm>
            <a:off x="2017641" y="3687872"/>
            <a:ext cx="7364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tabLst>
                <a:tab pos="536575" algn="l"/>
              </a:tabLst>
            </a:pPr>
            <a:r>
              <a:rPr lang="en-US" sz="2400" b="0" dirty="0">
                <a:solidFill>
                  <a:srgbClr val="C00000"/>
                </a:solidFill>
              </a:rPr>
              <a:t>Yes!</a:t>
            </a:r>
            <a:endParaRPr lang="en-US" sz="2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527C1F2-310F-4D11-85FA-42EA51EA1ED2}"/>
                  </a:ext>
                </a:extLst>
              </p:cNvPr>
              <p:cNvSpPr txBox="1"/>
              <p:nvPr/>
            </p:nvSpPr>
            <p:spPr>
              <a:xfrm>
                <a:off x="2035252" y="4183218"/>
                <a:ext cx="73648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536575" algn="l"/>
                  </a:tabLst>
                </a:pPr>
                <a:r>
                  <a:rPr lang="en-US" sz="2400" b="0" dirty="0">
                    <a:solidFill>
                      <a:srgbClr val="C00000"/>
                    </a:solidFill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∖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∪(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527C1F2-310F-4D11-85FA-42EA51EA1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252" y="4183218"/>
                <a:ext cx="7364896" cy="461665"/>
              </a:xfrm>
              <a:prstGeom prst="rect">
                <a:avLst/>
              </a:prstGeom>
              <a:blipFill>
                <a:blip r:embed="rId6"/>
                <a:stretch>
                  <a:fillRect l="-1325" t="-10526" b="-289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439CB81-A7A7-42D5-A525-2B696447D163}"/>
                  </a:ext>
                </a:extLst>
              </p:cNvPr>
              <p:cNvSpPr txBox="1"/>
              <p:nvPr/>
            </p:nvSpPr>
            <p:spPr>
              <a:xfrm>
                <a:off x="679172" y="5085166"/>
                <a:ext cx="13384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536575" algn="l"/>
                  </a:tabLst>
                </a:pPr>
                <a:r>
                  <a:rPr lang="en-US" sz="2400" b="0" dirty="0">
                    <a:solidFill>
                      <a:srgbClr val="000099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439CB81-A7A7-42D5-A525-2B696447D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72" y="5085166"/>
                <a:ext cx="1338469" cy="461665"/>
              </a:xfrm>
              <a:prstGeom prst="rect">
                <a:avLst/>
              </a:prstGeom>
              <a:blipFill>
                <a:blip r:embed="rId7"/>
                <a:stretch>
                  <a:fillRect l="-6818" t="-10526" r="-5455" b="-289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AF62A555-C50E-4D5E-80E2-8B76E82C2953}"/>
              </a:ext>
            </a:extLst>
          </p:cNvPr>
          <p:cNvSpPr txBox="1"/>
          <p:nvPr/>
        </p:nvSpPr>
        <p:spPr>
          <a:xfrm>
            <a:off x="969250" y="5568351"/>
            <a:ext cx="1338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tabLst>
                <a:tab pos="536575" algn="l"/>
              </a:tabLst>
            </a:pPr>
            <a:r>
              <a:rPr lang="en-US" sz="2400" b="0" dirty="0">
                <a:solidFill>
                  <a:srgbClr val="000099"/>
                </a:solidFill>
              </a:rPr>
              <a:t>Why?</a:t>
            </a:r>
            <a:endParaRPr lang="en-US" sz="2400" dirty="0">
              <a:solidFill>
                <a:srgbClr val="000099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CAEAC90-18DF-4C0F-B493-44B1B199319E}"/>
              </a:ext>
            </a:extLst>
          </p:cNvPr>
          <p:cNvSpPr txBox="1"/>
          <p:nvPr/>
        </p:nvSpPr>
        <p:spPr>
          <a:xfrm>
            <a:off x="2017640" y="5094525"/>
            <a:ext cx="7364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tabLst>
                <a:tab pos="536575" algn="l"/>
              </a:tabLst>
            </a:pPr>
            <a:r>
              <a:rPr lang="en-US" sz="2400" b="0" dirty="0">
                <a:solidFill>
                  <a:srgbClr val="C00000"/>
                </a:solidFill>
              </a:rPr>
              <a:t>No!</a:t>
            </a:r>
            <a:endParaRPr lang="en-US" sz="2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2E4178E-63CF-490A-AA43-D2CB136F6754}"/>
                  </a:ext>
                </a:extLst>
              </p:cNvPr>
              <p:cNvSpPr txBox="1"/>
              <p:nvPr/>
            </p:nvSpPr>
            <p:spPr>
              <a:xfrm>
                <a:off x="2005295" y="5562936"/>
                <a:ext cx="73648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536575" algn="l"/>
                  </a:tabLst>
                </a:pPr>
                <a:r>
                  <a:rPr lang="en-US" sz="2400" b="0" dirty="0">
                    <a:solidFill>
                      <a:srgbClr val="C00000"/>
                    </a:solidFill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, but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(1∈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⇔3∈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, as one can show using structural induction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2E4178E-63CF-490A-AA43-D2CB136F6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295" y="5562936"/>
                <a:ext cx="7364897" cy="830997"/>
              </a:xfrm>
              <a:prstGeom prst="rect">
                <a:avLst/>
              </a:prstGeom>
              <a:blipFill>
                <a:blip r:embed="rId8"/>
                <a:stretch>
                  <a:fillRect l="-1325" t="-5882" r="-1159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01E0BB5-CE78-423F-84A4-8BAD119B6EFB}"/>
                  </a:ext>
                </a:extLst>
              </p:cNvPr>
              <p:cNvSpPr txBox="1"/>
              <p:nvPr/>
            </p:nvSpPr>
            <p:spPr>
              <a:xfrm>
                <a:off x="314663" y="2196834"/>
                <a:ext cx="10061372" cy="132343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Structural induction over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. To prove that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000" dirty="0"/>
                  <a:t> is true, where each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SG" sz="2000" dirty="0"/>
                  <a:t>is a proposition, it suffices to:</a:t>
                </a:r>
              </a:p>
              <a:p>
                <a:pPr marL="1789113" indent="-1789113"/>
                <a:r>
                  <a:rPr lang="en-US" sz="2000" dirty="0">
                    <a:solidFill>
                      <a:srgbClr val="0000FF"/>
                    </a:solidFill>
                  </a:rPr>
                  <a:t>(basis step) 	</a:t>
                </a:r>
                <a:r>
                  <a:rPr lang="en-US" sz="2000" dirty="0"/>
                  <a:t>show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are true; and</a:t>
                </a:r>
              </a:p>
              <a:p>
                <a:pPr marL="1789113" indent="-1789113"/>
                <a:r>
                  <a:rPr lang="en-US" sz="2000" dirty="0">
                    <a:solidFill>
                      <a:srgbClr val="0000FF"/>
                    </a:solidFill>
                  </a:rPr>
                  <a:t>(inductive step) 	</a:t>
                </a:r>
                <a:r>
                  <a:rPr lang="en-US" sz="2000" dirty="0"/>
                  <a:t>show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SG" sz="2000" dirty="0"/>
                  <a:t> is true.</a:t>
                </a:r>
                <a:endParaRPr lang="en-US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01E0BB5-CE78-423F-84A4-8BAD119B6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63" y="2196834"/>
                <a:ext cx="10061372" cy="1323439"/>
              </a:xfrm>
              <a:prstGeom prst="rect">
                <a:avLst/>
              </a:prstGeom>
              <a:blipFill>
                <a:blip r:embed="rId9"/>
                <a:stretch>
                  <a:fillRect l="-605" t="-1826" r="-242" b="-6849"/>
                </a:stretch>
              </a:blipFill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1B3B087A-D06B-412E-943F-71528B9EA9F0}"/>
              </a:ext>
            </a:extLst>
          </p:cNvPr>
          <p:cNvSpPr/>
          <p:nvPr/>
        </p:nvSpPr>
        <p:spPr>
          <a:xfrm>
            <a:off x="8571195" y="3730775"/>
            <a:ext cx="2117559" cy="18914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DDFA438-5EF5-4409-8C6E-EDB5E552BB5D}"/>
              </a:ext>
            </a:extLst>
          </p:cNvPr>
          <p:cNvSpPr/>
          <p:nvPr/>
        </p:nvSpPr>
        <p:spPr>
          <a:xfrm>
            <a:off x="9397363" y="3730365"/>
            <a:ext cx="2117559" cy="18914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7D19C9-385B-4CEF-8889-D58786578F8D}"/>
                  </a:ext>
                </a:extLst>
              </p:cNvPr>
              <p:cNvSpPr txBox="1"/>
              <p:nvPr/>
            </p:nvSpPr>
            <p:spPr>
              <a:xfrm>
                <a:off x="9916927" y="4074703"/>
                <a:ext cx="292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7D19C9-385B-4CEF-8889-D58786578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6927" y="4074703"/>
                <a:ext cx="292100" cy="369332"/>
              </a:xfrm>
              <a:prstGeom prst="rect">
                <a:avLst/>
              </a:prstGeom>
              <a:blipFill>
                <a:blip r:embed="rId10"/>
                <a:stretch>
                  <a:fillRect r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89DEA92-0157-4BD6-A591-8AF3732BAF17}"/>
                  </a:ext>
                </a:extLst>
              </p:cNvPr>
              <p:cNvSpPr txBox="1"/>
              <p:nvPr/>
            </p:nvSpPr>
            <p:spPr>
              <a:xfrm>
                <a:off x="9622063" y="4681177"/>
                <a:ext cx="292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89DEA92-0157-4BD6-A591-8AF3732BA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2063" y="4681177"/>
                <a:ext cx="292100" cy="369332"/>
              </a:xfrm>
              <a:prstGeom prst="rect">
                <a:avLst/>
              </a:prstGeom>
              <a:blipFill>
                <a:blip r:embed="rId11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D8F3EE0-79E9-4725-B6F4-B18D463AFFDE}"/>
                  </a:ext>
                </a:extLst>
              </p:cNvPr>
              <p:cNvSpPr txBox="1"/>
              <p:nvPr/>
            </p:nvSpPr>
            <p:spPr>
              <a:xfrm>
                <a:off x="10130083" y="4685609"/>
                <a:ext cx="292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D8F3EE0-79E9-4725-B6F4-B18D463AF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0083" y="4685609"/>
                <a:ext cx="292100" cy="369332"/>
              </a:xfrm>
              <a:prstGeom prst="rect">
                <a:avLst/>
              </a:prstGeom>
              <a:blipFill>
                <a:blip r:embed="rId12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F23BEAB-082A-40CC-BD00-5B0AEF259835}"/>
                  </a:ext>
                </a:extLst>
              </p:cNvPr>
              <p:cNvSpPr txBox="1"/>
              <p:nvPr/>
            </p:nvSpPr>
            <p:spPr>
              <a:xfrm>
                <a:off x="8845481" y="4156575"/>
                <a:ext cx="292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F23BEAB-082A-40CC-BD00-5B0AEF259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481" y="4156575"/>
                <a:ext cx="292100" cy="369332"/>
              </a:xfrm>
              <a:prstGeom prst="rect">
                <a:avLst/>
              </a:prstGeom>
              <a:blipFill>
                <a:blip r:embed="rId13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4BDBBCC-8EA2-40E1-B761-E668A062312B}"/>
                  </a:ext>
                </a:extLst>
              </p:cNvPr>
              <p:cNvSpPr txBox="1"/>
              <p:nvPr/>
            </p:nvSpPr>
            <p:spPr>
              <a:xfrm>
                <a:off x="8985612" y="4915300"/>
                <a:ext cx="292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4BDBBCC-8EA2-40E1-B761-E668A0623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5612" y="4915300"/>
                <a:ext cx="292100" cy="369332"/>
              </a:xfrm>
              <a:prstGeom prst="rect">
                <a:avLst/>
              </a:prstGeom>
              <a:blipFill>
                <a:blip r:embed="rId14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10F5B24-6D80-4B50-945A-A0C69DAAC645}"/>
                  </a:ext>
                </a:extLst>
              </p:cNvPr>
              <p:cNvSpPr txBox="1"/>
              <p:nvPr/>
            </p:nvSpPr>
            <p:spPr>
              <a:xfrm>
                <a:off x="10743095" y="4023199"/>
                <a:ext cx="292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10F5B24-6D80-4B50-945A-A0C69DAAC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3095" y="4023199"/>
                <a:ext cx="292100" cy="369332"/>
              </a:xfrm>
              <a:prstGeom prst="rect">
                <a:avLst/>
              </a:prstGeom>
              <a:blipFill>
                <a:blip r:embed="rId15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CE78DC2-22E1-4C0F-9D70-7FDD645249C1}"/>
                  </a:ext>
                </a:extLst>
              </p:cNvPr>
              <p:cNvSpPr txBox="1"/>
              <p:nvPr/>
            </p:nvSpPr>
            <p:spPr>
              <a:xfrm>
                <a:off x="10948536" y="4685609"/>
                <a:ext cx="292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CE78DC2-22E1-4C0F-9D70-7FDD64524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8536" y="4685609"/>
                <a:ext cx="292100" cy="369332"/>
              </a:xfrm>
              <a:prstGeom prst="rect">
                <a:avLst/>
              </a:prstGeom>
              <a:blipFill>
                <a:blip r:embed="rId16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67FA530-CB3B-4B83-B9CB-7D031B458E07}"/>
                  </a:ext>
                </a:extLst>
              </p:cNvPr>
              <p:cNvSpPr txBox="1"/>
              <p:nvPr/>
            </p:nvSpPr>
            <p:spPr>
              <a:xfrm>
                <a:off x="8224754" y="4058865"/>
                <a:ext cx="292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67FA530-CB3B-4B83-B9CB-7D031B458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4754" y="4058865"/>
                <a:ext cx="292100" cy="369332"/>
              </a:xfrm>
              <a:prstGeom prst="rect">
                <a:avLst/>
              </a:prstGeom>
              <a:blipFill>
                <a:blip r:embed="rId17"/>
                <a:stretch>
                  <a:fillRect r="-10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C0118C1-09C9-4134-A4B5-2B9036376B17}"/>
                  </a:ext>
                </a:extLst>
              </p:cNvPr>
              <p:cNvSpPr txBox="1"/>
              <p:nvPr/>
            </p:nvSpPr>
            <p:spPr>
              <a:xfrm>
                <a:off x="11279002" y="5199019"/>
                <a:ext cx="292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C0118C1-09C9-4134-A4B5-2B9036376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9002" y="5199019"/>
                <a:ext cx="292100" cy="369332"/>
              </a:xfrm>
              <a:prstGeom prst="rect">
                <a:avLst/>
              </a:prstGeom>
              <a:blipFill>
                <a:blip r:embed="rId18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E7BA85E-71B2-4240-88B7-F58EE93009DA}"/>
                  </a:ext>
                </a:extLst>
              </p:cNvPr>
              <p:cNvSpPr txBox="1"/>
              <p:nvPr/>
            </p:nvSpPr>
            <p:spPr>
              <a:xfrm>
                <a:off x="4683910" y="319049"/>
                <a:ext cx="7080597" cy="1815882"/>
              </a:xfrm>
              <a:prstGeom prst="rect">
                <a:avLst/>
              </a:prstGeom>
              <a:no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1,2,3,4,5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={1,3,5,7,9}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Define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recursively as follows: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(1)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	</a:t>
                </a:r>
                <a:r>
                  <a:rPr lang="en-US" dirty="0">
                    <a:solidFill>
                      <a:srgbClr val="006600"/>
                    </a:solidFill>
                  </a:rPr>
                  <a:t>(base clause)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(2)	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	</a:t>
                </a:r>
                <a:r>
                  <a:rPr lang="en-US" dirty="0">
                    <a:solidFill>
                      <a:srgbClr val="006600"/>
                    </a:solidFill>
                  </a:rPr>
                  <a:t>(recursion clause)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(3)	Membership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can always be demonstrated by (finitely many) successive applications of clauses above.	</a:t>
                </a:r>
                <a:r>
                  <a:rPr lang="en-US" dirty="0">
                    <a:solidFill>
                      <a:srgbClr val="006600"/>
                    </a:solidFill>
                  </a:rPr>
                  <a:t>(</a:t>
                </a:r>
                <a:r>
                  <a:rPr lang="en-US" dirty="0" err="1">
                    <a:solidFill>
                      <a:srgbClr val="006600"/>
                    </a:solidFill>
                  </a:rPr>
                  <a:t>minimality</a:t>
                </a:r>
                <a:r>
                  <a:rPr lang="en-US" dirty="0">
                    <a:solidFill>
                      <a:srgbClr val="006600"/>
                    </a:solidFill>
                  </a:rPr>
                  <a:t> clause)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E7BA85E-71B2-4240-88B7-F58EE9300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910" y="319049"/>
                <a:ext cx="7080597" cy="1815882"/>
              </a:xfrm>
              <a:prstGeom prst="rect">
                <a:avLst/>
              </a:prstGeom>
              <a:blipFill>
                <a:blip r:embed="rId19"/>
                <a:stretch>
                  <a:fillRect l="-773" t="-1333" r="-859" b="-4000"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05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76" grpId="0"/>
      <p:bldP spid="7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5523-72D0-2CBE-67A5-830807584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7209A-91D2-3650-0888-BBF4895E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2057" y="6505279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BC7188-A0BB-9795-4E10-0B5D13B0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38469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Q11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6AE6B2-46FA-C4DE-9530-5958848AA456}"/>
                  </a:ext>
                </a:extLst>
              </p:cNvPr>
              <p:cNvSpPr txBox="1"/>
              <p:nvPr/>
            </p:nvSpPr>
            <p:spPr>
              <a:xfrm>
                <a:off x="1653131" y="353264"/>
                <a:ext cx="3030779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536575" algn="l"/>
                  </a:tabLst>
                </a:pPr>
                <a:r>
                  <a:rPr lang="en-US" sz="2400" b="0" dirty="0">
                    <a:solidFill>
                      <a:srgbClr val="000099"/>
                    </a:solidFill>
                  </a:rPr>
                  <a:t>(a)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={2,4,7,9}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536575" algn="l"/>
                  </a:tabLst>
                </a:pPr>
                <a:r>
                  <a:rPr lang="en-US" sz="2400" dirty="0">
                    <a:solidFill>
                      <a:srgbClr val="000099"/>
                    </a:solidFill>
                  </a:rPr>
                  <a:t>(b)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={2,3,4,5}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6AE6B2-46FA-C4DE-9530-5958848AA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131" y="353264"/>
                <a:ext cx="3030779" cy="907941"/>
              </a:xfrm>
              <a:prstGeom prst="rect">
                <a:avLst/>
              </a:prstGeom>
              <a:blipFill>
                <a:blip r:embed="rId2"/>
                <a:stretch>
                  <a:fillRect l="-3018" t="-5369" b="-14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F3A583-DDEC-8325-FC7B-4FCA22F64DF1}"/>
                  </a:ext>
                </a:extLst>
              </p:cNvPr>
              <p:cNvSpPr txBox="1"/>
              <p:nvPr/>
            </p:nvSpPr>
            <p:spPr>
              <a:xfrm>
                <a:off x="4683910" y="319049"/>
                <a:ext cx="7080597" cy="1815882"/>
              </a:xfrm>
              <a:prstGeom prst="rect">
                <a:avLst/>
              </a:prstGeom>
              <a:no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1,2,3,4,5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={1,3,5,7,9}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Define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recursively as follows: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(1)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	</a:t>
                </a:r>
                <a:r>
                  <a:rPr lang="en-US" dirty="0">
                    <a:solidFill>
                      <a:srgbClr val="006600"/>
                    </a:solidFill>
                  </a:rPr>
                  <a:t>(base clause)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(2)	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	</a:t>
                </a:r>
                <a:r>
                  <a:rPr lang="en-US" dirty="0">
                    <a:solidFill>
                      <a:srgbClr val="006600"/>
                    </a:solidFill>
                  </a:rPr>
                  <a:t>(recursion clause)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(3)	Membership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can always be demonstrated by (finitely many) successive applications of clauses above.	</a:t>
                </a:r>
                <a:r>
                  <a:rPr lang="en-US" dirty="0">
                    <a:solidFill>
                      <a:srgbClr val="006600"/>
                    </a:solidFill>
                  </a:rPr>
                  <a:t>(</a:t>
                </a:r>
                <a:r>
                  <a:rPr lang="en-US" dirty="0" err="1">
                    <a:solidFill>
                      <a:srgbClr val="006600"/>
                    </a:solidFill>
                  </a:rPr>
                  <a:t>minimality</a:t>
                </a:r>
                <a:r>
                  <a:rPr lang="en-US" dirty="0">
                    <a:solidFill>
                      <a:srgbClr val="006600"/>
                    </a:solidFill>
                  </a:rPr>
                  <a:t> clause)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F3A583-DDEC-8325-FC7B-4FCA22F64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910" y="319049"/>
                <a:ext cx="7080597" cy="1815882"/>
              </a:xfrm>
              <a:prstGeom prst="rect">
                <a:avLst/>
              </a:prstGeom>
              <a:blipFill>
                <a:blip r:embed="rId3"/>
                <a:stretch>
                  <a:fillRect l="-773" t="-1333" r="-859" b="-4000"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9D7AF15-0505-5A92-2742-FDED64671226}"/>
              </a:ext>
            </a:extLst>
          </p:cNvPr>
          <p:cNvSpPr txBox="1"/>
          <p:nvPr/>
        </p:nvSpPr>
        <p:spPr>
          <a:xfrm>
            <a:off x="623455" y="2320636"/>
            <a:ext cx="108342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b="1" dirty="0"/>
              <a:t>How to show that D is not in S by structural induction?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SG" sz="2800" dirty="0">
                <a:sym typeface="Wingdings" panose="05000000000000000000" pitchFamily="2" charset="2"/>
              </a:rPr>
              <a:t>Need to show that for all X in S, either 1 &amp; 3 is in X, or neither are in X.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SG" sz="2800" dirty="0">
                <a:sym typeface="Wingdings" panose="05000000000000000000" pitchFamily="2" charset="2"/>
              </a:rPr>
              <a:t>Can be reworded as P(X) = ∀𝑋 ∈ 𝑆 (1 ∈ 𝑋 ⇔ 3 ∈ 𝑋).</a:t>
            </a:r>
          </a:p>
          <a:p>
            <a:pPr marL="457200" indent="-457200">
              <a:buFont typeface="Wingdings" panose="05000000000000000000" pitchFamily="2" charset="2"/>
              <a:buChar char="à"/>
            </a:pPr>
            <a:endParaRPr lang="en-GB" sz="2800" dirty="0"/>
          </a:p>
          <a:p>
            <a:r>
              <a:rPr lang="en-GB" sz="2800" dirty="0"/>
              <a:t>Process is similar.</a:t>
            </a:r>
          </a:p>
          <a:p>
            <a:pPr marL="457200" indent="-457200">
              <a:buFontTx/>
              <a:buChar char="-"/>
            </a:pPr>
            <a:r>
              <a:rPr lang="en-GB" sz="2800" dirty="0"/>
              <a:t>Write basis step.</a:t>
            </a:r>
          </a:p>
          <a:p>
            <a:pPr marL="457200" indent="-457200">
              <a:buFontTx/>
              <a:buChar char="-"/>
            </a:pPr>
            <a:r>
              <a:rPr lang="en-GB" sz="2800" dirty="0"/>
              <a:t>Assume P(X), P(Y) are true. Show P(X union Y) &amp; P(X intersect Y) are also true.</a:t>
            </a:r>
          </a:p>
          <a:p>
            <a:r>
              <a:rPr lang="en-GB" sz="2800" dirty="0"/>
              <a:t>By induction, you’ve shown that for all X in S, P(X) is true!</a:t>
            </a:r>
          </a:p>
        </p:txBody>
      </p:sp>
    </p:spTree>
    <p:extLst>
      <p:ext uri="{BB962C8B-B14F-4D97-AF65-F5344CB8AC3E}">
        <p14:creationId xmlns:p14="http://schemas.microsoft.com/office/powerpoint/2010/main" val="3610617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21A2D-6405-4829-938F-2BDB22AB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C0C1E-E30D-0481-1D26-005E0E9C7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2057" y="6505279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27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C1145F-6916-045F-4A51-BFBFFD482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38469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Q11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384A59-C340-775D-8670-04ECE0749603}"/>
                  </a:ext>
                </a:extLst>
              </p:cNvPr>
              <p:cNvSpPr txBox="1"/>
              <p:nvPr/>
            </p:nvSpPr>
            <p:spPr>
              <a:xfrm>
                <a:off x="1653131" y="353264"/>
                <a:ext cx="3030779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536575" algn="l"/>
                  </a:tabLst>
                </a:pPr>
                <a:r>
                  <a:rPr lang="en-US" sz="2400" b="0" dirty="0">
                    <a:solidFill>
                      <a:srgbClr val="000099"/>
                    </a:solidFill>
                  </a:rPr>
                  <a:t>(a)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={2,4,7,9}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536575" algn="l"/>
                  </a:tabLst>
                </a:pPr>
                <a:r>
                  <a:rPr lang="en-US" sz="2400" dirty="0">
                    <a:solidFill>
                      <a:srgbClr val="000099"/>
                    </a:solidFill>
                  </a:rPr>
                  <a:t>(b)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={2,3,4,5}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384A59-C340-775D-8670-04ECE0749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131" y="353264"/>
                <a:ext cx="3030779" cy="907941"/>
              </a:xfrm>
              <a:prstGeom prst="rect">
                <a:avLst/>
              </a:prstGeom>
              <a:blipFill>
                <a:blip r:embed="rId2"/>
                <a:stretch>
                  <a:fillRect l="-3018" t="-5369" b="-14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39C76E-7FE1-25E3-F7D3-2877A5D125DC}"/>
                  </a:ext>
                </a:extLst>
              </p:cNvPr>
              <p:cNvSpPr txBox="1"/>
              <p:nvPr/>
            </p:nvSpPr>
            <p:spPr>
              <a:xfrm>
                <a:off x="4683910" y="319049"/>
                <a:ext cx="7080597" cy="1815882"/>
              </a:xfrm>
              <a:prstGeom prst="rect">
                <a:avLst/>
              </a:prstGeom>
              <a:no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1,2,3,4,5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={1,3,5,7,9}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Define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recursively as follows: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(1)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	</a:t>
                </a:r>
                <a:r>
                  <a:rPr lang="en-US" dirty="0">
                    <a:solidFill>
                      <a:srgbClr val="006600"/>
                    </a:solidFill>
                  </a:rPr>
                  <a:t>(base clause)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(2)	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	</a:t>
                </a:r>
                <a:r>
                  <a:rPr lang="en-US" dirty="0">
                    <a:solidFill>
                      <a:srgbClr val="006600"/>
                    </a:solidFill>
                  </a:rPr>
                  <a:t>(recursion clause)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(3)	Membership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can always be demonstrated by (finitely many) successive applications of clauses above.	</a:t>
                </a:r>
                <a:r>
                  <a:rPr lang="en-US" dirty="0">
                    <a:solidFill>
                      <a:srgbClr val="006600"/>
                    </a:solidFill>
                  </a:rPr>
                  <a:t>(</a:t>
                </a:r>
                <a:r>
                  <a:rPr lang="en-US" dirty="0" err="1">
                    <a:solidFill>
                      <a:srgbClr val="006600"/>
                    </a:solidFill>
                  </a:rPr>
                  <a:t>minimality</a:t>
                </a:r>
                <a:r>
                  <a:rPr lang="en-US" dirty="0">
                    <a:solidFill>
                      <a:srgbClr val="006600"/>
                    </a:solidFill>
                  </a:rPr>
                  <a:t> clause)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39C76E-7FE1-25E3-F7D3-2877A5D12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910" y="319049"/>
                <a:ext cx="7080597" cy="1815882"/>
              </a:xfrm>
              <a:prstGeom prst="rect">
                <a:avLst/>
              </a:prstGeom>
              <a:blipFill>
                <a:blip r:embed="rId3"/>
                <a:stretch>
                  <a:fillRect l="-773" t="-1333" r="-859" b="-4000"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D6E46BD-FE20-7416-3B02-65A52A39B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82" y="2169146"/>
            <a:ext cx="7412182" cy="432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39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CA1E6-642A-931F-47BC-B466B38B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F53A7-09D0-2E82-74DF-EE19498B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2057" y="6505279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28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E79C988-CFC5-4ABF-7DE1-073B5243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38469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Q11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DCB166-11E1-359A-E003-AF4FA1731993}"/>
                  </a:ext>
                </a:extLst>
              </p:cNvPr>
              <p:cNvSpPr txBox="1"/>
              <p:nvPr/>
            </p:nvSpPr>
            <p:spPr>
              <a:xfrm>
                <a:off x="1653131" y="353264"/>
                <a:ext cx="3030779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536575" algn="l"/>
                  </a:tabLst>
                </a:pPr>
                <a:r>
                  <a:rPr lang="en-US" sz="2400" b="0" dirty="0">
                    <a:solidFill>
                      <a:srgbClr val="000099"/>
                    </a:solidFill>
                  </a:rPr>
                  <a:t>(a)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={2,4,7,9}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536575" algn="l"/>
                  </a:tabLst>
                </a:pPr>
                <a:r>
                  <a:rPr lang="en-US" sz="2400" dirty="0">
                    <a:solidFill>
                      <a:srgbClr val="000099"/>
                    </a:solidFill>
                  </a:rPr>
                  <a:t>(b)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={2,3,4,5}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DCB166-11E1-359A-E003-AF4FA1731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131" y="353264"/>
                <a:ext cx="3030779" cy="907941"/>
              </a:xfrm>
              <a:prstGeom prst="rect">
                <a:avLst/>
              </a:prstGeom>
              <a:blipFill>
                <a:blip r:embed="rId2"/>
                <a:stretch>
                  <a:fillRect l="-3018" t="-5369" b="-14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294C3D-8173-450D-9381-C08AF65CB4B3}"/>
                  </a:ext>
                </a:extLst>
              </p:cNvPr>
              <p:cNvSpPr txBox="1"/>
              <p:nvPr/>
            </p:nvSpPr>
            <p:spPr>
              <a:xfrm>
                <a:off x="4683910" y="319049"/>
                <a:ext cx="7080597" cy="1815882"/>
              </a:xfrm>
              <a:prstGeom prst="rect">
                <a:avLst/>
              </a:prstGeom>
              <a:no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1,2,3,4,5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={1,3,5,7,9}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Define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recursively as follows: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(1)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	</a:t>
                </a:r>
                <a:r>
                  <a:rPr lang="en-US" dirty="0">
                    <a:solidFill>
                      <a:srgbClr val="006600"/>
                    </a:solidFill>
                  </a:rPr>
                  <a:t>(base clause)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(2)	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	</a:t>
                </a:r>
                <a:r>
                  <a:rPr lang="en-US" dirty="0">
                    <a:solidFill>
                      <a:srgbClr val="006600"/>
                    </a:solidFill>
                  </a:rPr>
                  <a:t>(recursion clause)</a:t>
                </a:r>
              </a:p>
              <a:p>
                <a:pPr marL="539750" indent="-357188">
                  <a:tabLst>
                    <a:tab pos="4929188" algn="l"/>
                    <a:tab pos="6729413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(3)	Membership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can always be demonstrated by (finitely many) successive applications of clauses above.	</a:t>
                </a:r>
                <a:r>
                  <a:rPr lang="en-US" dirty="0">
                    <a:solidFill>
                      <a:srgbClr val="006600"/>
                    </a:solidFill>
                  </a:rPr>
                  <a:t>(</a:t>
                </a:r>
                <a:r>
                  <a:rPr lang="en-US" dirty="0" err="1">
                    <a:solidFill>
                      <a:srgbClr val="006600"/>
                    </a:solidFill>
                  </a:rPr>
                  <a:t>minimality</a:t>
                </a:r>
                <a:r>
                  <a:rPr lang="en-US" dirty="0">
                    <a:solidFill>
                      <a:srgbClr val="006600"/>
                    </a:solidFill>
                  </a:rPr>
                  <a:t> clause)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294C3D-8173-450D-9381-C08AF65CB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910" y="319049"/>
                <a:ext cx="7080597" cy="1815882"/>
              </a:xfrm>
              <a:prstGeom prst="rect">
                <a:avLst/>
              </a:prstGeom>
              <a:blipFill>
                <a:blip r:embed="rId3"/>
                <a:stretch>
                  <a:fillRect l="-773" t="-1333" r="-859" b="-4000"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A3839FB-C319-4066-A38E-1CBAAA637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72" y="2299946"/>
            <a:ext cx="10503093" cy="404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71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29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89276" y="2766399"/>
            <a:ext cx="70134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End of Tutorial 7</a:t>
            </a:r>
          </a:p>
        </p:txBody>
      </p:sp>
    </p:spTree>
    <p:extLst>
      <p:ext uri="{BB962C8B-B14F-4D97-AF65-F5344CB8AC3E}">
        <p14:creationId xmlns:p14="http://schemas.microsoft.com/office/powerpoint/2010/main" val="379475573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C403805-0F28-0D4B-9A9D-D07C3B5073D2}" vid="{C6A40526-DE8D-994A-A983-BBF5A3AC01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4141</TotalTime>
  <Words>5003</Words>
  <Application>Microsoft Office PowerPoint</Application>
  <PresentationFormat>Widescreen</PresentationFormat>
  <Paragraphs>410</Paragraphs>
  <Slides>29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Calibri</vt:lpstr>
      <vt:lpstr>Cambria</vt:lpstr>
      <vt:lpstr>Cambria Math</vt:lpstr>
      <vt:lpstr>Corbel</vt:lpstr>
      <vt:lpstr>Wingdings</vt:lpstr>
      <vt:lpstr>Theme1</vt:lpstr>
      <vt:lpstr>Cs1231S tutorial #7</vt:lpstr>
      <vt:lpstr>Learning objectives of this tutorial</vt:lpstr>
      <vt:lpstr>Try out the discussion questions!</vt:lpstr>
      <vt:lpstr>Recap</vt:lpstr>
      <vt:lpstr>Q1.</vt:lpstr>
      <vt:lpstr>Q1.</vt:lpstr>
      <vt:lpstr>Q2.</vt:lpstr>
      <vt:lpstr>Q3.</vt:lpstr>
      <vt:lpstr>Q4.</vt:lpstr>
      <vt:lpstr>Q4.</vt:lpstr>
      <vt:lpstr>PowerPoint Presentation</vt:lpstr>
      <vt:lpstr>Q5.</vt:lpstr>
      <vt:lpstr>Q6.</vt:lpstr>
      <vt:lpstr>Q6.</vt:lpstr>
      <vt:lpstr>Q6.</vt:lpstr>
      <vt:lpstr>Q6.</vt:lpstr>
      <vt:lpstr>Break</vt:lpstr>
      <vt:lpstr>Q7.</vt:lpstr>
      <vt:lpstr>Q8.</vt:lpstr>
      <vt:lpstr>Q8.</vt:lpstr>
      <vt:lpstr>Q9.</vt:lpstr>
      <vt:lpstr>Q9.</vt:lpstr>
      <vt:lpstr>Q10.</vt:lpstr>
      <vt:lpstr>Q10.</vt:lpstr>
      <vt:lpstr>Q11.</vt:lpstr>
      <vt:lpstr>Q11.</vt:lpstr>
      <vt:lpstr>Q11.</vt:lpstr>
      <vt:lpstr>Q11.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CS1231 Tutorial #5</dc:title>
  <dc:creator>Eng Cheong Teo</dc:creator>
  <cp:lastModifiedBy>Gary Axel Muliyono</cp:lastModifiedBy>
  <cp:revision>453</cp:revision>
  <dcterms:created xsi:type="dcterms:W3CDTF">2020-08-29T13:48:12Z</dcterms:created>
  <dcterms:modified xsi:type="dcterms:W3CDTF">2025-10-14T16:41:58Z</dcterms:modified>
</cp:coreProperties>
</file>