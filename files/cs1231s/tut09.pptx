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2"/>
  </p:notesMasterIdLst>
  <p:sldIdLst>
    <p:sldId id="256" r:id="rId2"/>
    <p:sldId id="313" r:id="rId3"/>
    <p:sldId id="259" r:id="rId4"/>
    <p:sldId id="339" r:id="rId5"/>
    <p:sldId id="306" r:id="rId6"/>
    <p:sldId id="335" r:id="rId7"/>
    <p:sldId id="315" r:id="rId8"/>
    <p:sldId id="317" r:id="rId9"/>
    <p:sldId id="318" r:id="rId10"/>
    <p:sldId id="319" r:id="rId11"/>
    <p:sldId id="338" r:id="rId12"/>
    <p:sldId id="324" r:id="rId13"/>
    <p:sldId id="331" r:id="rId14"/>
    <p:sldId id="333" r:id="rId15"/>
    <p:sldId id="336" r:id="rId16"/>
    <p:sldId id="337" r:id="rId17"/>
    <p:sldId id="334" r:id="rId18"/>
    <p:sldId id="322" r:id="rId19"/>
    <p:sldId id="283" r:id="rId20"/>
    <p:sldId id="340"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njay Saha" initials="SS" lastIdx="1" clrIdx="0">
    <p:extLst>
      <p:ext uri="{19B8F6BF-5375-455C-9EA6-DF929625EA0E}">
        <p15:presenceInfo xmlns:p15="http://schemas.microsoft.com/office/powerpoint/2012/main" userId="Sanjay Sah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006600"/>
    <a:srgbClr val="FFFFCC"/>
    <a:srgbClr val="0000FF"/>
    <a:srgbClr val="CCECFF"/>
    <a:srgbClr val="FFCCCC"/>
    <a:srgbClr val="F9E1D3"/>
    <a:srgbClr val="FF9933"/>
    <a:srgbClr val="FF5050"/>
    <a:srgbClr val="66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467" autoAdjust="0"/>
    <p:restoredTop sz="95037"/>
  </p:normalViewPr>
  <p:slideViewPr>
    <p:cSldViewPr snapToGrid="0" snapToObjects="1">
      <p:cViewPr varScale="1">
        <p:scale>
          <a:sx n="92" d="100"/>
          <a:sy n="92" d="100"/>
        </p:scale>
        <p:origin x="56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10-24T16:24:32.804"/>
    </inkml:context>
    <inkml:brush xml:id="br0">
      <inkml:brushProperty name="width" value="0.05" units="cm"/>
      <inkml:brushProperty name="height" value="0.05" units="cm"/>
    </inkml:brush>
  </inkml:definitions>
  <inkml:trace contextRef="#ctx0" brushRef="#br0">1 275 24575,'0'-10'0,"7"-9"0,9-8 0,-4 4 0,18-11 0,-15 16 0,7-7 0,-6 8 0,-3 4 0,-6 5 0,0 5 0,-4 0 0,5 3 0,1-2 0,2 1 0,5-5 0,0 2 0,7-3 0,2 1 0,3-5 0,1 3 0,0-2 0,-5 3 0,4 3 0,-11-1 0,2 4 0,-7-2 0,0 3 0,-3 0 0,-1 0 0,-2 0 0,2 0 0,4 0 0,5 0 0,2 0 0,5 0 0,1 0 0,7 0 0,-2 0 0,3 0 0,-8 0 0,-2 3 0,-3-2 0,-4 5 0,0-3 0,-7 0 0,-1 2 0,-3-2 0,0 2 0,1-2 0,-1 2 0,1-4 0,-1 4 0,1-3 0,-1 4 0,0-1 0,0 0 0,-2 1 0,2-1 0,-2 1 0,0-1 0,2 0 0,-2 1 0,2-1 0,-2 0 0,2 4 0,-2-3 0,3 5 0,0-2 0,0 0 0,-3 2 0,2-5 0,-5 3 0,5-4 0,-2 0 0,0 1 0,2-1 0,-4 1 0,3-1 0,-3 1 0,4-1 0,-5 0 0,5 1 0,-4-1 0,1 0 0,0 1 0,-1-1 0,1 0 0,-2 1 0,3-1 0,-3 1 0,6-1 0,-6 1 0,5-1 0,-2 3 0,0-2 0,2 2 0,-2-2 0,0 2 0,2-2 0,-2 6 0,0-6 0,2 2 0,-2-3 0,0 1 0,-1-1 0,1 0 0,-3 1 0,3-1 0,-1-2 0,-2-1 0,3-2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10-24T16:24:34.644"/>
    </inkml:context>
    <inkml:brush xml:id="br0">
      <inkml:brushProperty name="width" value="0.05" units="cm"/>
      <inkml:brushProperty name="height" value="0.05" units="cm"/>
    </inkml:brush>
  </inkml:definitions>
  <inkml:trace contextRef="#ctx0" brushRef="#br0">0 309 24575,'14'0'0,"-2"0"0,3 0 0,-3 0 0,0 0 0,0 0 0,-3 0 0,2 0 0,-5 0 0,3 0 0,-4 0 0,1 0 0,-1 0 0,0 0 0,1 0 0,-1 0 0,0 0 0,1 0 0,-1 0 0,0 0 0,1 3 0,-1-3 0,0 3 0,-1-3 0,1 0 0,0 0 0,1-6 0,-1 0 0,1-10 0,3 3 0,1-5 0,0-3 0,6 0 0,-4-7 0,6 3 0,-4-3 0,0-1 0,-3 4 0,2 1 0,-6 8 0,2 1 0,-4 6 0,-1 0 0,0 6 0,-3 1 0,1 2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10-24T16:26:10.508"/>
    </inkml:context>
    <inkml:brush xml:id="br0">
      <inkml:brushProperty name="width" value="0.05" units="cm"/>
      <inkml:brushProperty name="height" value="0.05" units="cm"/>
    </inkml:brush>
  </inkml:definitions>
  <inkml:trace contextRef="#ctx0" brushRef="#br0">0 0 24575,'0'0'0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10-24T16:29:39.341"/>
    </inkml:context>
    <inkml:brush xml:id="br0">
      <inkml:brushProperty name="width" value="0.05" units="cm"/>
      <inkml:brushProperty name="height" value="0.05" units="cm"/>
    </inkml:brush>
  </inkml:definitions>
  <inkml:trace contextRef="#ctx0" brushRef="#br0">867 2 24575,'-15'0'0,"-3"0"0,-4 0 0,-1 0 0,-8 0 0,4 0 0,0 0 0,-4 0 0,8-2 0,-9 3 0,12 0 0,-3 3 0,10-1 0,-4 3 0,-1-2 0,-4 3 0,-4-1 0,-1 1 0,-1 2 0,-2 0 0,7 0 0,-4-3 0,10 2 0,-5-3 0,8 2 0,1-3 0,0 2 0,3-1 0,0-1 0,-3 3 0,7-3 0,-4 3 0,4-2 0,-4 2 0,3-3 0,-2 3 0,-1-3 0,3 3 0,-3-1 0,1 2 0,1-2 0,-1 1 0,3-1 0,-1 0 0,0 1 0,1-3 0,3 1 0,-3-1 0,3-1 0,0 0 0,-3 1 0,6 0 0,-3-1 0,0 0 0,2 1 0,-4 0 0,4-1 0,-2 0 0,1 1 0,-1-1 0,0 1 0,0-1 0,0 1 0,2-1 0,-4 0 0,4 1 0,-4-1 0,5 0 0,-6 1 0,6-1 0,-3 1 0,0-1 0,2 1 0,-1-1 0,2 0 0,-3 1 0,3-1 0,-6 1 0,6-1 0,-3 1 0,0-1 0,3 0 0,-3 1 0,1-1 0,1 0 0,-4 1 0,7-2 0,-4-2 0,4-2 0,-2-2 0,0 1 0,0 0 0,0-1 0,0 1 0,0 1 0,0 1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10-24T16:29:41.451"/>
    </inkml:context>
    <inkml:brush xml:id="br0">
      <inkml:brushProperty name="width" value="0.05" units="cm"/>
      <inkml:brushProperty name="height" value="0.05" units="cm"/>
    </inkml:brush>
  </inkml:definitions>
  <inkml:trace contextRef="#ctx0" brushRef="#br0">0 1 24575,'0'1'0,"0"2"0,0 2 0,0 2 0,0-1 0,0 0 0,0 1 0,0-1 0,0 0 0,0-1 0,0 1 0,3-2 0,-3 3 0,3-3 0,0 1 0,-3-1 0,3-1 0,-3 1 0,3-1 0,-2 1 0,1 1 0,-2-1 0,0 1 0,0-1 0,0-1 0,0 1 0,0-1 0,3 1 0,-3-1 0,2 0 0,-2 0 0,3 1 0,-2-1 0,4 0 0,-4 1 0,4-1 0,-5 0 0,3 1 0,0-3 0,-3 3 0,3-2 0,-3 1 0,3 0 0,-3 0 0,5-1 0,-2 0 0,0-4 0,0 0 0,-1 0 0,-1-1 0,4 3 0,-4-3 0,4 2 0,-4-2 0,4 1 0,-1-1 0,1-1 0,1 1 0,0 1 0,-3-2 0,2 4 0,-1-1 0,2-1 0,0 2 0,-1-2 0,2 1 0,-2 0 0,1 0 0,0-1 0,0 2 0,0-2 0,0 2 0,0 0 0,0 0 0,0 0 0,0 0 0,0 0 0,0 0 0,0 0 0,-1 0 0,1 0 0,-1 0 0,1 0 0,-1 0 0,-6 0 0,-3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10-24T16:24:37.811"/>
    </inkml:context>
    <inkml:brush xml:id="br0">
      <inkml:brushProperty name="width" value="0.05" units="cm"/>
      <inkml:brushProperty name="height" value="0.05" units="cm"/>
    </inkml:brush>
  </inkml:definitions>
  <inkml:trace contextRef="#ctx0" brushRef="#br0">0 118 24575,'3'0'0,"2"0"0,2 0 0,3 3 0,0-1 0,1 6 0,-1-5 0,4 4 0,-2-2 0,5 1 0,-5 2 0,2-3 0,-2 0 0,0 0 0,-1 0 0,1 0 0,0 1 0,0-4 0,-1 3 0,1-4 0,0 3 0,0-1 0,-1 0 0,4 2 0,-3-5 0,4 5 0,2-4 0,0 4 0,4-2 0,-2 0 0,1 3 0,1-6 0,-1 5 0,-1-4 0,0 2 0,-3-3 0,-3 0 0,1 0 0,-4 0 0,1 0 0,0 0 0,0 0 0,-1 0 0,-1 0 0,3 0 0,0 0 0,2-3 0,1 0 0,-1-5 0,4 2 0,-1-5 0,5 4 0,-5-3 0,1 1 0,-2 0 0,-2 1 0,-1 3 0,-2-3 0,-3 3 0,3-3 0,-5 4 0,5-2 0,-5 2 0,7-2 0,-4-1 0,4-1 0,1-1 0,-3 0 0,4 0 0,-1-2 0,0 2 0,-3 0 0,-1 3 0,-5-1 0,3 3 0,-6-1 0,3 2 0,-3-1 0,0 4 0,-1-3 0,-1 0 0,0 1 0,0-2 0,0 2 0,-1-2 0,0 0 0,0 2 0,0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10-24T16:24:39.435"/>
    </inkml:context>
    <inkml:brush xml:id="br0">
      <inkml:brushProperty name="width" value="0.05" units="cm"/>
      <inkml:brushProperty name="height" value="0.05" units="cm"/>
    </inkml:brush>
  </inkml:definitions>
  <inkml:trace contextRef="#ctx0" brushRef="#br0">0 0 24575,'8'0'0,"2"0"0,1 0 0,1 0 0,2 0 0,1 0 0,-1 0 0,3 0 0,-7 0 0,3 0 0,-5 0 0,-1 0 0,0 0 0,-3 0 0,1 0 0,-2 0 0,0 0 0,0 0 0,0 0 0,0 0 0,0 0 0,1 0 0,-1 0 0,0 0 0,0 0 0,0 0 0,0 0 0,-2 2 0,1 0 0,-2 2 0,0 0 0,0 0 0,0 0 0,0 1 0,0-1 0,0 0 0,0 0 0,0 0 0,0 1 0,0 1 0,0-1 0,0 1 0,0 1 0,0-2 0,0 4 0,0-5 0,0 3 0,0 0 0,0-3 0,0 5 0,0-4 0,0 4 0,0-2 0,0 0 0,0 2 0,0-4 0,0 3 0,0-3 0,0 2 0,0-3 0,0 0 0,0 1 0,0-1 0,0 0 0,0 0 0,0 0 0,0 1 0,1-1 0,-1 0 0,2 0 0,-2 0 0,0 0 0,1-1 0,0 0 0,0-2 0,-1 1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10-24T16:24:52.534"/>
    </inkml:context>
    <inkml:brush xml:id="br0">
      <inkml:brushProperty name="width" value="0.05" units="cm"/>
      <inkml:brushProperty name="height" value="0.05" units="cm"/>
    </inkml:brush>
  </inkml:definitions>
  <inkml:trace contextRef="#ctx0" brushRef="#br0">734 791 24575,'-12'0'0,"3"0"0,-5 0 0,4 0 0,-2 0 0,-3 0 0,2 0 0,-9 0 0,3-4 0,-3-3 0,0-4 0,3 1 0,1 1 0,6 0 0,0 4 0,5-2 0,1 3 0,1 0 0,1 2 0,2-2 0,-4 1 0,3-1 0,-6-3 0,2 0 0,-5-5 0,4 2 0,-7-3 0,7 3 0,-6 0 0,6 1 0,-4 1 0,7 2 0,-1 1 0,4 1 0,-2 0 0,-1-2 0,0-1 0,-1-3 0,1 3 0,-5-8 0,4 7 0,-7-11 0,6 9 0,-7-8 0,6 4 0,-8-5 0,7 0 0,-4 3 0,-1-6 0,3 6 0,-2-1 0,3 3 0,2 4 0,2 0 0,1 4 0,3 2 0,-2 1 0,3-1 0,-2 2 0,0-7 0,-1 1 0,-4-9 0,0 6 0,1-6 0,-3 4 0,5-2 0,-2 2 0,1 1 0,2 5 0,2 1 0,0 2 0,0 2 0,2-2 0,-2 2 0,-1-5 0,3 0 0,-4 0 0,1-1 0,1 3 0,-5-7 0,6 5 0,-5-5 0,1 0 0,0 2 0,-3-4 0,4 6 0,-1-3 0,1 4 0,-1 0 0,3 0 0,-2 3 0,3 0 0,-2 2 0,2-2 0,-2 4 0,2-4 0,-2 2 0,2-2 0,-2 0 0,2-1 0,-2 3 0,2-1 0,-3 2 0,4-3 0,-2 4 0,2-2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10-24T16:24:54.536"/>
    </inkml:context>
    <inkml:brush xml:id="br0">
      <inkml:brushProperty name="width" value="0.05" units="cm"/>
      <inkml:brushProperty name="height" value="0.05" units="cm"/>
    </inkml:brush>
  </inkml:definitions>
  <inkml:trace contextRef="#ctx0" brushRef="#br0">0 357 24575,'0'-14'0,"0"-5"0,0-8 0,0-6 0,0-2-882,0 1 882,0 0 0,3 4 217,0 7-217,2 2 0,-2 10 0,-1 0 0,0 6 0,-2-1 665,2 2-665,-2 0 0,0 0 0,0-1 0,0 2 0,2-2 0,-1 1 0,2 0 0,-2 0 0,0 0 0,-1 0 0,2 1 0,-1 0 0,2 3 0,-1-2 0,2 2 0,0 0 0,0 0 0,0 0 0,0 0 0,0 0 0,0 0 0,0 0 0,0 0 0,0 0 0,3 0 0,0 0 0,0 0 0,1 0 0,-1 2 0,2-2 0,0 5 0,1-5 0,-1 2 0,-2 0 0,2-2 0,-5 2 0,5-2 0,-2 0 0,0 0 0,-1 2 0,1-1 0,-3 0 0,3-1 0,-3 0 0,0 0 0,3 0 0,-3 2 0,2-1 0,-1 1 0,1-2 0,-1 0 0,1 0 0,-2 1 0,0 0 0,1 1 0,-1-2 0,0 0 0,0 0 0,0 0 0,-2 2 0,2-2 0,-2 2 0,-2-2 0,2 0 0,-4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8E0D1F-4E0B-470D-BE89-8B98D1F65AEC}" type="datetimeFigureOut">
              <a:rPr lang="en-US" smtClean="0"/>
              <a:t>10/29/2025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B7DDD6-A43A-4F1F-AB30-FF9862BC8D8D}" type="slidenum">
              <a:rPr lang="en-US" smtClean="0"/>
              <a:t>‹#›</a:t>
            </a:fld>
            <a:endParaRPr lang="en-US"/>
          </a:p>
        </p:txBody>
      </p:sp>
    </p:spTree>
    <p:extLst>
      <p:ext uri="{BB962C8B-B14F-4D97-AF65-F5344CB8AC3E}">
        <p14:creationId xmlns:p14="http://schemas.microsoft.com/office/powerpoint/2010/main" val="19708410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D7998F76-E9E3-4463-817F-D8C0D573D975}" type="datetime1">
              <a:rPr lang="en-US" smtClean="0"/>
              <a:t>10/29/2025</a:t>
            </a:fld>
            <a:endParaRPr lang="en-US"/>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576A5E36-E009-4840-A577-F8CF29116582}" type="slidenum">
              <a:rPr lang="en-US" smtClean="0"/>
              <a:t>‹#›</a:t>
            </a:fld>
            <a:endParaRPr lang="en-US"/>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3303596"/>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CA7F3F-66F1-4062-AD20-D4050B2E2316}" type="datetime1">
              <a:rPr lang="en-US" smtClean="0"/>
              <a:t>10/29/2025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6A5E36-E009-4840-A577-F8CF29116582}" type="slidenum">
              <a:rPr lang="en-US" smtClean="0"/>
              <a:t>‹#›</a:t>
            </a:fld>
            <a:endParaRPr lang="en-US"/>
          </a:p>
        </p:txBody>
      </p:sp>
    </p:spTree>
    <p:extLst>
      <p:ext uri="{BB962C8B-B14F-4D97-AF65-F5344CB8AC3E}">
        <p14:creationId xmlns:p14="http://schemas.microsoft.com/office/powerpoint/2010/main" val="38047878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727A186-BC58-4E38-9D6B-E2530ED488D7}" type="datetime1">
              <a:rPr lang="en-US" smtClean="0"/>
              <a:t>10/29/2025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6A5E36-E009-4840-A577-F8CF29116582}" type="slidenum">
              <a:rPr lang="en-US" smtClean="0"/>
              <a:t>‹#›</a:t>
            </a:fld>
            <a:endParaRPr lang="en-US"/>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3496691"/>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E7292B9-BF38-4C9C-90F6-943069E9EDFA}" type="datetime1">
              <a:rPr lang="en-US" smtClean="0"/>
              <a:t>10/29/2025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6A5E36-E009-4840-A577-F8CF29116582}" type="slidenum">
              <a:rPr lang="en-US" smtClean="0"/>
              <a:t>‹#›</a:t>
            </a:fld>
            <a:endParaRPr lang="en-US"/>
          </a:p>
        </p:txBody>
      </p:sp>
    </p:spTree>
    <p:extLst>
      <p:ext uri="{BB962C8B-B14F-4D97-AF65-F5344CB8AC3E}">
        <p14:creationId xmlns:p14="http://schemas.microsoft.com/office/powerpoint/2010/main" val="32354523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48ED3BD-47A2-4767-947D-2AE1001298C3}" type="datetime1">
              <a:rPr lang="en-US" smtClean="0"/>
              <a:t>10/29/2025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76A5E36-E009-4840-A577-F8CF29116582}" type="slidenum">
              <a:rPr lang="en-US" smtClean="0"/>
              <a:t>‹#›</a:t>
            </a:fld>
            <a:endParaRPr lang="en-US"/>
          </a:p>
        </p:txBody>
      </p:sp>
    </p:spTree>
    <p:extLst>
      <p:ext uri="{BB962C8B-B14F-4D97-AF65-F5344CB8AC3E}">
        <p14:creationId xmlns:p14="http://schemas.microsoft.com/office/powerpoint/2010/main" val="36253832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C9D6707-B7B2-4F97-BB0F-04E2D97E588E}" type="datetime1">
              <a:rPr lang="en-US" smtClean="0"/>
              <a:t>10/29/2025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76A5E36-E009-4840-A577-F8CF29116582}" type="slidenum">
              <a:rPr lang="en-US" smtClean="0"/>
              <a:t>‹#›</a:t>
            </a:fld>
            <a:endParaRPr lang="en-US"/>
          </a:p>
        </p:txBody>
      </p:sp>
    </p:spTree>
    <p:extLst>
      <p:ext uri="{BB962C8B-B14F-4D97-AF65-F5344CB8AC3E}">
        <p14:creationId xmlns:p14="http://schemas.microsoft.com/office/powerpoint/2010/main" val="24350616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BE6F7F-EEFF-4A48-AE97-650E1D713802}" type="datetime1">
              <a:rPr lang="en-US" smtClean="0"/>
              <a:t>10/29/2025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76A5E36-E009-4840-A577-F8CF29116582}" type="slidenum">
              <a:rPr lang="en-US" smtClean="0"/>
              <a:t>‹#›</a:t>
            </a:fld>
            <a:endParaRPr lang="en-US"/>
          </a:p>
        </p:txBody>
      </p:sp>
    </p:spTree>
    <p:extLst>
      <p:ext uri="{BB962C8B-B14F-4D97-AF65-F5344CB8AC3E}">
        <p14:creationId xmlns:p14="http://schemas.microsoft.com/office/powerpoint/2010/main" val="2554272180"/>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8278CA2C-FFF8-457B-A6F2-A82A2E070B42}" type="datetime1">
              <a:rPr lang="en-US" smtClean="0"/>
              <a:t>10/29/2025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6A5E36-E009-4840-A577-F8CF29116582}" type="slidenum">
              <a:rPr lang="en-US" smtClean="0"/>
              <a:t>‹#›</a:t>
            </a:fld>
            <a:endParaRPr lang="en-US"/>
          </a:p>
        </p:txBody>
      </p:sp>
    </p:spTree>
    <p:extLst>
      <p:ext uri="{BB962C8B-B14F-4D97-AF65-F5344CB8AC3E}">
        <p14:creationId xmlns:p14="http://schemas.microsoft.com/office/powerpoint/2010/main" val="20242138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933392C9-6F7B-471B-93D4-A5C041E70C69}" type="datetime1">
              <a:rPr lang="en-US" smtClean="0"/>
              <a:t>10/29/2025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6A5E36-E009-4840-A577-F8CF29116582}" type="slidenum">
              <a:rPr lang="en-US" smtClean="0"/>
              <a:t>‹#›</a:t>
            </a:fld>
            <a:endParaRPr lang="en-US"/>
          </a:p>
        </p:txBody>
      </p:sp>
    </p:spTree>
    <p:extLst>
      <p:ext uri="{BB962C8B-B14F-4D97-AF65-F5344CB8AC3E}">
        <p14:creationId xmlns:p14="http://schemas.microsoft.com/office/powerpoint/2010/main" val="36413779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A878D06-5A9E-4B3F-952F-1E0761201B9F}" type="datetime1">
              <a:rPr lang="en-US" smtClean="0"/>
              <a:t>10/29/2025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6A5E36-E009-4840-A577-F8CF29116582}" type="slidenum">
              <a:rPr lang="en-US" smtClean="0"/>
              <a:t>‹#›</a:t>
            </a:fld>
            <a:endParaRPr lang="en-US"/>
          </a:p>
        </p:txBody>
      </p:sp>
    </p:spTree>
    <p:extLst>
      <p:ext uri="{BB962C8B-B14F-4D97-AF65-F5344CB8AC3E}">
        <p14:creationId xmlns:p14="http://schemas.microsoft.com/office/powerpoint/2010/main" val="37676477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6564F4B-6828-4512-B9A2-CDE95FB13083}" type="datetime1">
              <a:rPr lang="en-US" smtClean="0"/>
              <a:t>10/29/2025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6A5E36-E009-4840-A577-F8CF29116582}" type="slidenum">
              <a:rPr lang="en-US" smtClean="0"/>
              <a:t>‹#›</a:t>
            </a:fld>
            <a:endParaRPr lang="en-US"/>
          </a:p>
        </p:txBody>
      </p:sp>
    </p:spTree>
    <p:extLst>
      <p:ext uri="{BB962C8B-B14F-4D97-AF65-F5344CB8AC3E}">
        <p14:creationId xmlns:p14="http://schemas.microsoft.com/office/powerpoint/2010/main" val="3744408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7F60B06E-A043-4080-8A6B-3C15F51235EB}" type="datetime1">
              <a:rPr lang="en-US" smtClean="0"/>
              <a:t>10/29/2025</a:t>
            </a:fld>
            <a:endParaRPr lang="en-US"/>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US"/>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576A5E36-E009-4840-A577-F8CF29116582}" type="slidenum">
              <a:rPr lang="en-US" smtClean="0"/>
              <a:t>‹#›</a:t>
            </a:fld>
            <a:endParaRPr lang="en-US"/>
          </a:p>
        </p:txBody>
      </p:sp>
    </p:spTree>
    <p:extLst>
      <p:ext uri="{BB962C8B-B14F-4D97-AF65-F5344CB8AC3E}">
        <p14:creationId xmlns:p14="http://schemas.microsoft.com/office/powerpoint/2010/main" val="33274340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10.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openxmlformats.org/officeDocument/2006/relationships/image" Target="../media/image110.png"/><Relationship Id="rId3" Type="http://schemas.openxmlformats.org/officeDocument/2006/relationships/image" Target="../media/image60.png"/><Relationship Id="rId7" Type="http://schemas.openxmlformats.org/officeDocument/2006/relationships/image" Target="../media/image100.png"/><Relationship Id="rId2" Type="http://schemas.openxmlformats.org/officeDocument/2006/relationships/image" Target="../media/image101.png"/><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image" Target="../media/image80.png"/><Relationship Id="rId10" Type="http://schemas.openxmlformats.org/officeDocument/2006/relationships/image" Target="../media/image130.png"/><Relationship Id="rId4" Type="http://schemas.openxmlformats.org/officeDocument/2006/relationships/image" Target="../media/image70.png"/><Relationship Id="rId9" Type="http://schemas.openxmlformats.org/officeDocument/2006/relationships/image" Target="../media/image120.png"/></Relationships>
</file>

<file path=ppt/slides/_rels/slide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0.png"/><Relationship Id="rId7" Type="http://schemas.openxmlformats.org/officeDocument/2006/relationships/image" Target="../media/image19.png"/><Relationship Id="rId2" Type="http://schemas.openxmlformats.org/officeDocument/2006/relationships/image" Target="../media/image140.png"/><Relationship Id="rId1" Type="http://schemas.openxmlformats.org/officeDocument/2006/relationships/slideLayout" Target="../slideLayouts/slideLayout2.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8.xml.rels><?xml version="1.0" encoding="UTF-8" standalone="yes"?>
<Relationships xmlns="http://schemas.openxmlformats.org/package/2006/relationships"><Relationship Id="rId8" Type="http://schemas.openxmlformats.org/officeDocument/2006/relationships/customXml" Target="../ink/ink3.xml"/><Relationship Id="rId26" Type="http://schemas.openxmlformats.org/officeDocument/2006/relationships/customXml" Target="../ink/ink8.xml"/><Relationship Id="rId13" Type="http://schemas.openxmlformats.org/officeDocument/2006/relationships/image" Target="../media/image32.png"/><Relationship Id="rId3" Type="http://schemas.openxmlformats.org/officeDocument/2006/relationships/image" Target="../media/image3.jpg"/><Relationship Id="rId21" Type="http://schemas.openxmlformats.org/officeDocument/2006/relationships/image" Target="../media/image36.png"/><Relationship Id="rId7" Type="http://schemas.openxmlformats.org/officeDocument/2006/relationships/image" Target="../media/image29.png"/><Relationship Id="rId25" Type="http://schemas.openxmlformats.org/officeDocument/2006/relationships/image" Target="../media/image311.png"/><Relationship Id="rId2" Type="http://schemas.openxmlformats.org/officeDocument/2006/relationships/image" Target="../media/image2.jpg"/><Relationship Id="rId20" Type="http://schemas.openxmlformats.org/officeDocument/2006/relationships/customXml" Target="../ink/ink5.xml"/><Relationship Id="rId29"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customXml" Target="../ink/ink4.xml"/><Relationship Id="rId24" Type="http://schemas.openxmlformats.org/officeDocument/2006/relationships/customXml" Target="../ink/ink7.xml"/><Relationship Id="rId5" Type="http://schemas.openxmlformats.org/officeDocument/2006/relationships/image" Target="../media/image28.png"/><Relationship Id="rId23" Type="http://schemas.openxmlformats.org/officeDocument/2006/relationships/image" Target="../media/image30.png"/><Relationship Id="rId15" Type="http://schemas.openxmlformats.org/officeDocument/2006/relationships/image" Target="../media/image33.png"/><Relationship Id="rId28" Type="http://schemas.openxmlformats.org/officeDocument/2006/relationships/image" Target="../media/image34.png"/><Relationship Id="rId10" Type="http://schemas.openxmlformats.org/officeDocument/2006/relationships/image" Target="../media/image31.png"/><Relationship Id="rId19" Type="http://schemas.openxmlformats.org/officeDocument/2006/relationships/image" Target="../media/image35.png"/><Relationship Id="rId4" Type="http://schemas.openxmlformats.org/officeDocument/2006/relationships/customXml" Target="../ink/ink1.xml"/><Relationship Id="rId9" Type="http://schemas.openxmlformats.org/officeDocument/2006/relationships/image" Target="../media/image30.emf"/><Relationship Id="rId22" Type="http://schemas.openxmlformats.org/officeDocument/2006/relationships/customXml" Target="../ink/ink6.xml"/><Relationship Id="rId27" Type="http://schemas.openxmlformats.org/officeDocument/2006/relationships/customXml" Target="../ink/ink9.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80.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NULL"/><Relationship Id="rId3" Type="http://schemas.openxmlformats.org/officeDocument/2006/relationships/image" Target="../media/image4.jpg"/><Relationship Id="rId7" Type="http://schemas.openxmlformats.org/officeDocument/2006/relationships/image" Target="NULL"/><Relationship Id="rId12"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image" Target="NULL"/><Relationship Id="rId10" Type="http://schemas.openxmlformats.org/officeDocument/2006/relationships/image" Target="NULL"/><Relationship Id="rId4" Type="http://schemas.openxmlformats.org/officeDocument/2006/relationships/image" Target="../media/image5.jpg"/><Relationship Id="rId9" Type="http://schemas.openxmlformats.org/officeDocument/2006/relationships/image" Target="NULL"/><Relationship Id="rId14" Type="http://schemas.openxmlformats.org/officeDocument/2006/relationships/image" Target="NULL"/></Relationships>
</file>

<file path=ppt/slides/_rels/slide1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NULL"/><Relationship Id="rId4" Type="http://schemas.openxmlformats.org/officeDocument/2006/relationships/image" Target="NULL"/></Relationships>
</file>

<file path=ppt/slides/_rels/slide1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2" Type="http://schemas.openxmlformats.org/officeDocument/2006/relationships/image" Target="../media/image2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3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3B366-077F-5141-BDDB-5136E07F823B}"/>
              </a:ext>
            </a:extLst>
          </p:cNvPr>
          <p:cNvSpPr>
            <a:spLocks noGrp="1"/>
          </p:cNvSpPr>
          <p:nvPr>
            <p:ph type="ctrTitle"/>
          </p:nvPr>
        </p:nvSpPr>
        <p:spPr/>
        <p:txBody>
          <a:bodyPr/>
          <a:lstStyle/>
          <a:p>
            <a:r>
              <a:rPr lang="en-US" dirty="0"/>
              <a:t>Cs1231S</a:t>
            </a:r>
            <a:br>
              <a:rPr lang="en-US" dirty="0"/>
            </a:br>
            <a:r>
              <a:rPr lang="en-US" dirty="0"/>
              <a:t>tutorial #9</a:t>
            </a:r>
          </a:p>
        </p:txBody>
      </p:sp>
      <p:sp>
        <p:nvSpPr>
          <p:cNvPr id="3" name="Subtitle 2">
            <a:extLst>
              <a:ext uri="{FF2B5EF4-FFF2-40B4-BE49-F238E27FC236}">
                <a16:creationId xmlns:a16="http://schemas.microsoft.com/office/drawing/2014/main" id="{05ADE500-BCC6-024C-9FB8-F236052DC590}"/>
              </a:ext>
            </a:extLst>
          </p:cNvPr>
          <p:cNvSpPr>
            <a:spLocks noGrp="1"/>
          </p:cNvSpPr>
          <p:nvPr>
            <p:ph type="subTitle" idx="1"/>
          </p:nvPr>
        </p:nvSpPr>
        <p:spPr/>
        <p:txBody>
          <a:bodyPr>
            <a:normAutofit/>
          </a:bodyPr>
          <a:lstStyle/>
          <a:p>
            <a:r>
              <a:rPr lang="en-US" sz="4800" dirty="0"/>
              <a:t>Counting &amp; Probability I</a:t>
            </a:r>
          </a:p>
        </p:txBody>
      </p:sp>
      <p:sp>
        <p:nvSpPr>
          <p:cNvPr id="4" name="TextBox 3"/>
          <p:cNvSpPr txBox="1"/>
          <p:nvPr/>
        </p:nvSpPr>
        <p:spPr>
          <a:xfrm>
            <a:off x="385374" y="6055744"/>
            <a:ext cx="8377625" cy="523220"/>
          </a:xfrm>
          <a:prstGeom prst="rect">
            <a:avLst/>
          </a:prstGeom>
          <a:noFill/>
        </p:spPr>
        <p:txBody>
          <a:bodyPr wrap="square" rtlCol="0">
            <a:spAutoFit/>
          </a:bodyPr>
          <a:lstStyle/>
          <a:p>
            <a:r>
              <a:rPr lang="en-US" sz="2800" dirty="0">
                <a:solidFill>
                  <a:schemeClr val="bg1"/>
                </a:solidFill>
              </a:rPr>
              <a:t>Adapted from Prof Aaron Tan’s slides</a:t>
            </a:r>
          </a:p>
        </p:txBody>
      </p:sp>
    </p:spTree>
    <p:extLst>
      <p:ext uri="{BB962C8B-B14F-4D97-AF65-F5344CB8AC3E}">
        <p14:creationId xmlns:p14="http://schemas.microsoft.com/office/powerpoint/2010/main" val="35813751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609600"/>
            <a:ext cx="9875520" cy="954847"/>
          </a:xfrm>
        </p:spPr>
        <p:txBody>
          <a:bodyPr/>
          <a:lstStyle/>
          <a:p>
            <a:r>
              <a:rPr lang="en-US" dirty="0"/>
              <a:t>Learning objectives of this tutorial</a:t>
            </a:r>
            <a:endParaRPr lang="en-SG" dirty="0"/>
          </a:p>
        </p:txBody>
      </p:sp>
      <p:sp>
        <p:nvSpPr>
          <p:cNvPr id="3" name="Content Placeholder 2"/>
          <p:cNvSpPr>
            <a:spLocks noGrp="1"/>
          </p:cNvSpPr>
          <p:nvPr>
            <p:ph idx="1"/>
          </p:nvPr>
        </p:nvSpPr>
        <p:spPr>
          <a:xfrm>
            <a:off x="1145649" y="1692275"/>
            <a:ext cx="10482471" cy="4038600"/>
          </a:xfrm>
        </p:spPr>
        <p:txBody>
          <a:bodyPr>
            <a:normAutofit/>
          </a:bodyPr>
          <a:lstStyle/>
          <a:p>
            <a:pPr marL="45720" indent="0">
              <a:buNone/>
            </a:pPr>
            <a:r>
              <a:rPr lang="en-US" sz="3600" dirty="0">
                <a:solidFill>
                  <a:srgbClr val="C00000"/>
                </a:solidFill>
              </a:rPr>
              <a:t>Counting</a:t>
            </a:r>
          </a:p>
          <a:p>
            <a:pPr marL="534988" indent="-358775">
              <a:spcBef>
                <a:spcPts val="600"/>
              </a:spcBef>
              <a:buClrTx/>
              <a:tabLst>
                <a:tab pos="534988" algn="l"/>
              </a:tabLst>
            </a:pPr>
            <a:r>
              <a:rPr lang="en-US" sz="3600" dirty="0">
                <a:solidFill>
                  <a:schemeClr val="tx1"/>
                </a:solidFill>
              </a:rPr>
              <a:t>Applying </a:t>
            </a:r>
            <a:r>
              <a:rPr lang="en-US" sz="3600" dirty="0">
                <a:solidFill>
                  <a:srgbClr val="0000FF"/>
                </a:solidFill>
              </a:rPr>
              <a:t>multiplication rule</a:t>
            </a:r>
            <a:r>
              <a:rPr lang="en-US" sz="3600" dirty="0">
                <a:solidFill>
                  <a:schemeClr val="tx1"/>
                </a:solidFill>
              </a:rPr>
              <a:t>, </a:t>
            </a:r>
            <a:r>
              <a:rPr lang="en-US" sz="3600" dirty="0">
                <a:solidFill>
                  <a:srgbClr val="0000FF"/>
                </a:solidFill>
              </a:rPr>
              <a:t>addition rule</a:t>
            </a:r>
            <a:r>
              <a:rPr lang="en-US" sz="3600" dirty="0">
                <a:solidFill>
                  <a:schemeClr val="tx1"/>
                </a:solidFill>
              </a:rPr>
              <a:t>, </a:t>
            </a:r>
            <a:r>
              <a:rPr lang="en-US" sz="3600" dirty="0">
                <a:solidFill>
                  <a:srgbClr val="0000FF"/>
                </a:solidFill>
              </a:rPr>
              <a:t>difference rule</a:t>
            </a:r>
            <a:r>
              <a:rPr lang="en-US" sz="3600" dirty="0">
                <a:solidFill>
                  <a:schemeClr val="tx1"/>
                </a:solidFill>
              </a:rPr>
              <a:t> and the </a:t>
            </a:r>
            <a:r>
              <a:rPr lang="en-US" sz="3600" dirty="0">
                <a:solidFill>
                  <a:srgbClr val="0000FF"/>
                </a:solidFill>
              </a:rPr>
              <a:t>inclusion/exclusion rule</a:t>
            </a:r>
            <a:r>
              <a:rPr lang="en-US" sz="3600" dirty="0">
                <a:solidFill>
                  <a:schemeClr val="tx1"/>
                </a:solidFill>
              </a:rPr>
              <a:t>.</a:t>
            </a:r>
          </a:p>
          <a:p>
            <a:pPr marL="534988" indent="-358775">
              <a:spcBef>
                <a:spcPts val="600"/>
              </a:spcBef>
              <a:buClrTx/>
              <a:tabLst>
                <a:tab pos="534988" algn="l"/>
              </a:tabLst>
            </a:pPr>
            <a:r>
              <a:rPr lang="en-US" sz="3600" dirty="0">
                <a:solidFill>
                  <a:schemeClr val="tx1"/>
                </a:solidFill>
              </a:rPr>
              <a:t>Applying </a:t>
            </a:r>
            <a:r>
              <a:rPr lang="en-US" sz="3600" dirty="0">
                <a:solidFill>
                  <a:srgbClr val="0000FF"/>
                </a:solidFill>
              </a:rPr>
              <a:t>permutation</a:t>
            </a:r>
            <a:r>
              <a:rPr lang="en-US" sz="3600" dirty="0">
                <a:solidFill>
                  <a:schemeClr val="tx1"/>
                </a:solidFill>
              </a:rPr>
              <a:t>.</a:t>
            </a:r>
          </a:p>
          <a:p>
            <a:pPr marL="534988" indent="-358775">
              <a:spcBef>
                <a:spcPts val="600"/>
              </a:spcBef>
              <a:buClrTx/>
              <a:tabLst>
                <a:tab pos="534988" algn="l"/>
              </a:tabLst>
            </a:pPr>
            <a:r>
              <a:rPr lang="en-US" sz="3600" dirty="0">
                <a:solidFill>
                  <a:schemeClr val="tx1"/>
                </a:solidFill>
              </a:rPr>
              <a:t>Learning about </a:t>
            </a:r>
            <a:r>
              <a:rPr lang="en-US" sz="3600" dirty="0">
                <a:solidFill>
                  <a:srgbClr val="0000FF"/>
                </a:solidFill>
              </a:rPr>
              <a:t>circular permutation</a:t>
            </a:r>
            <a:r>
              <a:rPr lang="en-US" sz="3600" dirty="0">
                <a:solidFill>
                  <a:schemeClr val="tx1"/>
                </a:solidFill>
              </a:rPr>
              <a:t>.</a:t>
            </a:r>
          </a:p>
          <a:p>
            <a:pPr marL="534988" indent="-358775">
              <a:spcBef>
                <a:spcPts val="600"/>
              </a:spcBef>
              <a:buClrTx/>
              <a:tabLst>
                <a:tab pos="534988" algn="l"/>
              </a:tabLst>
            </a:pPr>
            <a:r>
              <a:rPr lang="en-US" sz="3600" dirty="0">
                <a:solidFill>
                  <a:schemeClr val="tx1"/>
                </a:solidFill>
              </a:rPr>
              <a:t>Solving problems using the </a:t>
            </a:r>
            <a:r>
              <a:rPr lang="en-US" sz="3600" dirty="0">
                <a:solidFill>
                  <a:srgbClr val="0000FF"/>
                </a:solidFill>
              </a:rPr>
              <a:t>Pigeonhole Principle</a:t>
            </a:r>
            <a:r>
              <a:rPr lang="en-US" sz="3600" dirty="0">
                <a:solidFill>
                  <a:schemeClr val="tx1"/>
                </a:solidFill>
              </a:rPr>
              <a:t>.</a:t>
            </a:r>
          </a:p>
          <a:p>
            <a:pPr marL="534988" indent="-358775">
              <a:spcBef>
                <a:spcPts val="600"/>
              </a:spcBef>
              <a:buClrTx/>
              <a:tabLst>
                <a:tab pos="534988" algn="l"/>
              </a:tabLst>
            </a:pPr>
            <a:r>
              <a:rPr lang="en-US" sz="3600" dirty="0">
                <a:solidFill>
                  <a:schemeClr val="tx1"/>
                </a:solidFill>
              </a:rPr>
              <a:t>Applying </a:t>
            </a:r>
            <a:r>
              <a:rPr lang="en-US" sz="3600" dirty="0">
                <a:solidFill>
                  <a:srgbClr val="0000FF"/>
                </a:solidFill>
              </a:rPr>
              <a:t>combination</a:t>
            </a:r>
            <a:r>
              <a:rPr lang="en-US" sz="3600" dirty="0">
                <a:solidFill>
                  <a:schemeClr val="tx1"/>
                </a:solidFill>
              </a:rPr>
              <a:t>.</a:t>
            </a:r>
            <a:endParaRPr lang="en-SG" sz="3600" dirty="0">
              <a:solidFill>
                <a:schemeClr val="tx1"/>
              </a:solidFill>
            </a:endParaRPr>
          </a:p>
        </p:txBody>
      </p:sp>
      <p:sp>
        <p:nvSpPr>
          <p:cNvPr id="4" name="Slide Number Placeholder 3"/>
          <p:cNvSpPr>
            <a:spLocks noGrp="1"/>
          </p:cNvSpPr>
          <p:nvPr>
            <p:ph type="sldNum" sz="quarter" idx="12"/>
          </p:nvPr>
        </p:nvSpPr>
        <p:spPr>
          <a:xfrm>
            <a:off x="10253555" y="6588953"/>
            <a:ext cx="1706217" cy="365125"/>
          </a:xfrm>
        </p:spPr>
        <p:txBody>
          <a:bodyPr/>
          <a:lstStyle/>
          <a:p>
            <a:fld id="{576A5E36-E009-4840-A577-F8CF29116582}" type="slidenum">
              <a:rPr lang="en-US" smtClean="0">
                <a:solidFill>
                  <a:schemeClr val="bg1"/>
                </a:solidFill>
              </a:rPr>
              <a:t>2</a:t>
            </a:fld>
            <a:endParaRPr lang="en-US" dirty="0">
              <a:solidFill>
                <a:schemeClr val="bg1"/>
              </a:solidFill>
            </a:endParaRPr>
          </a:p>
        </p:txBody>
      </p:sp>
    </p:spTree>
    <p:extLst>
      <p:ext uri="{BB962C8B-B14F-4D97-AF65-F5344CB8AC3E}">
        <p14:creationId xmlns:p14="http://schemas.microsoft.com/office/powerpoint/2010/main" val="16578186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BA156-4F16-4647-96DA-959659C5BFBF}"/>
              </a:ext>
            </a:extLst>
          </p:cNvPr>
          <p:cNvSpPr>
            <a:spLocks noGrp="1"/>
          </p:cNvSpPr>
          <p:nvPr>
            <p:ph type="title"/>
          </p:nvPr>
        </p:nvSpPr>
        <p:spPr>
          <a:xfrm>
            <a:off x="431801" y="412817"/>
            <a:ext cx="1124283" cy="762000"/>
          </a:xfrm>
        </p:spPr>
        <p:txBody>
          <a:bodyPr>
            <a:normAutofit/>
          </a:bodyPr>
          <a:lstStyle/>
          <a:p>
            <a:r>
              <a:rPr lang="en-US" dirty="0" err="1">
                <a:solidFill>
                  <a:schemeClr val="bg2">
                    <a:lumMod val="50000"/>
                  </a:schemeClr>
                </a:solidFill>
              </a:rPr>
              <a:t>Q1</a:t>
            </a:r>
            <a:r>
              <a:rPr lang="en-US" dirty="0">
                <a:solidFill>
                  <a:schemeClr val="bg2">
                    <a:lumMod val="50000"/>
                  </a:schemeClr>
                </a:solidFill>
              </a:rPr>
              <a:t>.</a:t>
            </a:r>
            <a:r>
              <a:rPr lang="en-US" dirty="0">
                <a:latin typeface="CMR10"/>
              </a:rPr>
              <a:t>	</a:t>
            </a:r>
            <a:endParaRPr lang="en-US" dirty="0">
              <a:solidFill>
                <a:schemeClr val="bg2">
                  <a:lumMod val="50000"/>
                </a:schemeClr>
              </a:solidFill>
            </a:endParaRPr>
          </a:p>
        </p:txBody>
      </p:sp>
      <p:sp>
        <p:nvSpPr>
          <p:cNvPr id="18" name="Slide Number Placeholder 1"/>
          <p:cNvSpPr>
            <a:spLocks noGrp="1"/>
          </p:cNvSpPr>
          <p:nvPr>
            <p:ph type="sldNum" sz="quarter" idx="12"/>
          </p:nvPr>
        </p:nvSpPr>
        <p:spPr>
          <a:xfrm>
            <a:off x="10485783" y="6521888"/>
            <a:ext cx="1706217" cy="365125"/>
          </a:xfrm>
        </p:spPr>
        <p:txBody>
          <a:bodyPr/>
          <a:lstStyle/>
          <a:p>
            <a:fld id="{576A5E36-E009-4840-A577-F8CF29116582}" type="slidenum">
              <a:rPr lang="en-US" sz="1600" smtClean="0">
                <a:solidFill>
                  <a:schemeClr val="bg1"/>
                </a:solidFill>
              </a:rPr>
              <a:t>3</a:t>
            </a:fld>
            <a:endParaRPr lang="en-US" sz="1600" dirty="0">
              <a:solidFill>
                <a:schemeClr val="bg1"/>
              </a:solidFill>
            </a:endParaRPr>
          </a:p>
        </p:txBody>
      </p:sp>
      <p:sp>
        <p:nvSpPr>
          <p:cNvPr id="19" name="TextBox 18">
            <a:extLst>
              <a:ext uri="{FF2B5EF4-FFF2-40B4-BE49-F238E27FC236}">
                <a16:creationId xmlns:a16="http://schemas.microsoft.com/office/drawing/2014/main" id="{FD7C2A9C-C8F2-439D-B939-444A86BEAC8B}"/>
              </a:ext>
            </a:extLst>
          </p:cNvPr>
          <p:cNvSpPr txBox="1"/>
          <p:nvPr/>
        </p:nvSpPr>
        <p:spPr>
          <a:xfrm>
            <a:off x="1371354" y="443735"/>
            <a:ext cx="10523011" cy="954107"/>
          </a:xfrm>
          <a:prstGeom prst="rect">
            <a:avLst/>
          </a:prstGeom>
          <a:solidFill>
            <a:srgbClr val="CCECFF"/>
          </a:solidFill>
        </p:spPr>
        <p:txBody>
          <a:bodyPr wrap="square" rtlCol="0">
            <a:spAutoFit/>
          </a:bodyPr>
          <a:lstStyle/>
          <a:p>
            <a:r>
              <a:rPr lang="en-US" sz="2800" dirty="0"/>
              <a:t>You draw a sequence of 5 cards from a deck of cards. How many sequences have at least one picture card if</a:t>
            </a:r>
            <a:endParaRPr lang="en-US" sz="2800" dirty="0">
              <a:solidFill>
                <a:srgbClr val="0000FF"/>
              </a:solidFill>
            </a:endParaRPr>
          </a:p>
        </p:txBody>
      </p:sp>
      <p:sp>
        <p:nvSpPr>
          <p:cNvPr id="3" name="TextBox 2">
            <a:extLst>
              <a:ext uri="{FF2B5EF4-FFF2-40B4-BE49-F238E27FC236}">
                <a16:creationId xmlns:a16="http://schemas.microsoft.com/office/drawing/2014/main" id="{EC3FFAE7-8A59-4841-B1D6-D0F79ED65566}"/>
              </a:ext>
            </a:extLst>
          </p:cNvPr>
          <p:cNvSpPr txBox="1"/>
          <p:nvPr/>
        </p:nvSpPr>
        <p:spPr>
          <a:xfrm>
            <a:off x="4099573" y="2128639"/>
            <a:ext cx="4742004" cy="523220"/>
          </a:xfrm>
          <a:prstGeom prst="rect">
            <a:avLst/>
          </a:prstGeom>
          <a:noFill/>
        </p:spPr>
        <p:txBody>
          <a:bodyPr wrap="none" rtlCol="0">
            <a:spAutoFit/>
          </a:bodyPr>
          <a:lstStyle/>
          <a:p>
            <a:r>
              <a:rPr lang="en-US" sz="2800" dirty="0"/>
              <a:t>Number of 5-card sequences = </a:t>
            </a:r>
          </a:p>
        </p:txBody>
      </p:sp>
      <p:sp>
        <p:nvSpPr>
          <p:cNvPr id="12" name="TextBox 11">
            <a:extLst>
              <a:ext uri="{FF2B5EF4-FFF2-40B4-BE49-F238E27FC236}">
                <a16:creationId xmlns:a16="http://schemas.microsoft.com/office/drawing/2014/main" id="{AE7337A3-E510-4145-AA8F-9B6346ECFC21}"/>
              </a:ext>
            </a:extLst>
          </p:cNvPr>
          <p:cNvSpPr txBox="1"/>
          <p:nvPr/>
        </p:nvSpPr>
        <p:spPr>
          <a:xfrm>
            <a:off x="4099574" y="3758190"/>
            <a:ext cx="4982896" cy="954107"/>
          </a:xfrm>
          <a:prstGeom prst="rect">
            <a:avLst/>
          </a:prstGeom>
          <a:noFill/>
        </p:spPr>
        <p:txBody>
          <a:bodyPr wrap="square" rtlCol="0">
            <a:spAutoFit/>
          </a:bodyPr>
          <a:lstStyle/>
          <a:p>
            <a:r>
              <a:rPr lang="en-US" sz="2800" dirty="0"/>
              <a:t>Number of 5-card sequences </a:t>
            </a:r>
            <a:br>
              <a:rPr lang="en-US" sz="2800" dirty="0"/>
            </a:br>
            <a:r>
              <a:rPr lang="en-US" sz="2800" dirty="0"/>
              <a:t>with at least one picture card =</a:t>
            </a:r>
          </a:p>
        </p:txBody>
      </p:sp>
      <p:pic>
        <p:nvPicPr>
          <p:cNvPr id="7" name="Picture 6">
            <a:extLst>
              <a:ext uri="{FF2B5EF4-FFF2-40B4-BE49-F238E27FC236}">
                <a16:creationId xmlns:a16="http://schemas.microsoft.com/office/drawing/2014/main" id="{C5B65C7A-792B-458C-8E29-156BC272ADAC}"/>
              </a:ext>
            </a:extLst>
          </p:cNvPr>
          <p:cNvPicPr>
            <a:picLocks noChangeAspect="1"/>
          </p:cNvPicPr>
          <p:nvPr/>
        </p:nvPicPr>
        <p:blipFill>
          <a:blip r:embed="rId2"/>
          <a:stretch>
            <a:fillRect/>
          </a:stretch>
        </p:blipFill>
        <p:spPr>
          <a:xfrm>
            <a:off x="588365" y="2011699"/>
            <a:ext cx="3368780" cy="2748215"/>
          </a:xfrm>
          <a:prstGeom prst="rect">
            <a:avLst/>
          </a:prstGeom>
        </p:spPr>
      </p:pic>
      <p:sp>
        <p:nvSpPr>
          <p:cNvPr id="14" name="TextBox 13">
            <a:extLst>
              <a:ext uri="{FF2B5EF4-FFF2-40B4-BE49-F238E27FC236}">
                <a16:creationId xmlns:a16="http://schemas.microsoft.com/office/drawing/2014/main" id="{2C1DE2E7-FEF3-4AE9-AA55-CFDE02874437}"/>
              </a:ext>
            </a:extLst>
          </p:cNvPr>
          <p:cNvSpPr txBox="1"/>
          <p:nvPr/>
        </p:nvSpPr>
        <p:spPr>
          <a:xfrm>
            <a:off x="1371354" y="1492988"/>
            <a:ext cx="8482094" cy="523220"/>
          </a:xfrm>
          <a:prstGeom prst="rect">
            <a:avLst/>
          </a:prstGeom>
          <a:solidFill>
            <a:srgbClr val="CCECFF"/>
          </a:solidFill>
        </p:spPr>
        <p:txBody>
          <a:bodyPr wrap="square" rtlCol="0">
            <a:spAutoFit/>
          </a:bodyPr>
          <a:lstStyle/>
          <a:p>
            <a:pPr>
              <a:tabLst>
                <a:tab pos="536575" algn="l"/>
              </a:tabLst>
            </a:pPr>
            <a:r>
              <a:rPr lang="en-US" sz="2800" dirty="0"/>
              <a:t>(a)	you draw the cards with replacement?</a:t>
            </a:r>
          </a:p>
        </p:txBody>
      </p:sp>
      <p:sp>
        <p:nvSpPr>
          <p:cNvPr id="15" name="TextBox 14">
            <a:extLst>
              <a:ext uri="{FF2B5EF4-FFF2-40B4-BE49-F238E27FC236}">
                <a16:creationId xmlns:a16="http://schemas.microsoft.com/office/drawing/2014/main" id="{F4FB118C-1B94-4DCB-9AD9-141438E7B5CB}"/>
              </a:ext>
            </a:extLst>
          </p:cNvPr>
          <p:cNvSpPr txBox="1"/>
          <p:nvPr/>
        </p:nvSpPr>
        <p:spPr>
          <a:xfrm>
            <a:off x="4099574" y="2786422"/>
            <a:ext cx="4618757" cy="954107"/>
          </a:xfrm>
          <a:prstGeom prst="rect">
            <a:avLst/>
          </a:prstGeom>
          <a:noFill/>
        </p:spPr>
        <p:txBody>
          <a:bodyPr wrap="square" rtlCol="0">
            <a:spAutoFit/>
          </a:bodyPr>
          <a:lstStyle/>
          <a:p>
            <a:r>
              <a:rPr lang="en-US" sz="2800" dirty="0"/>
              <a:t>Number of 5-card sequences with no picture card = </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BCCAEA7F-E2C6-4B1D-AE00-BB6578E52F1B}"/>
                  </a:ext>
                </a:extLst>
              </p:cNvPr>
              <p:cNvSpPr txBox="1"/>
              <p:nvPr/>
            </p:nvSpPr>
            <p:spPr>
              <a:xfrm>
                <a:off x="8718331" y="2116807"/>
                <a:ext cx="821507" cy="5280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2800" i="1" smtClean="0">
                              <a:latin typeface="Cambria Math" panose="02040503050406030204" pitchFamily="18" charset="0"/>
                            </a:rPr>
                          </m:ctrlPr>
                        </m:sSupPr>
                        <m:e>
                          <m:r>
                            <a:rPr lang="en-SG" sz="2800" b="0" i="1" smtClean="0">
                              <a:latin typeface="Cambria Math" panose="02040503050406030204" pitchFamily="18" charset="0"/>
                            </a:rPr>
                            <m:t>52</m:t>
                          </m:r>
                        </m:e>
                        <m:sup>
                          <m:r>
                            <a:rPr lang="en-SG" sz="2800" b="0" i="1" smtClean="0">
                              <a:latin typeface="Cambria Math" panose="02040503050406030204" pitchFamily="18" charset="0"/>
                            </a:rPr>
                            <m:t>5</m:t>
                          </m:r>
                        </m:sup>
                      </m:sSup>
                    </m:oMath>
                  </m:oMathPara>
                </a14:m>
                <a:endParaRPr lang="en-US" sz="2800" dirty="0"/>
              </a:p>
            </p:txBody>
          </p:sp>
        </mc:Choice>
        <mc:Fallback xmlns="">
          <p:sp>
            <p:nvSpPr>
              <p:cNvPr id="16" name="TextBox 15">
                <a:extLst>
                  <a:ext uri="{FF2B5EF4-FFF2-40B4-BE49-F238E27FC236}">
                    <a16:creationId xmlns:a16="http://schemas.microsoft.com/office/drawing/2014/main" id="{BCCAEA7F-E2C6-4B1D-AE00-BB6578E52F1B}"/>
                  </a:ext>
                </a:extLst>
              </p:cNvPr>
              <p:cNvSpPr txBox="1">
                <a:spLocks noRot="1" noChangeAspect="1" noMove="1" noResize="1" noEditPoints="1" noAdjustHandles="1" noChangeArrowheads="1" noChangeShapeType="1" noTextEdit="1"/>
              </p:cNvSpPr>
              <p:nvPr/>
            </p:nvSpPr>
            <p:spPr>
              <a:xfrm>
                <a:off x="8718331" y="2116807"/>
                <a:ext cx="821507" cy="52809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9DE1989C-2273-4326-9AE6-DCC544012C32}"/>
                  </a:ext>
                </a:extLst>
              </p:cNvPr>
              <p:cNvSpPr txBox="1"/>
              <p:nvPr/>
            </p:nvSpPr>
            <p:spPr>
              <a:xfrm>
                <a:off x="7387511" y="3212436"/>
                <a:ext cx="821507" cy="52809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2800" i="1" smtClean="0">
                              <a:latin typeface="Cambria Math" panose="02040503050406030204" pitchFamily="18" charset="0"/>
                            </a:rPr>
                          </m:ctrlPr>
                        </m:sSupPr>
                        <m:e>
                          <m:r>
                            <a:rPr lang="en-SG" sz="2800" b="0" i="1" smtClean="0">
                              <a:latin typeface="Cambria Math" panose="02040503050406030204" pitchFamily="18" charset="0"/>
                            </a:rPr>
                            <m:t>4</m:t>
                          </m:r>
                          <m:r>
                            <a:rPr lang="en-US" sz="2800" b="0" i="1" smtClean="0">
                              <a:latin typeface="Cambria Math" panose="02040503050406030204" pitchFamily="18" charset="0"/>
                            </a:rPr>
                            <m:t>0</m:t>
                          </m:r>
                        </m:e>
                        <m:sup>
                          <m:r>
                            <a:rPr lang="en-SG" sz="2800" b="0" i="1" smtClean="0">
                              <a:latin typeface="Cambria Math" panose="02040503050406030204" pitchFamily="18" charset="0"/>
                            </a:rPr>
                            <m:t>5</m:t>
                          </m:r>
                        </m:sup>
                      </m:sSup>
                    </m:oMath>
                  </m:oMathPara>
                </a14:m>
                <a:endParaRPr lang="en-US" sz="2800" dirty="0"/>
              </a:p>
            </p:txBody>
          </p:sp>
        </mc:Choice>
        <mc:Fallback xmlns="">
          <p:sp>
            <p:nvSpPr>
              <p:cNvPr id="17" name="TextBox 16">
                <a:extLst>
                  <a:ext uri="{FF2B5EF4-FFF2-40B4-BE49-F238E27FC236}">
                    <a16:creationId xmlns:a16="http://schemas.microsoft.com/office/drawing/2014/main" id="{9DE1989C-2273-4326-9AE6-DCC544012C32}"/>
                  </a:ext>
                </a:extLst>
              </p:cNvPr>
              <p:cNvSpPr txBox="1">
                <a:spLocks noRot="1" noChangeAspect="1" noMove="1" noResize="1" noEditPoints="1" noAdjustHandles="1" noChangeArrowheads="1" noChangeShapeType="1" noTextEdit="1"/>
              </p:cNvSpPr>
              <p:nvPr/>
            </p:nvSpPr>
            <p:spPr>
              <a:xfrm>
                <a:off x="7387511" y="3212436"/>
                <a:ext cx="821507" cy="528093"/>
              </a:xfrm>
              <a:prstGeom prst="rect">
                <a:avLst/>
              </a:prstGeom>
              <a:blipFill>
                <a:blip r:embed="rId4"/>
                <a:stretch>
                  <a:fillRect/>
                </a:stretch>
              </a:blipFill>
            </p:spPr>
            <p:txBody>
              <a:bodyPr/>
              <a:lstStyle/>
              <a:p>
                <a:r>
                  <a:rPr lang="en-US">
                    <a:noFill/>
                  </a:rPr>
                  <a:t> </a:t>
                </a:r>
              </a:p>
            </p:txBody>
          </p:sp>
        </mc:Fallback>
      </mc:AlternateContent>
      <p:sp>
        <p:nvSpPr>
          <p:cNvPr id="20" name="TextBox 19">
            <a:extLst>
              <a:ext uri="{FF2B5EF4-FFF2-40B4-BE49-F238E27FC236}">
                <a16:creationId xmlns:a16="http://schemas.microsoft.com/office/drawing/2014/main" id="{32429D3E-DE49-46E8-8AC1-C62986EA8525}"/>
              </a:ext>
            </a:extLst>
          </p:cNvPr>
          <p:cNvSpPr txBox="1"/>
          <p:nvPr/>
        </p:nvSpPr>
        <p:spPr>
          <a:xfrm>
            <a:off x="4099574" y="5434503"/>
            <a:ext cx="5328638" cy="523220"/>
          </a:xfrm>
          <a:prstGeom prst="rect">
            <a:avLst/>
          </a:prstGeom>
          <a:noFill/>
        </p:spPr>
        <p:txBody>
          <a:bodyPr wrap="none" rtlCol="0">
            <a:spAutoFit/>
          </a:bodyPr>
          <a:lstStyle/>
          <a:p>
            <a:r>
              <a:rPr lang="en-US" sz="2800" dirty="0"/>
              <a:t>by </a:t>
            </a:r>
            <a:r>
              <a:rPr lang="en-US" sz="2800" dirty="0">
                <a:solidFill>
                  <a:srgbClr val="006600"/>
                </a:solidFill>
              </a:rPr>
              <a:t>Theorem 9.3.2 (difference rule) </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10FA1392-AB80-485C-9D7B-5E5AC9E96CC0}"/>
                  </a:ext>
                </a:extLst>
              </p:cNvPr>
              <p:cNvSpPr txBox="1"/>
              <p:nvPr/>
            </p:nvSpPr>
            <p:spPr>
              <a:xfrm>
                <a:off x="8718331" y="4178603"/>
                <a:ext cx="1833378" cy="528093"/>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sSup>
                        <m:sSupPr>
                          <m:ctrlPr>
                            <a:rPr lang="en-US" sz="2800" i="1" smtClean="0">
                              <a:latin typeface="Cambria Math" panose="02040503050406030204" pitchFamily="18" charset="0"/>
                            </a:rPr>
                          </m:ctrlPr>
                        </m:sSupPr>
                        <m:e>
                          <m:r>
                            <a:rPr lang="en-SG" sz="2800" b="0" i="1" smtClean="0">
                              <a:latin typeface="Cambria Math" panose="02040503050406030204" pitchFamily="18" charset="0"/>
                            </a:rPr>
                            <m:t>52</m:t>
                          </m:r>
                        </m:e>
                        <m:sup>
                          <m:r>
                            <a:rPr lang="en-SG" sz="2800" b="0" i="1" smtClean="0">
                              <a:latin typeface="Cambria Math" panose="02040503050406030204" pitchFamily="18" charset="0"/>
                            </a:rPr>
                            <m:t>5</m:t>
                          </m:r>
                        </m:sup>
                      </m:sSup>
                      <m:r>
                        <a:rPr lang="en-SG" sz="2800" b="0" i="1" smtClean="0">
                          <a:latin typeface="Cambria Math" panose="02040503050406030204" pitchFamily="18" charset="0"/>
                        </a:rPr>
                        <m:t>−</m:t>
                      </m:r>
                      <m:sSup>
                        <m:sSupPr>
                          <m:ctrlPr>
                            <a:rPr lang="en-US" sz="2800" i="1">
                              <a:latin typeface="Cambria Math" panose="02040503050406030204" pitchFamily="18" charset="0"/>
                            </a:rPr>
                          </m:ctrlPr>
                        </m:sSupPr>
                        <m:e>
                          <m:r>
                            <a:rPr lang="en-SG" sz="2800" i="1">
                              <a:latin typeface="Cambria Math" panose="02040503050406030204" pitchFamily="18" charset="0"/>
                            </a:rPr>
                            <m:t>4</m:t>
                          </m:r>
                          <m:r>
                            <a:rPr lang="en-US" sz="2800" b="0" i="1" smtClean="0">
                              <a:latin typeface="Cambria Math" panose="02040503050406030204" pitchFamily="18" charset="0"/>
                            </a:rPr>
                            <m:t>0</m:t>
                          </m:r>
                        </m:e>
                        <m:sup>
                          <m:r>
                            <a:rPr lang="en-SG" sz="2800" i="1">
                              <a:latin typeface="Cambria Math" panose="02040503050406030204" pitchFamily="18" charset="0"/>
                            </a:rPr>
                            <m:t>5</m:t>
                          </m:r>
                        </m:sup>
                      </m:sSup>
                    </m:oMath>
                  </m:oMathPara>
                </a14:m>
                <a:endParaRPr lang="en-US" sz="2800" dirty="0"/>
              </a:p>
            </p:txBody>
          </p:sp>
        </mc:Choice>
        <mc:Fallback xmlns="">
          <p:sp>
            <p:nvSpPr>
              <p:cNvPr id="21" name="TextBox 20">
                <a:extLst>
                  <a:ext uri="{FF2B5EF4-FFF2-40B4-BE49-F238E27FC236}">
                    <a16:creationId xmlns:a16="http://schemas.microsoft.com/office/drawing/2014/main" id="{10FA1392-AB80-485C-9D7B-5E5AC9E96CC0}"/>
                  </a:ext>
                </a:extLst>
              </p:cNvPr>
              <p:cNvSpPr txBox="1">
                <a:spLocks noRot="1" noChangeAspect="1" noMove="1" noResize="1" noEditPoints="1" noAdjustHandles="1" noChangeArrowheads="1" noChangeShapeType="1" noTextEdit="1"/>
              </p:cNvSpPr>
              <p:nvPr/>
            </p:nvSpPr>
            <p:spPr>
              <a:xfrm>
                <a:off x="8718331" y="4178603"/>
                <a:ext cx="1833378" cy="528093"/>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71780A48-4603-488D-B63A-FEABF4379128}"/>
                  </a:ext>
                </a:extLst>
              </p:cNvPr>
              <p:cNvSpPr txBox="1"/>
              <p:nvPr/>
            </p:nvSpPr>
            <p:spPr>
              <a:xfrm>
                <a:off x="8384583" y="4722962"/>
                <a:ext cx="3068664" cy="528093"/>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SG" sz="2800" i="1" smtClean="0">
                          <a:latin typeface="Cambria Math" panose="02040503050406030204" pitchFamily="18" charset="0"/>
                        </a:rPr>
                        <m:t>=</m:t>
                      </m:r>
                      <m:r>
                        <a:rPr lang="en-US" sz="2800" b="1" i="1" smtClean="0">
                          <a:solidFill>
                            <a:srgbClr val="C00000"/>
                          </a:solidFill>
                          <a:latin typeface="Cambria Math" panose="02040503050406030204" pitchFamily="18" charset="0"/>
                        </a:rPr>
                        <m:t>𝟐𝟕𝟕</m:t>
                      </m:r>
                      <m:r>
                        <a:rPr lang="en-US" sz="2800" b="1" i="1" smtClean="0">
                          <a:solidFill>
                            <a:srgbClr val="C00000"/>
                          </a:solidFill>
                          <a:latin typeface="Cambria Math" panose="02040503050406030204" pitchFamily="18" charset="0"/>
                        </a:rPr>
                        <m:t>.</m:t>
                      </m:r>
                      <m:r>
                        <a:rPr lang="en-US" sz="2800" b="1" i="1" smtClean="0">
                          <a:solidFill>
                            <a:srgbClr val="C00000"/>
                          </a:solidFill>
                          <a:latin typeface="Cambria Math" panose="02040503050406030204" pitchFamily="18" charset="0"/>
                        </a:rPr>
                        <m:t>𝟖𝟎𝟒</m:t>
                      </m:r>
                      <m:r>
                        <a:rPr lang="en-US" sz="2800" b="1" i="1" smtClean="0">
                          <a:solidFill>
                            <a:srgbClr val="C00000"/>
                          </a:solidFill>
                          <a:latin typeface="Cambria Math" panose="02040503050406030204" pitchFamily="18" charset="0"/>
                        </a:rPr>
                        <m:t>,</m:t>
                      </m:r>
                      <m:r>
                        <a:rPr lang="en-SG" sz="2800" b="1" i="1" smtClean="0">
                          <a:solidFill>
                            <a:srgbClr val="C00000"/>
                          </a:solidFill>
                          <a:latin typeface="Cambria Math" panose="02040503050406030204" pitchFamily="18" charset="0"/>
                        </a:rPr>
                        <m:t>𝟎</m:t>
                      </m:r>
                      <m:r>
                        <a:rPr lang="en-US" sz="2800" b="1" i="1" smtClean="0">
                          <a:solidFill>
                            <a:srgbClr val="C00000"/>
                          </a:solidFill>
                          <a:latin typeface="Cambria Math" panose="02040503050406030204" pitchFamily="18" charset="0"/>
                        </a:rPr>
                        <m:t>𝟑𝟐</m:t>
                      </m:r>
                      <m:r>
                        <a:rPr lang="en-SG" sz="2800" b="1" i="1" smtClean="0">
                          <a:solidFill>
                            <a:srgbClr val="C00000"/>
                          </a:solidFill>
                          <a:latin typeface="Cambria Math" panose="02040503050406030204" pitchFamily="18" charset="0"/>
                        </a:rPr>
                        <m:t>.</m:t>
                      </m:r>
                    </m:oMath>
                  </m:oMathPara>
                </a14:m>
                <a:endParaRPr lang="en-US" sz="2800" b="1" dirty="0">
                  <a:solidFill>
                    <a:srgbClr val="C00000"/>
                  </a:solidFill>
                </a:endParaRPr>
              </a:p>
            </p:txBody>
          </p:sp>
        </mc:Choice>
        <mc:Fallback xmlns="">
          <p:sp>
            <p:nvSpPr>
              <p:cNvPr id="23" name="TextBox 22">
                <a:extLst>
                  <a:ext uri="{FF2B5EF4-FFF2-40B4-BE49-F238E27FC236}">
                    <a16:creationId xmlns:a16="http://schemas.microsoft.com/office/drawing/2014/main" id="{71780A48-4603-488D-B63A-FEABF4379128}"/>
                  </a:ext>
                </a:extLst>
              </p:cNvPr>
              <p:cNvSpPr txBox="1">
                <a:spLocks noRot="1" noChangeAspect="1" noMove="1" noResize="1" noEditPoints="1" noAdjustHandles="1" noChangeArrowheads="1" noChangeShapeType="1" noTextEdit="1"/>
              </p:cNvSpPr>
              <p:nvPr/>
            </p:nvSpPr>
            <p:spPr>
              <a:xfrm>
                <a:off x="8384583" y="4722962"/>
                <a:ext cx="3068664" cy="528093"/>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411129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dissolv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dissolv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dissolve">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dissolv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dissolve">
                                      <p:cBhvr>
                                        <p:cTn id="32" dur="5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dissolve">
                                      <p:cBhvr>
                                        <p:cTn id="37" dur="500"/>
                                        <p:tgtEl>
                                          <p:spTgt spid="23"/>
                                        </p:tgtEl>
                                      </p:cBhvr>
                                    </p:animEffect>
                                  </p:childTnLst>
                                </p:cTn>
                              </p:par>
                            </p:childTnLst>
                          </p:cTn>
                        </p:par>
                        <p:par>
                          <p:cTn id="38" fill="hold">
                            <p:stCondLst>
                              <p:cond delay="500"/>
                            </p:stCondLst>
                            <p:childTnLst>
                              <p:par>
                                <p:cTn id="39" presetID="9" presetClass="entr" presetSubtype="0" fill="hold" grpId="0" nodeType="after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dissolve">
                                      <p:cBhvr>
                                        <p:cTn id="4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2" grpId="0"/>
      <p:bldP spid="15" grpId="0"/>
      <p:bldP spid="16" grpId="0"/>
      <p:bldP spid="17" grpId="0"/>
      <p:bldP spid="20" grpId="0"/>
      <p:bldP spid="21" grpId="0"/>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F4E92-09D6-C096-3D0E-55406744FA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4903C8-81DC-B32D-DB8B-C1E32936D3CC}"/>
              </a:ext>
            </a:extLst>
          </p:cNvPr>
          <p:cNvSpPr>
            <a:spLocks noGrp="1"/>
          </p:cNvSpPr>
          <p:nvPr>
            <p:ph type="title"/>
          </p:nvPr>
        </p:nvSpPr>
        <p:spPr>
          <a:xfrm>
            <a:off x="431801" y="412817"/>
            <a:ext cx="1124283" cy="762000"/>
          </a:xfrm>
        </p:spPr>
        <p:txBody>
          <a:bodyPr>
            <a:normAutofit/>
          </a:bodyPr>
          <a:lstStyle/>
          <a:p>
            <a:r>
              <a:rPr lang="en-US" dirty="0" err="1">
                <a:solidFill>
                  <a:schemeClr val="bg2">
                    <a:lumMod val="50000"/>
                  </a:schemeClr>
                </a:solidFill>
              </a:rPr>
              <a:t>Q1</a:t>
            </a:r>
            <a:r>
              <a:rPr lang="en-US" dirty="0">
                <a:solidFill>
                  <a:schemeClr val="bg2">
                    <a:lumMod val="50000"/>
                  </a:schemeClr>
                </a:solidFill>
              </a:rPr>
              <a:t>.</a:t>
            </a:r>
            <a:r>
              <a:rPr lang="en-US" dirty="0">
                <a:latin typeface="CMR10"/>
              </a:rPr>
              <a:t>	</a:t>
            </a:r>
            <a:endParaRPr lang="en-US" dirty="0">
              <a:solidFill>
                <a:schemeClr val="bg2">
                  <a:lumMod val="50000"/>
                </a:schemeClr>
              </a:solidFill>
            </a:endParaRPr>
          </a:p>
        </p:txBody>
      </p:sp>
      <p:sp>
        <p:nvSpPr>
          <p:cNvPr id="18" name="Slide Number Placeholder 1">
            <a:extLst>
              <a:ext uri="{FF2B5EF4-FFF2-40B4-BE49-F238E27FC236}">
                <a16:creationId xmlns:a16="http://schemas.microsoft.com/office/drawing/2014/main" id="{AFAA78AE-DADD-ED47-36DA-38F306A6A445}"/>
              </a:ext>
            </a:extLst>
          </p:cNvPr>
          <p:cNvSpPr>
            <a:spLocks noGrp="1"/>
          </p:cNvSpPr>
          <p:nvPr>
            <p:ph type="sldNum" sz="quarter" idx="12"/>
          </p:nvPr>
        </p:nvSpPr>
        <p:spPr>
          <a:xfrm>
            <a:off x="10485783" y="6521888"/>
            <a:ext cx="1706217" cy="365125"/>
          </a:xfrm>
        </p:spPr>
        <p:txBody>
          <a:bodyPr/>
          <a:lstStyle/>
          <a:p>
            <a:fld id="{576A5E36-E009-4840-A577-F8CF29116582}" type="slidenum">
              <a:rPr lang="en-US" sz="1600" smtClean="0">
                <a:solidFill>
                  <a:schemeClr val="bg1"/>
                </a:solidFill>
              </a:rPr>
              <a:t>4</a:t>
            </a:fld>
            <a:endParaRPr lang="en-US" sz="1600" dirty="0">
              <a:solidFill>
                <a:schemeClr val="bg1"/>
              </a:solidFill>
            </a:endParaRPr>
          </a:p>
        </p:txBody>
      </p:sp>
      <p:sp>
        <p:nvSpPr>
          <p:cNvPr id="19" name="TextBox 18">
            <a:extLst>
              <a:ext uri="{FF2B5EF4-FFF2-40B4-BE49-F238E27FC236}">
                <a16:creationId xmlns:a16="http://schemas.microsoft.com/office/drawing/2014/main" id="{70392AA8-695B-471D-F521-82A67B33B98E}"/>
              </a:ext>
            </a:extLst>
          </p:cNvPr>
          <p:cNvSpPr txBox="1"/>
          <p:nvPr/>
        </p:nvSpPr>
        <p:spPr>
          <a:xfrm>
            <a:off x="1371354" y="443735"/>
            <a:ext cx="10523011" cy="954107"/>
          </a:xfrm>
          <a:prstGeom prst="rect">
            <a:avLst/>
          </a:prstGeom>
          <a:solidFill>
            <a:srgbClr val="CCECFF"/>
          </a:solidFill>
        </p:spPr>
        <p:txBody>
          <a:bodyPr wrap="square" rtlCol="0">
            <a:spAutoFit/>
          </a:bodyPr>
          <a:lstStyle/>
          <a:p>
            <a:r>
              <a:rPr lang="en-US" sz="2800" dirty="0"/>
              <a:t>You draw a sequence of 5 cards from a deck of cards. How many sequences have at least one picture card if</a:t>
            </a:r>
            <a:endParaRPr lang="en-US" sz="2800" dirty="0">
              <a:solidFill>
                <a:srgbClr val="0000FF"/>
              </a:solidFill>
            </a:endParaRPr>
          </a:p>
        </p:txBody>
      </p:sp>
      <p:sp>
        <p:nvSpPr>
          <p:cNvPr id="3" name="TextBox 2">
            <a:extLst>
              <a:ext uri="{FF2B5EF4-FFF2-40B4-BE49-F238E27FC236}">
                <a16:creationId xmlns:a16="http://schemas.microsoft.com/office/drawing/2014/main" id="{17F6E762-DC0D-0A8B-0A87-E9980C8CC831}"/>
              </a:ext>
            </a:extLst>
          </p:cNvPr>
          <p:cNvSpPr txBox="1"/>
          <p:nvPr/>
        </p:nvSpPr>
        <p:spPr>
          <a:xfrm>
            <a:off x="4099573" y="2128639"/>
            <a:ext cx="4742004" cy="523220"/>
          </a:xfrm>
          <a:prstGeom prst="rect">
            <a:avLst/>
          </a:prstGeom>
          <a:noFill/>
        </p:spPr>
        <p:txBody>
          <a:bodyPr wrap="none" rtlCol="0">
            <a:spAutoFit/>
          </a:bodyPr>
          <a:lstStyle/>
          <a:p>
            <a:r>
              <a:rPr lang="en-US" sz="2800" dirty="0"/>
              <a:t>Number of 5-card sequences = </a:t>
            </a:r>
          </a:p>
        </p:txBody>
      </p:sp>
      <p:sp>
        <p:nvSpPr>
          <p:cNvPr id="12" name="TextBox 11">
            <a:extLst>
              <a:ext uri="{FF2B5EF4-FFF2-40B4-BE49-F238E27FC236}">
                <a16:creationId xmlns:a16="http://schemas.microsoft.com/office/drawing/2014/main" id="{E391C75B-CFD7-D66D-EC91-C2EA39591075}"/>
              </a:ext>
            </a:extLst>
          </p:cNvPr>
          <p:cNvSpPr txBox="1"/>
          <p:nvPr/>
        </p:nvSpPr>
        <p:spPr>
          <a:xfrm>
            <a:off x="4099574" y="3758190"/>
            <a:ext cx="4982896" cy="954107"/>
          </a:xfrm>
          <a:prstGeom prst="rect">
            <a:avLst/>
          </a:prstGeom>
          <a:noFill/>
        </p:spPr>
        <p:txBody>
          <a:bodyPr wrap="square" rtlCol="0">
            <a:spAutoFit/>
          </a:bodyPr>
          <a:lstStyle/>
          <a:p>
            <a:r>
              <a:rPr lang="en-US" sz="2800" dirty="0"/>
              <a:t>Number of 5-card sequences </a:t>
            </a:r>
            <a:br>
              <a:rPr lang="en-US" sz="2800" dirty="0"/>
            </a:br>
            <a:r>
              <a:rPr lang="en-US" sz="2800" dirty="0"/>
              <a:t>with at least one picture card =</a:t>
            </a:r>
          </a:p>
        </p:txBody>
      </p:sp>
      <p:pic>
        <p:nvPicPr>
          <p:cNvPr id="7" name="Picture 6">
            <a:extLst>
              <a:ext uri="{FF2B5EF4-FFF2-40B4-BE49-F238E27FC236}">
                <a16:creationId xmlns:a16="http://schemas.microsoft.com/office/drawing/2014/main" id="{55039CD4-1646-C572-8339-EB3E88513FB2}"/>
              </a:ext>
            </a:extLst>
          </p:cNvPr>
          <p:cNvPicPr>
            <a:picLocks noChangeAspect="1"/>
          </p:cNvPicPr>
          <p:nvPr/>
        </p:nvPicPr>
        <p:blipFill>
          <a:blip r:embed="rId2"/>
          <a:stretch>
            <a:fillRect/>
          </a:stretch>
        </p:blipFill>
        <p:spPr>
          <a:xfrm>
            <a:off x="588365" y="2011699"/>
            <a:ext cx="3368780" cy="2748215"/>
          </a:xfrm>
          <a:prstGeom prst="rect">
            <a:avLst/>
          </a:prstGeom>
        </p:spPr>
      </p:pic>
      <p:sp>
        <p:nvSpPr>
          <p:cNvPr id="14" name="TextBox 13">
            <a:extLst>
              <a:ext uri="{FF2B5EF4-FFF2-40B4-BE49-F238E27FC236}">
                <a16:creationId xmlns:a16="http://schemas.microsoft.com/office/drawing/2014/main" id="{A6FB5B84-CE0C-CC18-10F0-B4EE4F19C141}"/>
              </a:ext>
            </a:extLst>
          </p:cNvPr>
          <p:cNvSpPr txBox="1"/>
          <p:nvPr/>
        </p:nvSpPr>
        <p:spPr>
          <a:xfrm>
            <a:off x="1371354" y="1492988"/>
            <a:ext cx="8482094" cy="523220"/>
          </a:xfrm>
          <a:prstGeom prst="rect">
            <a:avLst/>
          </a:prstGeom>
          <a:solidFill>
            <a:srgbClr val="CCECFF"/>
          </a:solidFill>
        </p:spPr>
        <p:txBody>
          <a:bodyPr wrap="square" rtlCol="0">
            <a:spAutoFit/>
          </a:bodyPr>
          <a:lstStyle/>
          <a:p>
            <a:pPr>
              <a:tabLst>
                <a:tab pos="536575" algn="l"/>
              </a:tabLst>
            </a:pPr>
            <a:r>
              <a:rPr lang="en-US" sz="2800" dirty="0"/>
              <a:t>(b)	you draw the cards without replacement?</a:t>
            </a:r>
          </a:p>
        </p:txBody>
      </p:sp>
      <p:sp>
        <p:nvSpPr>
          <p:cNvPr id="15" name="TextBox 14">
            <a:extLst>
              <a:ext uri="{FF2B5EF4-FFF2-40B4-BE49-F238E27FC236}">
                <a16:creationId xmlns:a16="http://schemas.microsoft.com/office/drawing/2014/main" id="{DDEC3BB3-E233-CDAA-6939-49DE83FC75AB}"/>
              </a:ext>
            </a:extLst>
          </p:cNvPr>
          <p:cNvSpPr txBox="1"/>
          <p:nvPr/>
        </p:nvSpPr>
        <p:spPr>
          <a:xfrm>
            <a:off x="4099574" y="2786422"/>
            <a:ext cx="4618757" cy="954107"/>
          </a:xfrm>
          <a:prstGeom prst="rect">
            <a:avLst/>
          </a:prstGeom>
          <a:noFill/>
        </p:spPr>
        <p:txBody>
          <a:bodyPr wrap="square" rtlCol="0">
            <a:spAutoFit/>
          </a:bodyPr>
          <a:lstStyle/>
          <a:p>
            <a:r>
              <a:rPr lang="en-US" sz="2800" dirty="0"/>
              <a:t>Number of 5-card sequences with no picture card = </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C48C5B5D-80A9-B986-92FC-946E44355295}"/>
                  </a:ext>
                </a:extLst>
              </p:cNvPr>
              <p:cNvSpPr txBox="1"/>
              <p:nvPr/>
            </p:nvSpPr>
            <p:spPr>
              <a:xfrm>
                <a:off x="8657438" y="2116807"/>
                <a:ext cx="1541547" cy="52809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rPr>
                        <m:t>𝑃</m:t>
                      </m:r>
                      <m:r>
                        <a:rPr lang="en-US" sz="2800" b="0" i="1" smtClean="0">
                          <a:latin typeface="Cambria Math" panose="02040503050406030204" pitchFamily="18" charset="0"/>
                        </a:rPr>
                        <m:t>(52,5)</m:t>
                      </m:r>
                    </m:oMath>
                  </m:oMathPara>
                </a14:m>
                <a:endParaRPr lang="en-US" sz="2800" dirty="0"/>
              </a:p>
            </p:txBody>
          </p:sp>
        </mc:Choice>
        <mc:Fallback xmlns="">
          <p:sp>
            <p:nvSpPr>
              <p:cNvPr id="16" name="TextBox 15">
                <a:extLst>
                  <a:ext uri="{FF2B5EF4-FFF2-40B4-BE49-F238E27FC236}">
                    <a16:creationId xmlns:a16="http://schemas.microsoft.com/office/drawing/2014/main" id="{C48C5B5D-80A9-B986-92FC-946E44355295}"/>
                  </a:ext>
                </a:extLst>
              </p:cNvPr>
              <p:cNvSpPr txBox="1">
                <a:spLocks noRot="1" noChangeAspect="1" noMove="1" noResize="1" noEditPoints="1" noAdjustHandles="1" noChangeArrowheads="1" noChangeShapeType="1" noTextEdit="1"/>
              </p:cNvSpPr>
              <p:nvPr/>
            </p:nvSpPr>
            <p:spPr>
              <a:xfrm>
                <a:off x="8657438" y="2116807"/>
                <a:ext cx="1541547" cy="52809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15227829-EB26-3949-655B-FDC9A0D84A46}"/>
                  </a:ext>
                </a:extLst>
              </p:cNvPr>
              <p:cNvSpPr txBox="1"/>
              <p:nvPr/>
            </p:nvSpPr>
            <p:spPr>
              <a:xfrm>
                <a:off x="7385806" y="3228538"/>
                <a:ext cx="1386563" cy="52809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rPr>
                        <m:t>𝑃</m:t>
                      </m:r>
                      <m:r>
                        <a:rPr lang="en-US" sz="2800" b="0" i="1" smtClean="0">
                          <a:latin typeface="Cambria Math" panose="02040503050406030204" pitchFamily="18" charset="0"/>
                        </a:rPr>
                        <m:t>(40,5)</m:t>
                      </m:r>
                    </m:oMath>
                  </m:oMathPara>
                </a14:m>
                <a:endParaRPr lang="en-US" sz="2800" dirty="0"/>
              </a:p>
            </p:txBody>
          </p:sp>
        </mc:Choice>
        <mc:Fallback xmlns="">
          <p:sp>
            <p:nvSpPr>
              <p:cNvPr id="17" name="TextBox 16">
                <a:extLst>
                  <a:ext uri="{FF2B5EF4-FFF2-40B4-BE49-F238E27FC236}">
                    <a16:creationId xmlns:a16="http://schemas.microsoft.com/office/drawing/2014/main" id="{15227829-EB26-3949-655B-FDC9A0D84A46}"/>
                  </a:ext>
                </a:extLst>
              </p:cNvPr>
              <p:cNvSpPr txBox="1">
                <a:spLocks noRot="1" noChangeAspect="1" noMove="1" noResize="1" noEditPoints="1" noAdjustHandles="1" noChangeArrowheads="1" noChangeShapeType="1" noTextEdit="1"/>
              </p:cNvSpPr>
              <p:nvPr/>
            </p:nvSpPr>
            <p:spPr>
              <a:xfrm>
                <a:off x="7385806" y="3228538"/>
                <a:ext cx="1386563" cy="528093"/>
              </a:xfrm>
              <a:prstGeom prst="rect">
                <a:avLst/>
              </a:prstGeom>
              <a:blipFill>
                <a:blip r:embed="rId4"/>
                <a:stretch>
                  <a:fillRect/>
                </a:stretch>
              </a:blipFill>
            </p:spPr>
            <p:txBody>
              <a:bodyPr/>
              <a:lstStyle/>
              <a:p>
                <a:r>
                  <a:rPr lang="en-US">
                    <a:noFill/>
                  </a:rPr>
                  <a:t> </a:t>
                </a:r>
              </a:p>
            </p:txBody>
          </p:sp>
        </mc:Fallback>
      </mc:AlternateContent>
      <p:sp>
        <p:nvSpPr>
          <p:cNvPr id="20" name="TextBox 19">
            <a:extLst>
              <a:ext uri="{FF2B5EF4-FFF2-40B4-BE49-F238E27FC236}">
                <a16:creationId xmlns:a16="http://schemas.microsoft.com/office/drawing/2014/main" id="{030CB574-EAD5-FE60-3165-9994B0C1A6D5}"/>
              </a:ext>
            </a:extLst>
          </p:cNvPr>
          <p:cNvSpPr txBox="1"/>
          <p:nvPr/>
        </p:nvSpPr>
        <p:spPr>
          <a:xfrm>
            <a:off x="4099574" y="5434503"/>
            <a:ext cx="5328638" cy="523220"/>
          </a:xfrm>
          <a:prstGeom prst="rect">
            <a:avLst/>
          </a:prstGeom>
          <a:noFill/>
        </p:spPr>
        <p:txBody>
          <a:bodyPr wrap="none" rtlCol="0">
            <a:spAutoFit/>
          </a:bodyPr>
          <a:lstStyle/>
          <a:p>
            <a:r>
              <a:rPr lang="en-US" sz="2800" dirty="0"/>
              <a:t>by </a:t>
            </a:r>
            <a:r>
              <a:rPr lang="en-US" sz="2800" dirty="0">
                <a:solidFill>
                  <a:srgbClr val="006600"/>
                </a:solidFill>
              </a:rPr>
              <a:t>Theorem 9.3.2 (difference rule) </a:t>
            </a: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F2EDAE8D-EAF9-8392-DA7B-1C6F79CCC600}"/>
                  </a:ext>
                </a:extLst>
              </p:cNvPr>
              <p:cNvSpPr txBox="1"/>
              <p:nvPr/>
            </p:nvSpPr>
            <p:spPr>
              <a:xfrm>
                <a:off x="8672591" y="4160604"/>
                <a:ext cx="3052788" cy="523220"/>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US" sz="2800" i="1" smtClean="0">
                          <a:latin typeface="Cambria Math" panose="02040503050406030204" pitchFamily="18" charset="0"/>
                        </a:rPr>
                        <m:t>𝑃</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52,5</m:t>
                          </m:r>
                        </m:e>
                      </m:d>
                      <m:r>
                        <a:rPr lang="en-US" sz="2800" b="0" i="1" smtClean="0">
                          <a:latin typeface="Cambria Math" panose="02040503050406030204" pitchFamily="18" charset="0"/>
                        </a:rPr>
                        <m:t>−</m:t>
                      </m:r>
                      <m:r>
                        <a:rPr lang="en-US" sz="2800" b="0" i="1" smtClean="0">
                          <a:latin typeface="Cambria Math" panose="02040503050406030204" pitchFamily="18" charset="0"/>
                        </a:rPr>
                        <m:t>𝑃</m:t>
                      </m:r>
                      <m:r>
                        <a:rPr lang="en-US" sz="2800" b="0" i="1" smtClean="0">
                          <a:latin typeface="Cambria Math" panose="02040503050406030204" pitchFamily="18" charset="0"/>
                        </a:rPr>
                        <m:t>(40,5)</m:t>
                      </m:r>
                    </m:oMath>
                  </m:oMathPara>
                </a14:m>
                <a:endParaRPr lang="en-US" sz="2800" dirty="0"/>
              </a:p>
            </p:txBody>
          </p:sp>
        </mc:Choice>
        <mc:Fallback xmlns="">
          <p:sp>
            <p:nvSpPr>
              <p:cNvPr id="21" name="TextBox 20">
                <a:extLst>
                  <a:ext uri="{FF2B5EF4-FFF2-40B4-BE49-F238E27FC236}">
                    <a16:creationId xmlns:a16="http://schemas.microsoft.com/office/drawing/2014/main" id="{F2EDAE8D-EAF9-8392-DA7B-1C6F79CCC600}"/>
                  </a:ext>
                </a:extLst>
              </p:cNvPr>
              <p:cNvSpPr txBox="1">
                <a:spLocks noRot="1" noChangeAspect="1" noMove="1" noResize="1" noEditPoints="1" noAdjustHandles="1" noChangeArrowheads="1" noChangeShapeType="1" noTextEdit="1"/>
              </p:cNvSpPr>
              <p:nvPr/>
            </p:nvSpPr>
            <p:spPr>
              <a:xfrm>
                <a:off x="8672591" y="4160604"/>
                <a:ext cx="3052788" cy="52322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8F6A426B-BEEE-66F0-29D5-4634B1B8CB62}"/>
                  </a:ext>
                </a:extLst>
              </p:cNvPr>
              <p:cNvSpPr txBox="1"/>
              <p:nvPr/>
            </p:nvSpPr>
            <p:spPr>
              <a:xfrm>
                <a:off x="8384583" y="4722962"/>
                <a:ext cx="3068664" cy="528093"/>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lang="en-SG" sz="2800" i="1" smtClean="0">
                          <a:latin typeface="Cambria Math" panose="02040503050406030204" pitchFamily="18" charset="0"/>
                        </a:rPr>
                        <m:t>=</m:t>
                      </m:r>
                      <m:r>
                        <a:rPr lang="en-US" sz="2800" b="1" i="1" smtClean="0">
                          <a:solidFill>
                            <a:srgbClr val="C00000"/>
                          </a:solidFill>
                          <a:latin typeface="Cambria Math" panose="02040503050406030204" pitchFamily="18" charset="0"/>
                        </a:rPr>
                        <m:t>𝟐𝟑𝟐</m:t>
                      </m:r>
                      <m:r>
                        <a:rPr lang="en-US" sz="2800" b="1" i="1" smtClean="0">
                          <a:solidFill>
                            <a:srgbClr val="C00000"/>
                          </a:solidFill>
                          <a:latin typeface="Cambria Math" panose="02040503050406030204" pitchFamily="18" charset="0"/>
                        </a:rPr>
                        <m:t>,</m:t>
                      </m:r>
                      <m:r>
                        <a:rPr lang="en-US" sz="2800" b="1" i="1" smtClean="0">
                          <a:solidFill>
                            <a:srgbClr val="C00000"/>
                          </a:solidFill>
                          <a:latin typeface="Cambria Math" panose="02040503050406030204" pitchFamily="18" charset="0"/>
                        </a:rPr>
                        <m:t>𝟗𝟏𝟒</m:t>
                      </m:r>
                      <m:r>
                        <a:rPr lang="en-US" sz="2800" b="1" i="1" smtClean="0">
                          <a:solidFill>
                            <a:srgbClr val="C00000"/>
                          </a:solidFill>
                          <a:latin typeface="Cambria Math" panose="02040503050406030204" pitchFamily="18" charset="0"/>
                        </a:rPr>
                        <m:t>,</m:t>
                      </m:r>
                      <m:r>
                        <a:rPr lang="en-US" sz="2800" b="1" i="1" smtClean="0">
                          <a:solidFill>
                            <a:srgbClr val="C00000"/>
                          </a:solidFill>
                          <a:latin typeface="Cambria Math" panose="02040503050406030204" pitchFamily="18" charset="0"/>
                        </a:rPr>
                        <m:t>𝟐𝟒𝟎</m:t>
                      </m:r>
                      <m:r>
                        <a:rPr lang="en-US" sz="2800" b="1" i="1" smtClean="0">
                          <a:solidFill>
                            <a:srgbClr val="C00000"/>
                          </a:solidFill>
                          <a:latin typeface="Cambria Math" panose="02040503050406030204" pitchFamily="18" charset="0"/>
                        </a:rPr>
                        <m:t>.</m:t>
                      </m:r>
                    </m:oMath>
                  </m:oMathPara>
                </a14:m>
                <a:endParaRPr lang="en-US" sz="2800" b="1" dirty="0">
                  <a:solidFill>
                    <a:srgbClr val="C00000"/>
                  </a:solidFill>
                </a:endParaRPr>
              </a:p>
            </p:txBody>
          </p:sp>
        </mc:Choice>
        <mc:Fallback xmlns="">
          <p:sp>
            <p:nvSpPr>
              <p:cNvPr id="23" name="TextBox 22">
                <a:extLst>
                  <a:ext uri="{FF2B5EF4-FFF2-40B4-BE49-F238E27FC236}">
                    <a16:creationId xmlns:a16="http://schemas.microsoft.com/office/drawing/2014/main" id="{8F6A426B-BEEE-66F0-29D5-4634B1B8CB62}"/>
                  </a:ext>
                </a:extLst>
              </p:cNvPr>
              <p:cNvSpPr txBox="1">
                <a:spLocks noRot="1" noChangeAspect="1" noMove="1" noResize="1" noEditPoints="1" noAdjustHandles="1" noChangeArrowheads="1" noChangeShapeType="1" noTextEdit="1"/>
              </p:cNvSpPr>
              <p:nvPr/>
            </p:nvSpPr>
            <p:spPr>
              <a:xfrm>
                <a:off x="8384583" y="4722962"/>
                <a:ext cx="3068664" cy="528093"/>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73999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dissolv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dissolv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dissolve">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dissolv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dissolve">
                                      <p:cBhvr>
                                        <p:cTn id="32" dur="5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dissolve">
                                      <p:cBhvr>
                                        <p:cTn id="37" dur="500"/>
                                        <p:tgtEl>
                                          <p:spTgt spid="23"/>
                                        </p:tgtEl>
                                      </p:cBhvr>
                                    </p:animEffect>
                                  </p:childTnLst>
                                </p:cTn>
                              </p:par>
                            </p:childTnLst>
                          </p:cTn>
                        </p:par>
                        <p:par>
                          <p:cTn id="38" fill="hold">
                            <p:stCondLst>
                              <p:cond delay="500"/>
                            </p:stCondLst>
                            <p:childTnLst>
                              <p:par>
                                <p:cTn id="39" presetID="9" presetClass="entr" presetSubtype="0" fill="hold" grpId="0" nodeType="after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dissolve">
                                      <p:cBhvr>
                                        <p:cTn id="4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2" grpId="0"/>
      <p:bldP spid="15" grpId="0"/>
      <p:bldP spid="16" grpId="0"/>
      <p:bldP spid="17" grpId="0"/>
      <p:bldP spid="20" grpId="0"/>
      <p:bldP spid="21" grpId="0"/>
      <p:bldP spid="2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1"/>
          <p:cNvSpPr>
            <a:spLocks noGrp="1"/>
          </p:cNvSpPr>
          <p:nvPr>
            <p:ph type="sldNum" sz="quarter" idx="12"/>
          </p:nvPr>
        </p:nvSpPr>
        <p:spPr>
          <a:xfrm>
            <a:off x="10485783" y="6492875"/>
            <a:ext cx="1706217" cy="365125"/>
          </a:xfrm>
        </p:spPr>
        <p:txBody>
          <a:bodyPr/>
          <a:lstStyle/>
          <a:p>
            <a:fld id="{576A5E36-E009-4840-A577-F8CF29116582}" type="slidenum">
              <a:rPr lang="en-US" sz="1600" smtClean="0">
                <a:solidFill>
                  <a:schemeClr val="bg1"/>
                </a:solidFill>
              </a:rPr>
              <a:t>5</a:t>
            </a:fld>
            <a:endParaRPr lang="en-US" sz="1600" dirty="0">
              <a:solidFill>
                <a:schemeClr val="bg1"/>
              </a:solidFill>
            </a:endParaRPr>
          </a:p>
        </p:txBody>
      </p:sp>
      <p:sp>
        <p:nvSpPr>
          <p:cNvPr id="37" name="Title 1">
            <a:extLst>
              <a:ext uri="{FF2B5EF4-FFF2-40B4-BE49-F238E27FC236}">
                <a16:creationId xmlns:a16="http://schemas.microsoft.com/office/drawing/2014/main" id="{1199532D-7B1D-4496-906D-F1887FE508D2}"/>
              </a:ext>
            </a:extLst>
          </p:cNvPr>
          <p:cNvSpPr>
            <a:spLocks noGrp="1"/>
          </p:cNvSpPr>
          <p:nvPr>
            <p:ph type="title"/>
          </p:nvPr>
        </p:nvSpPr>
        <p:spPr>
          <a:xfrm>
            <a:off x="314662" y="226852"/>
            <a:ext cx="1318424" cy="895927"/>
          </a:xfrm>
        </p:spPr>
        <p:txBody>
          <a:bodyPr>
            <a:normAutofit/>
          </a:bodyPr>
          <a:lstStyle/>
          <a:p>
            <a:pPr>
              <a:lnSpc>
                <a:spcPct val="100000"/>
              </a:lnSpc>
            </a:pPr>
            <a:r>
              <a:rPr lang="en-SG" dirty="0" err="1">
                <a:solidFill>
                  <a:schemeClr val="bg2">
                    <a:lumMod val="50000"/>
                  </a:schemeClr>
                </a:solidFill>
              </a:rPr>
              <a:t>Q2</a:t>
            </a:r>
            <a:r>
              <a:rPr lang="en-SG" dirty="0">
                <a:solidFill>
                  <a:schemeClr val="bg2">
                    <a:lumMod val="50000"/>
                  </a:schemeClr>
                </a:solidFill>
              </a:rPr>
              <a:t>.</a:t>
            </a:r>
            <a:endParaRPr lang="en-SG" dirty="0">
              <a:solidFill>
                <a:schemeClr val="bg2">
                  <a:lumMod val="50000"/>
                </a:schemeClr>
              </a:solidFill>
              <a:latin typeface="Cambria Math" panose="02040503050406030204" pitchFamily="18" charset="0"/>
              <a:ea typeface="Cambria Math" panose="02040503050406030204" pitchFamily="18" charset="0"/>
            </a:endParaRPr>
          </a:p>
        </p:txBody>
      </p:sp>
      <p:sp>
        <p:nvSpPr>
          <p:cNvPr id="39" name="TextBox 38">
            <a:extLst>
              <a:ext uri="{FF2B5EF4-FFF2-40B4-BE49-F238E27FC236}">
                <a16:creationId xmlns:a16="http://schemas.microsoft.com/office/drawing/2014/main" id="{59FB7879-BCF9-4B1A-A2CC-BB0778FBDB53}"/>
              </a:ext>
            </a:extLst>
          </p:cNvPr>
          <p:cNvSpPr txBox="1"/>
          <p:nvPr/>
        </p:nvSpPr>
        <p:spPr>
          <a:xfrm>
            <a:off x="1233052" y="441949"/>
            <a:ext cx="6542501" cy="584775"/>
          </a:xfrm>
          <a:prstGeom prst="rect">
            <a:avLst/>
          </a:prstGeom>
          <a:noFill/>
        </p:spPr>
        <p:txBody>
          <a:bodyPr wrap="square" rtlCol="0">
            <a:spAutoFit/>
          </a:bodyPr>
          <a:lstStyle/>
          <a:p>
            <a:r>
              <a:rPr lang="en-SG" sz="3200" dirty="0"/>
              <a:t>Numbers that can be read both ways:</a:t>
            </a:r>
          </a:p>
        </p:txBody>
      </p:sp>
      <p:sp>
        <p:nvSpPr>
          <p:cNvPr id="42" name="TextBox 41">
            <a:extLst>
              <a:ext uri="{FF2B5EF4-FFF2-40B4-BE49-F238E27FC236}">
                <a16:creationId xmlns:a16="http://schemas.microsoft.com/office/drawing/2014/main" id="{EEC64C99-9F71-48FB-8F62-1580BF788EE6}"/>
              </a:ext>
            </a:extLst>
          </p:cNvPr>
          <p:cNvSpPr txBox="1"/>
          <p:nvPr/>
        </p:nvSpPr>
        <p:spPr>
          <a:xfrm>
            <a:off x="874466" y="2475763"/>
            <a:ext cx="4336475" cy="461665"/>
          </a:xfrm>
          <a:prstGeom prst="rect">
            <a:avLst/>
          </a:prstGeom>
          <a:noFill/>
        </p:spPr>
        <p:txBody>
          <a:bodyPr wrap="square" rtlCol="0">
            <a:spAutoFit/>
          </a:bodyPr>
          <a:lstStyle/>
          <a:p>
            <a:r>
              <a:rPr lang="en-SG" sz="2400" dirty="0"/>
              <a:t>But there are some ambigrams!</a:t>
            </a:r>
          </a:p>
        </p:txBody>
      </p:sp>
      <p:sp>
        <p:nvSpPr>
          <p:cNvPr id="44" name="TextBox 43">
            <a:extLst>
              <a:ext uri="{FF2B5EF4-FFF2-40B4-BE49-F238E27FC236}">
                <a16:creationId xmlns:a16="http://schemas.microsoft.com/office/drawing/2014/main" id="{EE92BDD4-3824-42C2-A24F-32AA6EE09B01}"/>
              </a:ext>
            </a:extLst>
          </p:cNvPr>
          <p:cNvSpPr txBox="1"/>
          <p:nvPr/>
        </p:nvSpPr>
        <p:spPr>
          <a:xfrm>
            <a:off x="8450629" y="2385594"/>
            <a:ext cx="3099936" cy="523220"/>
          </a:xfrm>
          <a:prstGeom prst="rect">
            <a:avLst/>
          </a:prstGeom>
          <a:solidFill>
            <a:srgbClr val="F9E1D3"/>
          </a:solidFill>
        </p:spPr>
        <p:txBody>
          <a:bodyPr wrap="square" rtlCol="0">
            <a:spAutoFit/>
          </a:bodyPr>
          <a:lstStyle/>
          <a:p>
            <a:r>
              <a:rPr lang="en-SG" sz="2800" dirty="0">
                <a:solidFill>
                  <a:srgbClr val="C00000"/>
                </a:solidFill>
              </a:rPr>
              <a:t>Multiplication Rule</a:t>
            </a: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A8FCF44A-EA55-4047-94F6-312F83BEF665}"/>
                  </a:ext>
                </a:extLst>
              </p:cNvPr>
              <p:cNvSpPr txBox="1"/>
              <p:nvPr/>
            </p:nvSpPr>
            <p:spPr>
              <a:xfrm>
                <a:off x="874466" y="1255678"/>
                <a:ext cx="10113781" cy="958980"/>
              </a:xfrm>
              <a:prstGeom prst="rect">
                <a:avLst/>
              </a:prstGeom>
              <a:solidFill>
                <a:srgbClr val="CCECFF"/>
              </a:solidFill>
            </p:spPr>
            <p:txBody>
              <a:bodyPr wrap="square" rtlCol="0">
                <a:spAutoFit/>
              </a:bodyPr>
              <a:lstStyle/>
              <a:p>
                <a:r>
                  <a:rPr lang="en-SG" sz="2800" dirty="0"/>
                  <a:t>Total number of 5-digit cheque numbers that can be read both ways </a:t>
                </a:r>
                <a14:m>
                  <m:oMath xmlns:m="http://schemas.openxmlformats.org/officeDocument/2006/math">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5 ∗5 ∗5 ∗5 ∗5= 5</m:t>
                        </m:r>
                      </m:e>
                      <m:sup>
                        <m:r>
                          <a:rPr lang="en-US" sz="2800" b="0" i="1" smtClean="0">
                            <a:latin typeface="Cambria Math" panose="02040503050406030204" pitchFamily="18" charset="0"/>
                          </a:rPr>
                          <m:t>5</m:t>
                        </m:r>
                      </m:sup>
                    </m:sSup>
                  </m:oMath>
                </a14:m>
                <a:endParaRPr lang="en-US" sz="2800" b="0" dirty="0"/>
              </a:p>
            </p:txBody>
          </p:sp>
        </mc:Choice>
        <mc:Fallback xmlns="">
          <p:sp>
            <p:nvSpPr>
              <p:cNvPr id="46" name="TextBox 45">
                <a:extLst>
                  <a:ext uri="{FF2B5EF4-FFF2-40B4-BE49-F238E27FC236}">
                    <a16:creationId xmlns:a16="http://schemas.microsoft.com/office/drawing/2014/main" id="{A8FCF44A-EA55-4047-94F6-312F83BEF665}"/>
                  </a:ext>
                </a:extLst>
              </p:cNvPr>
              <p:cNvSpPr txBox="1">
                <a:spLocks noRot="1" noChangeAspect="1" noMove="1" noResize="1" noEditPoints="1" noAdjustHandles="1" noChangeArrowheads="1" noChangeShapeType="1" noTextEdit="1"/>
              </p:cNvSpPr>
              <p:nvPr/>
            </p:nvSpPr>
            <p:spPr>
              <a:xfrm>
                <a:off x="874466" y="1255678"/>
                <a:ext cx="10113781" cy="958980"/>
              </a:xfrm>
              <a:prstGeom prst="rect">
                <a:avLst/>
              </a:prstGeom>
              <a:blipFill>
                <a:blip r:embed="rId2"/>
                <a:stretch>
                  <a:fillRect l="-1205" t="-6369" r="-1566"/>
                </a:stretch>
              </a:blipFill>
            </p:spPr>
            <p:txBody>
              <a:bodyPr/>
              <a:lstStyle/>
              <a:p>
                <a:r>
                  <a:rPr lang="en-US">
                    <a:noFill/>
                  </a:rPr>
                  <a:t> </a:t>
                </a:r>
              </a:p>
            </p:txBody>
          </p:sp>
        </mc:Fallback>
      </mc:AlternateContent>
      <p:sp>
        <p:nvSpPr>
          <p:cNvPr id="50" name="TextBox 49">
            <a:extLst>
              <a:ext uri="{FF2B5EF4-FFF2-40B4-BE49-F238E27FC236}">
                <a16:creationId xmlns:a16="http://schemas.microsoft.com/office/drawing/2014/main" id="{A016DD66-B117-C363-2A47-DBA91385CB96}"/>
              </a:ext>
            </a:extLst>
          </p:cNvPr>
          <p:cNvSpPr txBox="1"/>
          <p:nvPr/>
        </p:nvSpPr>
        <p:spPr>
          <a:xfrm>
            <a:off x="7985461" y="448046"/>
            <a:ext cx="2785540" cy="584775"/>
          </a:xfrm>
          <a:prstGeom prst="rect">
            <a:avLst/>
          </a:prstGeom>
          <a:noFill/>
        </p:spPr>
        <p:txBody>
          <a:bodyPr wrap="square" rtlCol="0">
            <a:spAutoFit/>
          </a:bodyPr>
          <a:lstStyle/>
          <a:p>
            <a:pPr algn="ctr"/>
            <a:r>
              <a:rPr lang="en-US" sz="3200" dirty="0">
                <a:solidFill>
                  <a:srgbClr val="0000CC"/>
                </a:solidFill>
                <a:latin typeface="Arial" panose="020B0604020202020204" pitchFamily="34" charset="0"/>
                <a:cs typeface="Arial" panose="020B0604020202020204" pitchFamily="34" charset="0"/>
              </a:rPr>
              <a:t>0</a:t>
            </a:r>
            <a:r>
              <a:rPr lang="en-SG" sz="3200" dirty="0">
                <a:solidFill>
                  <a:srgbClr val="0000CC"/>
                </a:solidFill>
                <a:latin typeface="Arial" panose="020B0604020202020204" pitchFamily="34" charset="0"/>
                <a:cs typeface="Arial" panose="020B0604020202020204" pitchFamily="34" charset="0"/>
              </a:rPr>
              <a:t>  I  6  8  9</a:t>
            </a:r>
          </a:p>
        </p:txBody>
      </p:sp>
      <p:sp>
        <p:nvSpPr>
          <p:cNvPr id="52" name="TextBox 51">
            <a:extLst>
              <a:ext uri="{FF2B5EF4-FFF2-40B4-BE49-F238E27FC236}">
                <a16:creationId xmlns:a16="http://schemas.microsoft.com/office/drawing/2014/main" id="{8CBBEFF5-8CCC-7AC9-010E-914FC12629D9}"/>
              </a:ext>
            </a:extLst>
          </p:cNvPr>
          <p:cNvSpPr txBox="1"/>
          <p:nvPr/>
        </p:nvSpPr>
        <p:spPr>
          <a:xfrm>
            <a:off x="5117856" y="2404938"/>
            <a:ext cx="1141062" cy="584775"/>
          </a:xfrm>
          <a:prstGeom prst="rect">
            <a:avLst/>
          </a:prstGeom>
          <a:noFill/>
        </p:spPr>
        <p:txBody>
          <a:bodyPr wrap="square" rtlCol="0">
            <a:spAutoFit/>
          </a:bodyPr>
          <a:lstStyle/>
          <a:p>
            <a:r>
              <a:rPr lang="en-US" sz="3200" dirty="0">
                <a:solidFill>
                  <a:srgbClr val="0000CC"/>
                </a:solidFill>
                <a:latin typeface="Arial" panose="020B0604020202020204" pitchFamily="34" charset="0"/>
                <a:cs typeface="Arial" panose="020B0604020202020204" pitchFamily="34" charset="0"/>
              </a:rPr>
              <a:t>I689I</a:t>
            </a:r>
            <a:endParaRPr lang="en-SG" sz="3200" dirty="0">
              <a:solidFill>
                <a:srgbClr val="0000CC"/>
              </a:solidFill>
              <a:latin typeface="Arial" panose="020B0604020202020204" pitchFamily="34" charset="0"/>
              <a:cs typeface="Arial" panose="020B0604020202020204" pitchFamily="34" charset="0"/>
            </a:endParaRPr>
          </a:p>
        </p:txBody>
      </p:sp>
      <p:sp>
        <p:nvSpPr>
          <p:cNvPr id="53" name="TextBox 52">
            <a:extLst>
              <a:ext uri="{FF2B5EF4-FFF2-40B4-BE49-F238E27FC236}">
                <a16:creationId xmlns:a16="http://schemas.microsoft.com/office/drawing/2014/main" id="{D4FCB783-DD86-1DCF-322B-29C3A3CBC2E3}"/>
              </a:ext>
            </a:extLst>
          </p:cNvPr>
          <p:cNvSpPr txBox="1"/>
          <p:nvPr/>
        </p:nvSpPr>
        <p:spPr>
          <a:xfrm>
            <a:off x="6507711" y="2399066"/>
            <a:ext cx="1462345" cy="584775"/>
          </a:xfrm>
          <a:prstGeom prst="rect">
            <a:avLst/>
          </a:prstGeom>
          <a:noFill/>
        </p:spPr>
        <p:txBody>
          <a:bodyPr wrap="square" rtlCol="0">
            <a:spAutoFit/>
          </a:bodyPr>
          <a:lstStyle/>
          <a:p>
            <a:r>
              <a:rPr lang="en-US" sz="3200" dirty="0">
                <a:solidFill>
                  <a:srgbClr val="0000CC"/>
                </a:solidFill>
                <a:latin typeface="Arial" panose="020B0604020202020204" pitchFamily="34" charset="0"/>
                <a:cs typeface="Arial" panose="020B0604020202020204" pitchFamily="34" charset="0"/>
              </a:rPr>
              <a:t>8I0I8</a:t>
            </a:r>
            <a:endParaRPr lang="en-SG" sz="3200" dirty="0">
              <a:solidFill>
                <a:srgbClr val="0000CC"/>
              </a:solidFill>
              <a:latin typeface="Arial" panose="020B0604020202020204" pitchFamily="34" charset="0"/>
              <a:cs typeface="Arial" panose="020B0604020202020204" pitchFamily="34" charset="0"/>
            </a:endParaRPr>
          </a:p>
        </p:txBody>
      </p:sp>
      <p:cxnSp>
        <p:nvCxnSpPr>
          <p:cNvPr id="54" name="Connector: Curved 19">
            <a:extLst>
              <a:ext uri="{FF2B5EF4-FFF2-40B4-BE49-F238E27FC236}">
                <a16:creationId xmlns:a16="http://schemas.microsoft.com/office/drawing/2014/main" id="{AFF2EFA9-4DA1-8176-1CF3-8FDB22B84C91}"/>
              </a:ext>
            </a:extLst>
          </p:cNvPr>
          <p:cNvCxnSpPr>
            <a:cxnSpLocks/>
            <a:stCxn id="44" idx="3"/>
            <a:endCxn id="46" idx="3"/>
          </p:cNvCxnSpPr>
          <p:nvPr/>
        </p:nvCxnSpPr>
        <p:spPr>
          <a:xfrm flipH="1" flipV="1">
            <a:off x="10988247" y="1735168"/>
            <a:ext cx="562318" cy="912036"/>
          </a:xfrm>
          <a:prstGeom prst="curvedConnector3">
            <a:avLst>
              <a:gd name="adj1" fmla="val -40653"/>
            </a:avLst>
          </a:prstGeom>
          <a:ln>
            <a:tailEnd type="triangle"/>
          </a:ln>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4C2B5C0D-D64A-1F9D-79ED-B0DC8C39D022}"/>
              </a:ext>
            </a:extLst>
          </p:cNvPr>
          <p:cNvSpPr/>
          <p:nvPr/>
        </p:nvSpPr>
        <p:spPr>
          <a:xfrm>
            <a:off x="1475734" y="3339887"/>
            <a:ext cx="296392" cy="2963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6" name="Rectangle 55">
            <a:extLst>
              <a:ext uri="{FF2B5EF4-FFF2-40B4-BE49-F238E27FC236}">
                <a16:creationId xmlns:a16="http://schemas.microsoft.com/office/drawing/2014/main" id="{3171D670-2198-6974-189B-BEAF40E22A32}"/>
              </a:ext>
            </a:extLst>
          </p:cNvPr>
          <p:cNvSpPr/>
          <p:nvPr/>
        </p:nvSpPr>
        <p:spPr>
          <a:xfrm>
            <a:off x="2093742" y="3339887"/>
            <a:ext cx="296392" cy="2963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7" name="Rectangle 56">
            <a:extLst>
              <a:ext uri="{FF2B5EF4-FFF2-40B4-BE49-F238E27FC236}">
                <a16:creationId xmlns:a16="http://schemas.microsoft.com/office/drawing/2014/main" id="{63F54931-9338-B870-6144-79C6487F7A7F}"/>
              </a:ext>
            </a:extLst>
          </p:cNvPr>
          <p:cNvSpPr/>
          <p:nvPr/>
        </p:nvSpPr>
        <p:spPr>
          <a:xfrm>
            <a:off x="2711750" y="3339887"/>
            <a:ext cx="296392" cy="2963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8" name="Rectangle 57">
            <a:extLst>
              <a:ext uri="{FF2B5EF4-FFF2-40B4-BE49-F238E27FC236}">
                <a16:creationId xmlns:a16="http://schemas.microsoft.com/office/drawing/2014/main" id="{AF0FC21C-C29B-6760-17E9-7B276B757B20}"/>
              </a:ext>
            </a:extLst>
          </p:cNvPr>
          <p:cNvSpPr/>
          <p:nvPr/>
        </p:nvSpPr>
        <p:spPr>
          <a:xfrm>
            <a:off x="3329758" y="3339887"/>
            <a:ext cx="296392" cy="2963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9" name="Rectangle 58">
            <a:extLst>
              <a:ext uri="{FF2B5EF4-FFF2-40B4-BE49-F238E27FC236}">
                <a16:creationId xmlns:a16="http://schemas.microsoft.com/office/drawing/2014/main" id="{85738897-A0B3-245B-B482-5DF63A9FD393}"/>
              </a:ext>
            </a:extLst>
          </p:cNvPr>
          <p:cNvSpPr/>
          <p:nvPr/>
        </p:nvSpPr>
        <p:spPr>
          <a:xfrm>
            <a:off x="3947766" y="3339887"/>
            <a:ext cx="296392" cy="2963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60" name="TextBox 59">
            <a:extLst>
              <a:ext uri="{FF2B5EF4-FFF2-40B4-BE49-F238E27FC236}">
                <a16:creationId xmlns:a16="http://schemas.microsoft.com/office/drawing/2014/main" id="{C6042EBB-3BC1-3AEF-E3FC-7156854A5D2F}"/>
              </a:ext>
            </a:extLst>
          </p:cNvPr>
          <p:cNvSpPr txBox="1"/>
          <p:nvPr/>
        </p:nvSpPr>
        <p:spPr>
          <a:xfrm>
            <a:off x="2269265" y="4121208"/>
            <a:ext cx="1153299" cy="707886"/>
          </a:xfrm>
          <a:prstGeom prst="rect">
            <a:avLst/>
          </a:prstGeom>
          <a:noFill/>
        </p:spPr>
        <p:txBody>
          <a:bodyPr wrap="square" rtlCol="0">
            <a:spAutoFit/>
          </a:bodyPr>
          <a:lstStyle/>
          <a:p>
            <a:r>
              <a:rPr lang="en-SG" sz="2000" dirty="0">
                <a:latin typeface="Arial" panose="020B0604020202020204" pitchFamily="34" charset="0"/>
                <a:cs typeface="Arial" panose="020B0604020202020204" pitchFamily="34" charset="0"/>
              </a:rPr>
              <a:t>3 ways </a:t>
            </a:r>
            <a:br>
              <a:rPr lang="en-SG" sz="2000" dirty="0">
                <a:latin typeface="Arial" panose="020B0604020202020204" pitchFamily="34" charset="0"/>
                <a:cs typeface="Arial" panose="020B0604020202020204" pitchFamily="34" charset="0"/>
              </a:rPr>
            </a:br>
            <a:r>
              <a:rPr lang="en-SG" sz="2000" dirty="0">
                <a:latin typeface="Arial" panose="020B0604020202020204" pitchFamily="34" charset="0"/>
                <a:cs typeface="Arial" panose="020B0604020202020204" pitchFamily="34" charset="0"/>
              </a:rPr>
              <a:t>(0, I, 8)</a:t>
            </a:r>
          </a:p>
        </p:txBody>
      </p:sp>
      <p:sp>
        <p:nvSpPr>
          <p:cNvPr id="61" name="TextBox 60">
            <a:extLst>
              <a:ext uri="{FF2B5EF4-FFF2-40B4-BE49-F238E27FC236}">
                <a16:creationId xmlns:a16="http://schemas.microsoft.com/office/drawing/2014/main" id="{51D71BC6-D04C-B2D1-FE4D-E1AADE347903}"/>
              </a:ext>
            </a:extLst>
          </p:cNvPr>
          <p:cNvSpPr txBox="1"/>
          <p:nvPr/>
        </p:nvSpPr>
        <p:spPr>
          <a:xfrm>
            <a:off x="319676" y="3913930"/>
            <a:ext cx="1101800" cy="400110"/>
          </a:xfrm>
          <a:prstGeom prst="rect">
            <a:avLst/>
          </a:prstGeom>
          <a:noFill/>
        </p:spPr>
        <p:txBody>
          <a:bodyPr wrap="square" rtlCol="0">
            <a:spAutoFit/>
          </a:bodyPr>
          <a:lstStyle/>
          <a:p>
            <a:r>
              <a:rPr lang="en-SG" sz="2000" dirty="0">
                <a:latin typeface="Arial" panose="020B0604020202020204" pitchFamily="34" charset="0"/>
                <a:cs typeface="Arial" panose="020B0604020202020204" pitchFamily="34" charset="0"/>
              </a:rPr>
              <a:t>5 ways </a:t>
            </a:r>
          </a:p>
        </p:txBody>
      </p:sp>
      <p:cxnSp>
        <p:nvCxnSpPr>
          <p:cNvPr id="62" name="Straight Arrow Connector 61">
            <a:extLst>
              <a:ext uri="{FF2B5EF4-FFF2-40B4-BE49-F238E27FC236}">
                <a16:creationId xmlns:a16="http://schemas.microsoft.com/office/drawing/2014/main" id="{D264E89B-A9E6-98BE-4DD7-CB7E94105C9A}"/>
              </a:ext>
            </a:extLst>
          </p:cNvPr>
          <p:cNvCxnSpPr>
            <a:stCxn id="60" idx="0"/>
            <a:endCxn id="57" idx="2"/>
          </p:cNvCxnSpPr>
          <p:nvPr/>
        </p:nvCxnSpPr>
        <p:spPr>
          <a:xfrm flipV="1">
            <a:off x="2845915" y="3636279"/>
            <a:ext cx="14031" cy="4849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FE5936AD-86D6-3110-CB06-0DC4B7B1990B}"/>
              </a:ext>
            </a:extLst>
          </p:cNvPr>
          <p:cNvCxnSpPr>
            <a:cxnSpLocks/>
            <a:endCxn id="55" idx="2"/>
          </p:cNvCxnSpPr>
          <p:nvPr/>
        </p:nvCxnSpPr>
        <p:spPr>
          <a:xfrm flipV="1">
            <a:off x="1113258" y="3636279"/>
            <a:ext cx="510672" cy="4849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DEBEDC0E-FB79-0F17-AD35-65E1C1774684}"/>
              </a:ext>
            </a:extLst>
          </p:cNvPr>
          <p:cNvSpPr txBox="1"/>
          <p:nvPr/>
        </p:nvSpPr>
        <p:spPr>
          <a:xfrm>
            <a:off x="991942" y="4761869"/>
            <a:ext cx="1101800" cy="400110"/>
          </a:xfrm>
          <a:prstGeom prst="rect">
            <a:avLst/>
          </a:prstGeom>
          <a:noFill/>
        </p:spPr>
        <p:txBody>
          <a:bodyPr wrap="square" rtlCol="0">
            <a:spAutoFit/>
          </a:bodyPr>
          <a:lstStyle/>
          <a:p>
            <a:r>
              <a:rPr lang="en-SG" sz="2000" dirty="0">
                <a:latin typeface="Arial" panose="020B0604020202020204" pitchFamily="34" charset="0"/>
                <a:cs typeface="Arial" panose="020B0604020202020204" pitchFamily="34" charset="0"/>
              </a:rPr>
              <a:t>5 ways </a:t>
            </a:r>
          </a:p>
        </p:txBody>
      </p:sp>
      <p:cxnSp>
        <p:nvCxnSpPr>
          <p:cNvPr id="65" name="Straight Arrow Connector 64">
            <a:extLst>
              <a:ext uri="{FF2B5EF4-FFF2-40B4-BE49-F238E27FC236}">
                <a16:creationId xmlns:a16="http://schemas.microsoft.com/office/drawing/2014/main" id="{5ECA03D8-C4B6-C547-696A-15479AE5410A}"/>
              </a:ext>
            </a:extLst>
          </p:cNvPr>
          <p:cNvCxnSpPr>
            <a:cxnSpLocks/>
            <a:stCxn id="64" idx="0"/>
            <a:endCxn id="56" idx="2"/>
          </p:cNvCxnSpPr>
          <p:nvPr/>
        </p:nvCxnSpPr>
        <p:spPr>
          <a:xfrm flipV="1">
            <a:off x="1542842" y="3636279"/>
            <a:ext cx="699096" cy="11255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3A3CA77A-1729-71BB-2B35-752E6B4A696B}"/>
              </a:ext>
            </a:extLst>
          </p:cNvPr>
          <p:cNvSpPr txBox="1"/>
          <p:nvPr/>
        </p:nvSpPr>
        <p:spPr>
          <a:xfrm>
            <a:off x="4132722" y="4531036"/>
            <a:ext cx="833309" cy="400110"/>
          </a:xfrm>
          <a:prstGeom prst="rect">
            <a:avLst/>
          </a:prstGeom>
          <a:noFill/>
        </p:spPr>
        <p:txBody>
          <a:bodyPr wrap="square" rtlCol="0">
            <a:spAutoFit/>
          </a:bodyPr>
          <a:lstStyle/>
          <a:p>
            <a:r>
              <a:rPr lang="en-SG" sz="2000" dirty="0">
                <a:latin typeface="Arial" panose="020B0604020202020204" pitchFamily="34" charset="0"/>
                <a:cs typeface="Arial" panose="020B0604020202020204" pitchFamily="34" charset="0"/>
              </a:rPr>
              <a:t>I way</a:t>
            </a:r>
          </a:p>
        </p:txBody>
      </p:sp>
      <p:cxnSp>
        <p:nvCxnSpPr>
          <p:cNvPr id="67" name="Straight Arrow Connector 66">
            <a:extLst>
              <a:ext uri="{FF2B5EF4-FFF2-40B4-BE49-F238E27FC236}">
                <a16:creationId xmlns:a16="http://schemas.microsoft.com/office/drawing/2014/main" id="{0D91F7E4-8D6B-2835-37AA-17E24C81C46D}"/>
              </a:ext>
            </a:extLst>
          </p:cNvPr>
          <p:cNvCxnSpPr>
            <a:cxnSpLocks/>
            <a:stCxn id="66" idx="0"/>
            <a:endCxn id="59" idx="2"/>
          </p:cNvCxnSpPr>
          <p:nvPr/>
        </p:nvCxnSpPr>
        <p:spPr>
          <a:xfrm flipH="1" flipV="1">
            <a:off x="4095962" y="3636279"/>
            <a:ext cx="453415" cy="8947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B73459BF-D93C-1EB6-6A36-193A974B7CDB}"/>
              </a:ext>
            </a:extLst>
          </p:cNvPr>
          <p:cNvSpPr txBox="1"/>
          <p:nvPr/>
        </p:nvSpPr>
        <p:spPr>
          <a:xfrm>
            <a:off x="3299413" y="4827428"/>
            <a:ext cx="833309" cy="400110"/>
          </a:xfrm>
          <a:prstGeom prst="rect">
            <a:avLst/>
          </a:prstGeom>
          <a:noFill/>
        </p:spPr>
        <p:txBody>
          <a:bodyPr wrap="square" rtlCol="0">
            <a:spAutoFit/>
          </a:bodyPr>
          <a:lstStyle/>
          <a:p>
            <a:r>
              <a:rPr lang="en-SG" sz="2000" dirty="0">
                <a:latin typeface="Arial" panose="020B0604020202020204" pitchFamily="34" charset="0"/>
                <a:cs typeface="Arial" panose="020B0604020202020204" pitchFamily="34" charset="0"/>
              </a:rPr>
              <a:t>I way</a:t>
            </a:r>
          </a:p>
        </p:txBody>
      </p:sp>
      <p:cxnSp>
        <p:nvCxnSpPr>
          <p:cNvPr id="69" name="Straight Arrow Connector 68">
            <a:extLst>
              <a:ext uri="{FF2B5EF4-FFF2-40B4-BE49-F238E27FC236}">
                <a16:creationId xmlns:a16="http://schemas.microsoft.com/office/drawing/2014/main" id="{4A0A3861-CC6E-8C6A-D9CA-46F05F8C8EAC}"/>
              </a:ext>
            </a:extLst>
          </p:cNvPr>
          <p:cNvCxnSpPr>
            <a:cxnSpLocks/>
            <a:stCxn id="68" idx="0"/>
            <a:endCxn id="58" idx="2"/>
          </p:cNvCxnSpPr>
          <p:nvPr/>
        </p:nvCxnSpPr>
        <p:spPr>
          <a:xfrm flipH="1" flipV="1">
            <a:off x="3477954" y="3636279"/>
            <a:ext cx="238114" cy="11911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Connector: Curved 38">
            <a:extLst>
              <a:ext uri="{FF2B5EF4-FFF2-40B4-BE49-F238E27FC236}">
                <a16:creationId xmlns:a16="http://schemas.microsoft.com/office/drawing/2014/main" id="{9A4F7C0E-3D4E-2837-55F4-B1EC52E73612}"/>
              </a:ext>
            </a:extLst>
          </p:cNvPr>
          <p:cNvCxnSpPr>
            <a:stCxn id="55" idx="0"/>
            <a:endCxn id="59" idx="0"/>
          </p:cNvCxnSpPr>
          <p:nvPr/>
        </p:nvCxnSpPr>
        <p:spPr>
          <a:xfrm rot="5400000" flipH="1" flipV="1">
            <a:off x="2859946" y="2103871"/>
            <a:ext cx="12700" cy="2472032"/>
          </a:xfrm>
          <a:prstGeom prst="curvedConnector3">
            <a:avLst>
              <a:gd name="adj1" fmla="val 3041378"/>
            </a:avLst>
          </a:prstGeom>
          <a:ln>
            <a:solidFill>
              <a:srgbClr val="C00000"/>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1" name="Connector: Curved 40">
            <a:extLst>
              <a:ext uri="{FF2B5EF4-FFF2-40B4-BE49-F238E27FC236}">
                <a16:creationId xmlns:a16="http://schemas.microsoft.com/office/drawing/2014/main" id="{8D946C5F-397B-657A-E484-47F1F0F43BB2}"/>
              </a:ext>
            </a:extLst>
          </p:cNvPr>
          <p:cNvCxnSpPr>
            <a:cxnSpLocks/>
            <a:stCxn id="56" idx="0"/>
            <a:endCxn id="58" idx="0"/>
          </p:cNvCxnSpPr>
          <p:nvPr/>
        </p:nvCxnSpPr>
        <p:spPr>
          <a:xfrm rot="5400000" flipH="1" flipV="1">
            <a:off x="2859946" y="2721879"/>
            <a:ext cx="12700" cy="1236016"/>
          </a:xfrm>
          <a:prstGeom prst="curvedConnector3">
            <a:avLst>
              <a:gd name="adj1" fmla="val 1800000"/>
            </a:avLst>
          </a:prstGeom>
          <a:ln>
            <a:solidFill>
              <a:srgbClr val="C00000"/>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113225E7-B5CA-9062-6169-FABF07067CA9}"/>
                  </a:ext>
                </a:extLst>
              </p:cNvPr>
              <p:cNvSpPr txBox="1"/>
              <p:nvPr/>
            </p:nvSpPr>
            <p:spPr>
              <a:xfrm>
                <a:off x="5931356" y="3606603"/>
                <a:ext cx="5237357" cy="954107"/>
              </a:xfrm>
              <a:prstGeom prst="rect">
                <a:avLst/>
              </a:prstGeom>
              <a:solidFill>
                <a:srgbClr val="CCECFF"/>
              </a:solidFill>
            </p:spPr>
            <p:txBody>
              <a:bodyPr wrap="square" rtlCol="0">
                <a:spAutoFit/>
              </a:bodyPr>
              <a:lstStyle/>
              <a:p>
                <a:r>
                  <a:rPr lang="en-SG" sz="2800" dirty="0"/>
                  <a:t>Total number of ambigrams:</a:t>
                </a:r>
                <a:r>
                  <a:rPr lang="en-US" sz="2800" dirty="0"/>
                  <a:t> </a:t>
                </a:r>
              </a:p>
              <a:p>
                <a:pPr/>
                <a14:m>
                  <m:oMathPara xmlns:m="http://schemas.openxmlformats.org/officeDocument/2006/math">
                    <m:oMathParaPr>
                      <m:jc m:val="left"/>
                    </m:oMathParaPr>
                    <m:oMath xmlns:m="http://schemas.openxmlformats.org/officeDocument/2006/math">
                      <m:r>
                        <a:rPr lang="en-US" sz="2800" i="1">
                          <a:latin typeface="Cambria Math" panose="02040503050406030204" pitchFamily="18" charset="0"/>
                        </a:rPr>
                        <m:t>5 ∗5 ∗</m:t>
                      </m:r>
                      <m:r>
                        <a:rPr lang="en-US" sz="2800" b="0" i="1" smtClean="0">
                          <a:latin typeface="Cambria Math" panose="02040503050406030204" pitchFamily="18" charset="0"/>
                        </a:rPr>
                        <m:t>3</m:t>
                      </m:r>
                      <m:r>
                        <a:rPr lang="en-US" sz="2800" i="1">
                          <a:latin typeface="Cambria Math" panose="02040503050406030204" pitchFamily="18" charset="0"/>
                        </a:rPr>
                        <m:t> ∗</m:t>
                      </m:r>
                      <m:r>
                        <a:rPr lang="en-US" sz="2800" b="0" i="1" smtClean="0">
                          <a:latin typeface="Cambria Math" panose="02040503050406030204" pitchFamily="18" charset="0"/>
                        </a:rPr>
                        <m:t>1</m:t>
                      </m:r>
                      <m:r>
                        <a:rPr lang="en-US" sz="2800" i="1">
                          <a:latin typeface="Cambria Math" panose="02040503050406030204" pitchFamily="18" charset="0"/>
                        </a:rPr>
                        <m:t> ∗</m:t>
                      </m:r>
                      <m:r>
                        <a:rPr lang="en-US" sz="2800" b="0" i="1" smtClean="0">
                          <a:latin typeface="Cambria Math" panose="02040503050406030204" pitchFamily="18" charset="0"/>
                        </a:rPr>
                        <m:t>1=75</m:t>
                      </m:r>
                    </m:oMath>
                  </m:oMathPara>
                </a14:m>
                <a:endParaRPr lang="en-US" sz="2800" b="0" dirty="0"/>
              </a:p>
            </p:txBody>
          </p:sp>
        </mc:Choice>
        <mc:Fallback xmlns="">
          <p:sp>
            <p:nvSpPr>
              <p:cNvPr id="72" name="TextBox 71">
                <a:extLst>
                  <a:ext uri="{FF2B5EF4-FFF2-40B4-BE49-F238E27FC236}">
                    <a16:creationId xmlns:a16="http://schemas.microsoft.com/office/drawing/2014/main" id="{113225E7-B5CA-9062-6169-FABF07067CA9}"/>
                  </a:ext>
                </a:extLst>
              </p:cNvPr>
              <p:cNvSpPr txBox="1">
                <a:spLocks noRot="1" noChangeAspect="1" noMove="1" noResize="1" noEditPoints="1" noAdjustHandles="1" noChangeArrowheads="1" noChangeShapeType="1" noTextEdit="1"/>
              </p:cNvSpPr>
              <p:nvPr/>
            </p:nvSpPr>
            <p:spPr>
              <a:xfrm>
                <a:off x="5931356" y="3606603"/>
                <a:ext cx="5237357" cy="954107"/>
              </a:xfrm>
              <a:prstGeom prst="rect">
                <a:avLst/>
              </a:prstGeom>
              <a:blipFill>
                <a:blip r:embed="rId3"/>
                <a:stretch>
                  <a:fillRect l="-2445" t="-6410"/>
                </a:stretch>
              </a:blipFill>
            </p:spPr>
            <p:txBody>
              <a:bodyPr/>
              <a:lstStyle/>
              <a:p>
                <a:r>
                  <a:rPr lang="en-US">
                    <a:noFill/>
                  </a:rPr>
                  <a:t> </a:t>
                </a:r>
              </a:p>
            </p:txBody>
          </p:sp>
        </mc:Fallback>
      </mc:AlternateContent>
      <p:sp>
        <p:nvSpPr>
          <p:cNvPr id="73" name="TextBox 72">
            <a:extLst>
              <a:ext uri="{FF2B5EF4-FFF2-40B4-BE49-F238E27FC236}">
                <a16:creationId xmlns:a16="http://schemas.microsoft.com/office/drawing/2014/main" id="{17BC3FE0-87A4-9CA1-3ADC-9449B002505A}"/>
              </a:ext>
            </a:extLst>
          </p:cNvPr>
          <p:cNvSpPr txBox="1"/>
          <p:nvPr/>
        </p:nvSpPr>
        <p:spPr>
          <a:xfrm>
            <a:off x="2593298" y="5832842"/>
            <a:ext cx="2623966" cy="523220"/>
          </a:xfrm>
          <a:prstGeom prst="rect">
            <a:avLst/>
          </a:prstGeom>
          <a:solidFill>
            <a:srgbClr val="F9E1D3"/>
          </a:solidFill>
        </p:spPr>
        <p:txBody>
          <a:bodyPr wrap="square" rtlCol="0">
            <a:spAutoFit/>
          </a:bodyPr>
          <a:lstStyle/>
          <a:p>
            <a:r>
              <a:rPr lang="en-SG" sz="2800" dirty="0">
                <a:solidFill>
                  <a:srgbClr val="C00000"/>
                </a:solidFill>
              </a:rPr>
              <a:t>Difference Rule</a:t>
            </a:r>
          </a:p>
        </p:txBody>
      </p:sp>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1073643B-8CDB-8247-DA22-A64E0689B73A}"/>
                  </a:ext>
                </a:extLst>
              </p:cNvPr>
              <p:cNvSpPr txBox="1"/>
              <p:nvPr/>
            </p:nvSpPr>
            <p:spPr>
              <a:xfrm>
                <a:off x="5931357" y="4931708"/>
                <a:ext cx="5237357" cy="954107"/>
              </a:xfrm>
              <a:prstGeom prst="rect">
                <a:avLst/>
              </a:prstGeom>
              <a:solidFill>
                <a:srgbClr val="CCECFF"/>
              </a:solidFill>
            </p:spPr>
            <p:txBody>
              <a:bodyPr wrap="square" rtlCol="0">
                <a:spAutoFit/>
              </a:bodyPr>
              <a:lstStyle/>
              <a:p>
                <a:r>
                  <a:rPr lang="en-SG" sz="2800" dirty="0"/>
                  <a:t>Cheque numbers that would cause confusion:</a:t>
                </a:r>
                <a:r>
                  <a:rPr lang="en-US" sz="2800" dirty="0"/>
                  <a:t> </a:t>
                </a:r>
                <a14:m>
                  <m:oMath xmlns:m="http://schemas.openxmlformats.org/officeDocument/2006/math">
                    <m:sSup>
                      <m:sSupPr>
                        <m:ctrlPr>
                          <a:rPr lang="en-US" sz="2800" b="0" i="1" smtClean="0">
                            <a:latin typeface="Cambria Math" panose="02040503050406030204" pitchFamily="18" charset="0"/>
                          </a:rPr>
                        </m:ctrlPr>
                      </m:sSupPr>
                      <m:e>
                        <m:r>
                          <a:rPr lang="en-US" sz="2800" b="0" i="0" smtClean="0">
                            <a:latin typeface="Cambria Math" panose="02040503050406030204" pitchFamily="18" charset="0"/>
                          </a:rPr>
                          <m:t>5</m:t>
                        </m:r>
                      </m:e>
                      <m:sup>
                        <m:r>
                          <a:rPr lang="en-US" sz="2800" b="0" i="0" smtClean="0">
                            <a:latin typeface="Cambria Math" panose="02040503050406030204" pitchFamily="18" charset="0"/>
                          </a:rPr>
                          <m:t>5</m:t>
                        </m:r>
                      </m:sup>
                    </m:sSup>
                    <m:r>
                      <a:rPr lang="en-US" sz="2800" b="0" i="0" smtClean="0">
                        <a:latin typeface="Cambria Math" panose="02040503050406030204" pitchFamily="18" charset="0"/>
                      </a:rPr>
                      <m:t> − </m:t>
                    </m:r>
                    <m:r>
                      <a:rPr lang="en-US" sz="2800" b="0" i="1" smtClean="0">
                        <a:latin typeface="Cambria Math" panose="02040503050406030204" pitchFamily="18" charset="0"/>
                      </a:rPr>
                      <m:t>75=</m:t>
                    </m:r>
                    <m:r>
                      <a:rPr lang="en-US" sz="2800" b="1" i="1" smtClean="0">
                        <a:solidFill>
                          <a:srgbClr val="C00000"/>
                        </a:solidFill>
                        <a:latin typeface="Cambria Math" panose="02040503050406030204" pitchFamily="18" charset="0"/>
                      </a:rPr>
                      <m:t>𝟑𝟎𝟓𝟎</m:t>
                    </m:r>
                  </m:oMath>
                </a14:m>
                <a:endParaRPr lang="en-US" sz="2800" b="1" dirty="0"/>
              </a:p>
            </p:txBody>
          </p:sp>
        </mc:Choice>
        <mc:Fallback xmlns="">
          <p:sp>
            <p:nvSpPr>
              <p:cNvPr id="74" name="TextBox 73">
                <a:extLst>
                  <a:ext uri="{FF2B5EF4-FFF2-40B4-BE49-F238E27FC236}">
                    <a16:creationId xmlns:a16="http://schemas.microsoft.com/office/drawing/2014/main" id="{1073643B-8CDB-8247-DA22-A64E0689B73A}"/>
                  </a:ext>
                </a:extLst>
              </p:cNvPr>
              <p:cNvSpPr txBox="1">
                <a:spLocks noRot="1" noChangeAspect="1" noMove="1" noResize="1" noEditPoints="1" noAdjustHandles="1" noChangeArrowheads="1" noChangeShapeType="1" noTextEdit="1"/>
              </p:cNvSpPr>
              <p:nvPr/>
            </p:nvSpPr>
            <p:spPr>
              <a:xfrm>
                <a:off x="5931357" y="4931708"/>
                <a:ext cx="5237357" cy="954107"/>
              </a:xfrm>
              <a:prstGeom prst="rect">
                <a:avLst/>
              </a:prstGeom>
              <a:blipFill>
                <a:blip r:embed="rId4"/>
                <a:stretch>
                  <a:fillRect l="-2445" t="-5732" r="-3609" b="-17834"/>
                </a:stretch>
              </a:blipFill>
            </p:spPr>
            <p:txBody>
              <a:bodyPr/>
              <a:lstStyle/>
              <a:p>
                <a:r>
                  <a:rPr lang="en-US">
                    <a:noFill/>
                  </a:rPr>
                  <a:t> </a:t>
                </a:r>
              </a:p>
            </p:txBody>
          </p:sp>
        </mc:Fallback>
      </mc:AlternateContent>
      <p:cxnSp>
        <p:nvCxnSpPr>
          <p:cNvPr id="75" name="Connector: Curved 54">
            <a:extLst>
              <a:ext uri="{FF2B5EF4-FFF2-40B4-BE49-F238E27FC236}">
                <a16:creationId xmlns:a16="http://schemas.microsoft.com/office/drawing/2014/main" id="{0E89EC71-3E6D-6F93-1032-E15E6142E8D5}"/>
              </a:ext>
            </a:extLst>
          </p:cNvPr>
          <p:cNvCxnSpPr>
            <a:stCxn id="73" idx="3"/>
            <a:endCxn id="74" idx="1"/>
          </p:cNvCxnSpPr>
          <p:nvPr/>
        </p:nvCxnSpPr>
        <p:spPr>
          <a:xfrm flipV="1">
            <a:off x="5217264" y="5408762"/>
            <a:ext cx="714093" cy="68569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1471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grpId="0" nodeType="clickEffect">
                                  <p:stCondLst>
                                    <p:cond delay="0"/>
                                  </p:stCondLst>
                                  <p:childTnLst>
                                    <p:animRot by="10800000">
                                      <p:cBhvr>
                                        <p:cTn id="6" dur="2000" fill="hold"/>
                                        <p:tgtEl>
                                          <p:spTgt spid="50"/>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44"/>
                                        </p:tgtEl>
                                        <p:attrNameLst>
                                          <p:attrName>style.visibility</p:attrName>
                                        </p:attrNameLst>
                                      </p:cBhvr>
                                      <p:to>
                                        <p:strVal val="visible"/>
                                      </p:to>
                                    </p:set>
                                    <p:animEffect transition="in" filter="dissolve">
                                      <p:cBhvr>
                                        <p:cTn id="15" dur="500"/>
                                        <p:tgtEl>
                                          <p:spTgt spid="44"/>
                                        </p:tgtEl>
                                      </p:cBhvr>
                                    </p:animEffect>
                                  </p:childTnLst>
                                </p:cTn>
                              </p:par>
                              <p:par>
                                <p:cTn id="16" presetID="1" presetClass="entr" presetSubtype="0" fill="hold" nodeType="withEffect">
                                  <p:stCondLst>
                                    <p:cond delay="0"/>
                                  </p:stCondLst>
                                  <p:childTnLst>
                                    <p:set>
                                      <p:cBhvr>
                                        <p:cTn id="17" dur="1" fill="hold">
                                          <p:stCondLst>
                                            <p:cond delay="0"/>
                                          </p:stCondLst>
                                        </p:cTn>
                                        <p:tgtEl>
                                          <p:spTgt spid="54"/>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2"/>
                                        </p:tgtEl>
                                        <p:attrNameLst>
                                          <p:attrName>style.visibility</p:attrName>
                                        </p:attrNameLst>
                                      </p:cBhvr>
                                      <p:to>
                                        <p:strVal val="visible"/>
                                      </p:to>
                                    </p:set>
                                    <p:animEffect transition="in" filter="dissolve">
                                      <p:cBhvr>
                                        <p:cTn id="22" dur="500"/>
                                        <p:tgtEl>
                                          <p:spTgt spid="42"/>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52"/>
                                        </p:tgtEl>
                                        <p:attrNameLst>
                                          <p:attrName>style.visibility</p:attrName>
                                        </p:attrNameLst>
                                      </p:cBhvr>
                                      <p:to>
                                        <p:strVal val="visible"/>
                                      </p:to>
                                    </p:set>
                                    <p:animEffect transition="in" filter="randombar(horizontal)">
                                      <p:cBhvr>
                                        <p:cTn id="27" dur="500"/>
                                        <p:tgtEl>
                                          <p:spTgt spid="52"/>
                                        </p:tgtEl>
                                      </p:cBhvr>
                                    </p:animEffect>
                                  </p:childTnLst>
                                </p:cTn>
                              </p:par>
                            </p:childTnLst>
                          </p:cTn>
                        </p:par>
                      </p:childTnLst>
                    </p:cTn>
                  </p:par>
                  <p:par>
                    <p:cTn id="28" fill="hold">
                      <p:stCondLst>
                        <p:cond delay="indefinite"/>
                      </p:stCondLst>
                      <p:childTnLst>
                        <p:par>
                          <p:cTn id="29" fill="hold">
                            <p:stCondLst>
                              <p:cond delay="0"/>
                            </p:stCondLst>
                            <p:childTnLst>
                              <p:par>
                                <p:cTn id="30" presetID="8" presetClass="emph" presetSubtype="0" fill="hold" grpId="1" nodeType="clickEffect">
                                  <p:stCondLst>
                                    <p:cond delay="0"/>
                                  </p:stCondLst>
                                  <p:childTnLst>
                                    <p:animRot by="10800000">
                                      <p:cBhvr>
                                        <p:cTn id="31" dur="2000" fill="hold"/>
                                        <p:tgtEl>
                                          <p:spTgt spid="52"/>
                                        </p:tgtEl>
                                        <p:attrNameLst>
                                          <p:attrName>r</p:attrName>
                                        </p:attrNameLst>
                                      </p:cBhvr>
                                    </p:animRot>
                                  </p:childTnLst>
                                </p:cTn>
                              </p:par>
                            </p:childTnLst>
                          </p:cTn>
                        </p:par>
                      </p:childTnLst>
                    </p:cTn>
                  </p:par>
                  <p:par>
                    <p:cTn id="32" fill="hold">
                      <p:stCondLst>
                        <p:cond delay="indefinite"/>
                      </p:stCondLst>
                      <p:childTnLst>
                        <p:par>
                          <p:cTn id="33" fill="hold">
                            <p:stCondLst>
                              <p:cond delay="0"/>
                            </p:stCondLst>
                            <p:childTnLst>
                              <p:par>
                                <p:cTn id="34" presetID="14" presetClass="entr" presetSubtype="10" fill="hold" grpId="0" nodeType="clickEffect">
                                  <p:stCondLst>
                                    <p:cond delay="0"/>
                                  </p:stCondLst>
                                  <p:childTnLst>
                                    <p:set>
                                      <p:cBhvr>
                                        <p:cTn id="35" dur="1" fill="hold">
                                          <p:stCondLst>
                                            <p:cond delay="0"/>
                                          </p:stCondLst>
                                        </p:cTn>
                                        <p:tgtEl>
                                          <p:spTgt spid="53"/>
                                        </p:tgtEl>
                                        <p:attrNameLst>
                                          <p:attrName>style.visibility</p:attrName>
                                        </p:attrNameLst>
                                      </p:cBhvr>
                                      <p:to>
                                        <p:strVal val="visible"/>
                                      </p:to>
                                    </p:set>
                                    <p:animEffect transition="in" filter="randombar(horizontal)">
                                      <p:cBhvr>
                                        <p:cTn id="36" dur="500"/>
                                        <p:tgtEl>
                                          <p:spTgt spid="53"/>
                                        </p:tgtEl>
                                      </p:cBhvr>
                                    </p:animEffect>
                                  </p:childTnLst>
                                </p:cTn>
                              </p:par>
                            </p:childTnLst>
                          </p:cTn>
                        </p:par>
                      </p:childTnLst>
                    </p:cTn>
                  </p:par>
                  <p:par>
                    <p:cTn id="37" fill="hold">
                      <p:stCondLst>
                        <p:cond delay="indefinite"/>
                      </p:stCondLst>
                      <p:childTnLst>
                        <p:par>
                          <p:cTn id="38" fill="hold">
                            <p:stCondLst>
                              <p:cond delay="0"/>
                            </p:stCondLst>
                            <p:childTnLst>
                              <p:par>
                                <p:cTn id="39" presetID="8" presetClass="emph" presetSubtype="0" fill="hold" grpId="1" nodeType="clickEffect">
                                  <p:stCondLst>
                                    <p:cond delay="200"/>
                                  </p:stCondLst>
                                  <p:childTnLst>
                                    <p:animRot by="10800000">
                                      <p:cBhvr>
                                        <p:cTn id="40" dur="2000" fill="hold"/>
                                        <p:tgtEl>
                                          <p:spTgt spid="53"/>
                                        </p:tgtEl>
                                        <p:attrNameLst>
                                          <p:attrName>r</p:attrName>
                                        </p:attrNameLst>
                                      </p:cBhvr>
                                    </p:animRo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60"/>
                                        </p:tgtEl>
                                        <p:attrNameLst>
                                          <p:attrName>style.visibility</p:attrName>
                                        </p:attrNameLst>
                                      </p:cBhvr>
                                      <p:to>
                                        <p:strVal val="visible"/>
                                      </p:to>
                                    </p:set>
                                    <p:animEffect transition="in" filter="dissolve">
                                      <p:cBhvr>
                                        <p:cTn id="57" dur="500"/>
                                        <p:tgtEl>
                                          <p:spTgt spid="60"/>
                                        </p:tgtEl>
                                      </p:cBhvr>
                                    </p:animEffect>
                                  </p:childTnLst>
                                </p:cTn>
                              </p:par>
                              <p:par>
                                <p:cTn id="58" presetID="1" presetClass="entr" presetSubtype="0" fill="hold" nodeType="withEffect">
                                  <p:stCondLst>
                                    <p:cond delay="0"/>
                                  </p:stCondLst>
                                  <p:childTnLst>
                                    <p:set>
                                      <p:cBhvr>
                                        <p:cTn id="59" dur="1" fill="hold">
                                          <p:stCondLst>
                                            <p:cond delay="0"/>
                                          </p:stCondLst>
                                        </p:cTn>
                                        <p:tgtEl>
                                          <p:spTgt spid="62"/>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9" presetClass="entr" presetSubtype="0" fill="hold" grpId="0" nodeType="clickEffect">
                                  <p:stCondLst>
                                    <p:cond delay="0"/>
                                  </p:stCondLst>
                                  <p:childTnLst>
                                    <p:set>
                                      <p:cBhvr>
                                        <p:cTn id="63" dur="1" fill="hold">
                                          <p:stCondLst>
                                            <p:cond delay="0"/>
                                          </p:stCondLst>
                                        </p:cTn>
                                        <p:tgtEl>
                                          <p:spTgt spid="61"/>
                                        </p:tgtEl>
                                        <p:attrNameLst>
                                          <p:attrName>style.visibility</p:attrName>
                                        </p:attrNameLst>
                                      </p:cBhvr>
                                      <p:to>
                                        <p:strVal val="visible"/>
                                      </p:to>
                                    </p:set>
                                    <p:animEffect transition="in" filter="dissolve">
                                      <p:cBhvr>
                                        <p:cTn id="64" dur="500"/>
                                        <p:tgtEl>
                                          <p:spTgt spid="61"/>
                                        </p:tgtEl>
                                      </p:cBhvr>
                                    </p:animEffect>
                                  </p:childTnLst>
                                </p:cTn>
                              </p:par>
                              <p:par>
                                <p:cTn id="65" presetID="1" presetClass="entr" presetSubtype="0" fill="hold" nodeType="withEffect">
                                  <p:stCondLst>
                                    <p:cond delay="0"/>
                                  </p:stCondLst>
                                  <p:childTnLst>
                                    <p:set>
                                      <p:cBhvr>
                                        <p:cTn id="66" dur="1" fill="hold">
                                          <p:stCondLst>
                                            <p:cond delay="0"/>
                                          </p:stCondLst>
                                        </p:cTn>
                                        <p:tgtEl>
                                          <p:spTgt spid="63"/>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9" presetClass="entr" presetSubtype="0" fill="hold" grpId="0" nodeType="clickEffect">
                                  <p:stCondLst>
                                    <p:cond delay="0"/>
                                  </p:stCondLst>
                                  <p:childTnLst>
                                    <p:set>
                                      <p:cBhvr>
                                        <p:cTn id="70" dur="1" fill="hold">
                                          <p:stCondLst>
                                            <p:cond delay="0"/>
                                          </p:stCondLst>
                                        </p:cTn>
                                        <p:tgtEl>
                                          <p:spTgt spid="66"/>
                                        </p:tgtEl>
                                        <p:attrNameLst>
                                          <p:attrName>style.visibility</p:attrName>
                                        </p:attrNameLst>
                                      </p:cBhvr>
                                      <p:to>
                                        <p:strVal val="visible"/>
                                      </p:to>
                                    </p:set>
                                    <p:animEffect transition="in" filter="dissolve">
                                      <p:cBhvr>
                                        <p:cTn id="71" dur="500"/>
                                        <p:tgtEl>
                                          <p:spTgt spid="66"/>
                                        </p:tgtEl>
                                      </p:cBhvr>
                                    </p:animEffect>
                                  </p:childTnLst>
                                </p:cTn>
                              </p:par>
                              <p:par>
                                <p:cTn id="72" presetID="1" presetClass="entr" presetSubtype="0" fill="hold" nodeType="withEffect">
                                  <p:stCondLst>
                                    <p:cond delay="0"/>
                                  </p:stCondLst>
                                  <p:childTnLst>
                                    <p:set>
                                      <p:cBhvr>
                                        <p:cTn id="73" dur="1" fill="hold">
                                          <p:stCondLst>
                                            <p:cond delay="0"/>
                                          </p:stCondLst>
                                        </p:cTn>
                                        <p:tgtEl>
                                          <p:spTgt spid="67"/>
                                        </p:tgtEl>
                                        <p:attrNameLst>
                                          <p:attrName>style.visibility</p:attrName>
                                        </p:attrNameLst>
                                      </p:cBhvr>
                                      <p:to>
                                        <p:strVal val="visible"/>
                                      </p:to>
                                    </p:set>
                                  </p:childTnLst>
                                </p:cTn>
                              </p:par>
                              <p:par>
                                <p:cTn id="74" presetID="1" presetClass="entr" presetSubtype="0" fill="hold" nodeType="withEffect">
                                  <p:stCondLst>
                                    <p:cond delay="0"/>
                                  </p:stCondLst>
                                  <p:childTnLst>
                                    <p:set>
                                      <p:cBhvr>
                                        <p:cTn id="75" dur="1" fill="hold">
                                          <p:stCondLst>
                                            <p:cond delay="0"/>
                                          </p:stCondLst>
                                        </p:cTn>
                                        <p:tgtEl>
                                          <p:spTgt spid="70"/>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9" presetClass="entr" presetSubtype="0" fill="hold" grpId="0" nodeType="clickEffect">
                                  <p:stCondLst>
                                    <p:cond delay="0"/>
                                  </p:stCondLst>
                                  <p:childTnLst>
                                    <p:set>
                                      <p:cBhvr>
                                        <p:cTn id="79" dur="1" fill="hold">
                                          <p:stCondLst>
                                            <p:cond delay="0"/>
                                          </p:stCondLst>
                                        </p:cTn>
                                        <p:tgtEl>
                                          <p:spTgt spid="64"/>
                                        </p:tgtEl>
                                        <p:attrNameLst>
                                          <p:attrName>style.visibility</p:attrName>
                                        </p:attrNameLst>
                                      </p:cBhvr>
                                      <p:to>
                                        <p:strVal val="visible"/>
                                      </p:to>
                                    </p:set>
                                    <p:animEffect transition="in" filter="dissolve">
                                      <p:cBhvr>
                                        <p:cTn id="80" dur="500"/>
                                        <p:tgtEl>
                                          <p:spTgt spid="64"/>
                                        </p:tgtEl>
                                      </p:cBhvr>
                                    </p:animEffect>
                                  </p:childTnLst>
                                </p:cTn>
                              </p:par>
                              <p:par>
                                <p:cTn id="81" presetID="1" presetClass="entr" presetSubtype="0" fill="hold" nodeType="withEffect">
                                  <p:stCondLst>
                                    <p:cond delay="0"/>
                                  </p:stCondLst>
                                  <p:childTnLst>
                                    <p:set>
                                      <p:cBhvr>
                                        <p:cTn id="82" dur="1" fill="hold">
                                          <p:stCondLst>
                                            <p:cond delay="0"/>
                                          </p:stCondLst>
                                        </p:cTn>
                                        <p:tgtEl>
                                          <p:spTgt spid="65"/>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68"/>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69"/>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71"/>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72"/>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74"/>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9" presetClass="entr" presetSubtype="0" fill="hold" grpId="0" nodeType="clickEffect">
                                  <p:stCondLst>
                                    <p:cond delay="0"/>
                                  </p:stCondLst>
                                  <p:childTnLst>
                                    <p:set>
                                      <p:cBhvr>
                                        <p:cTn id="102" dur="1" fill="hold">
                                          <p:stCondLst>
                                            <p:cond delay="0"/>
                                          </p:stCondLst>
                                        </p:cTn>
                                        <p:tgtEl>
                                          <p:spTgt spid="73"/>
                                        </p:tgtEl>
                                        <p:attrNameLst>
                                          <p:attrName>style.visibility</p:attrName>
                                        </p:attrNameLst>
                                      </p:cBhvr>
                                      <p:to>
                                        <p:strVal val="visible"/>
                                      </p:to>
                                    </p:set>
                                    <p:animEffect transition="in" filter="dissolve">
                                      <p:cBhvr>
                                        <p:cTn id="103" dur="500"/>
                                        <p:tgtEl>
                                          <p:spTgt spid="73"/>
                                        </p:tgtEl>
                                      </p:cBhvr>
                                    </p:animEffect>
                                  </p:childTnLst>
                                </p:cTn>
                              </p:par>
                              <p:par>
                                <p:cTn id="104" presetID="1" presetClass="entr" presetSubtype="0" fill="hold" nodeType="withEffect">
                                  <p:stCondLst>
                                    <p:cond delay="0"/>
                                  </p:stCondLst>
                                  <p:childTnLst>
                                    <p:set>
                                      <p:cBhvr>
                                        <p:cTn id="105" dur="1" fill="hold">
                                          <p:stCondLst>
                                            <p:cond delay="0"/>
                                          </p:stCondLst>
                                        </p:cTn>
                                        <p:tgtEl>
                                          <p:spTgt spid="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4" grpId="0" animBg="1"/>
      <p:bldP spid="46" grpId="0" animBg="1"/>
      <p:bldP spid="50" grpId="0"/>
      <p:bldP spid="52" grpId="0"/>
      <p:bldP spid="52" grpId="1"/>
      <p:bldP spid="53" grpId="0"/>
      <p:bldP spid="53" grpId="1"/>
      <p:bldP spid="55" grpId="0" animBg="1"/>
      <p:bldP spid="56" grpId="0" animBg="1"/>
      <p:bldP spid="57" grpId="0" animBg="1"/>
      <p:bldP spid="58" grpId="0" animBg="1"/>
      <p:bldP spid="59" grpId="0" animBg="1"/>
      <p:bldP spid="60" grpId="0"/>
      <p:bldP spid="61" grpId="0"/>
      <p:bldP spid="64" grpId="0"/>
      <p:bldP spid="66" grpId="0"/>
      <p:bldP spid="68" grpId="0"/>
      <p:bldP spid="72" grpId="0" animBg="1"/>
      <p:bldP spid="73" grpId="0" animBg="1"/>
      <p:bldP spid="7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9532D-7B1D-4496-906D-F1887FE508D2}"/>
              </a:ext>
            </a:extLst>
          </p:cNvPr>
          <p:cNvSpPr>
            <a:spLocks noGrp="1"/>
          </p:cNvSpPr>
          <p:nvPr>
            <p:ph type="title"/>
          </p:nvPr>
        </p:nvSpPr>
        <p:spPr>
          <a:xfrm>
            <a:off x="314662" y="226852"/>
            <a:ext cx="1318424" cy="895927"/>
          </a:xfrm>
        </p:spPr>
        <p:txBody>
          <a:bodyPr>
            <a:normAutofit/>
          </a:bodyPr>
          <a:lstStyle/>
          <a:p>
            <a:pPr>
              <a:lnSpc>
                <a:spcPct val="100000"/>
              </a:lnSpc>
            </a:pPr>
            <a:r>
              <a:rPr lang="en-SG" dirty="0" err="1">
                <a:solidFill>
                  <a:schemeClr val="bg2">
                    <a:lumMod val="50000"/>
                  </a:schemeClr>
                </a:solidFill>
              </a:rPr>
              <a:t>Q3</a:t>
            </a:r>
            <a:r>
              <a:rPr lang="en-SG" dirty="0">
                <a:solidFill>
                  <a:schemeClr val="bg2">
                    <a:lumMod val="50000"/>
                  </a:schemeClr>
                </a:solidFill>
              </a:rPr>
              <a:t>.</a:t>
            </a:r>
            <a:endParaRPr lang="en-SG" dirty="0">
              <a:solidFill>
                <a:schemeClr val="bg2">
                  <a:lumMod val="50000"/>
                </a:schemeClr>
              </a:solidFill>
              <a:latin typeface="Cambria Math" panose="02040503050406030204" pitchFamily="18" charset="0"/>
              <a:ea typeface="Cambria Math" panose="02040503050406030204" pitchFamily="18" charset="0"/>
            </a:endParaRPr>
          </a:p>
        </p:txBody>
      </p:sp>
      <p:sp>
        <p:nvSpPr>
          <p:cNvPr id="10" name="Slide Number Placeholder 1"/>
          <p:cNvSpPr>
            <a:spLocks noGrp="1"/>
          </p:cNvSpPr>
          <p:nvPr>
            <p:ph type="sldNum" sz="quarter" idx="12"/>
          </p:nvPr>
        </p:nvSpPr>
        <p:spPr>
          <a:xfrm>
            <a:off x="10485783" y="6492875"/>
            <a:ext cx="1706217" cy="365125"/>
          </a:xfrm>
        </p:spPr>
        <p:txBody>
          <a:bodyPr/>
          <a:lstStyle/>
          <a:p>
            <a:fld id="{576A5E36-E009-4840-A577-F8CF29116582}" type="slidenum">
              <a:rPr lang="en-US" sz="1600" smtClean="0">
                <a:solidFill>
                  <a:schemeClr val="bg1"/>
                </a:solidFill>
              </a:rPr>
              <a:t>6</a:t>
            </a:fld>
            <a:endParaRPr lang="en-US" sz="1600" dirty="0">
              <a:solidFill>
                <a:schemeClr val="bg1"/>
              </a:solidFill>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9FB7879-BCF9-4B1A-A2CC-BB0778FBDB53}"/>
                  </a:ext>
                </a:extLst>
              </p:cNvPr>
              <p:cNvSpPr txBox="1"/>
              <p:nvPr/>
            </p:nvSpPr>
            <p:spPr>
              <a:xfrm>
                <a:off x="1412247" y="382427"/>
                <a:ext cx="9782226" cy="1384995"/>
              </a:xfrm>
              <a:prstGeom prst="rect">
                <a:avLst/>
              </a:prstGeom>
              <a:solidFill>
                <a:srgbClr val="CCECFF"/>
              </a:solidFill>
            </p:spPr>
            <p:txBody>
              <a:bodyPr wrap="square" rtlCol="0">
                <a:spAutoFit/>
              </a:bodyPr>
              <a:lstStyle/>
              <a:p>
                <a:r>
                  <a:rPr lang="en-SG" sz="2800" dirty="0"/>
                  <a:t>Among all permutations of </a:t>
                </a:r>
                <a14:m>
                  <m:oMath xmlns:m="http://schemas.openxmlformats.org/officeDocument/2006/math">
                    <m:r>
                      <a:rPr lang="en-SG" sz="2800" i="1" dirty="0" smtClean="0">
                        <a:latin typeface="Cambria Math" panose="02040503050406030204" pitchFamily="18" charset="0"/>
                      </a:rPr>
                      <m:t>𝑛</m:t>
                    </m:r>
                  </m:oMath>
                </a14:m>
                <a:r>
                  <a:rPr lang="en-SG" sz="2800" dirty="0"/>
                  <a:t> positive integers from </a:t>
                </a:r>
                <a14:m>
                  <m:oMath xmlns:m="http://schemas.openxmlformats.org/officeDocument/2006/math">
                    <m:r>
                      <a:rPr lang="en-SG" sz="2800" i="1" dirty="0" smtClean="0">
                        <a:latin typeface="Cambria Math" panose="02040503050406030204" pitchFamily="18" charset="0"/>
                      </a:rPr>
                      <m:t>1</m:t>
                    </m:r>
                  </m:oMath>
                </a14:m>
                <a:r>
                  <a:rPr lang="en-SG" sz="2800" dirty="0"/>
                  <a:t> through </a:t>
                </a:r>
                <a14:m>
                  <m:oMath xmlns:m="http://schemas.openxmlformats.org/officeDocument/2006/math">
                    <m:r>
                      <a:rPr lang="en-SG" sz="2800" i="1" dirty="0" smtClean="0">
                        <a:latin typeface="Cambria Math" panose="02040503050406030204" pitchFamily="18" charset="0"/>
                      </a:rPr>
                      <m:t>𝑛</m:t>
                    </m:r>
                  </m:oMath>
                </a14:m>
                <a:r>
                  <a:rPr lang="en-SG" sz="2800" dirty="0"/>
                  <a:t>, where </a:t>
                </a:r>
                <a14:m>
                  <m:oMath xmlns:m="http://schemas.openxmlformats.org/officeDocument/2006/math">
                    <m:r>
                      <a:rPr lang="en-SG" sz="2800" b="0" i="1" smtClean="0">
                        <a:latin typeface="Cambria Math" panose="02040503050406030204" pitchFamily="18" charset="0"/>
                      </a:rPr>
                      <m:t>𝑛</m:t>
                    </m:r>
                    <m:r>
                      <a:rPr lang="en-SG" sz="2800" b="0" i="1" smtClean="0">
                        <a:latin typeface="Cambria Math" panose="02040503050406030204" pitchFamily="18" charset="0"/>
                        <a:ea typeface="Cambria Math" panose="02040503050406030204" pitchFamily="18" charset="0"/>
                      </a:rPr>
                      <m:t>≥3</m:t>
                    </m:r>
                  </m:oMath>
                </a14:m>
                <a:r>
                  <a:rPr lang="en-SG" sz="2800" dirty="0"/>
                  <a:t>, </a:t>
                </a:r>
                <a:r>
                  <a:rPr lang="en-SG" sz="2800" dirty="0">
                    <a:solidFill>
                      <a:srgbClr val="0000FF"/>
                    </a:solidFill>
                  </a:rPr>
                  <a:t>how many of them have integers </a:t>
                </a:r>
                <a14:m>
                  <m:oMath xmlns:m="http://schemas.openxmlformats.org/officeDocument/2006/math">
                    <m:r>
                      <a:rPr lang="en-SG" sz="2800" i="1" dirty="0" smtClean="0">
                        <a:solidFill>
                          <a:srgbClr val="0000FF"/>
                        </a:solidFill>
                        <a:latin typeface="Cambria Math" panose="02040503050406030204" pitchFamily="18" charset="0"/>
                      </a:rPr>
                      <m:t>1</m:t>
                    </m:r>
                  </m:oMath>
                </a14:m>
                <a:r>
                  <a:rPr lang="en-SG" sz="2800" dirty="0">
                    <a:solidFill>
                      <a:srgbClr val="0000FF"/>
                    </a:solidFill>
                  </a:rPr>
                  <a:t>, </a:t>
                </a:r>
                <a14:m>
                  <m:oMath xmlns:m="http://schemas.openxmlformats.org/officeDocument/2006/math">
                    <m:r>
                      <a:rPr lang="en-SG" sz="2800" i="1" dirty="0" smtClean="0">
                        <a:solidFill>
                          <a:srgbClr val="0000FF"/>
                        </a:solidFill>
                        <a:latin typeface="Cambria Math" panose="02040503050406030204" pitchFamily="18" charset="0"/>
                      </a:rPr>
                      <m:t>2</m:t>
                    </m:r>
                  </m:oMath>
                </a14:m>
                <a:r>
                  <a:rPr lang="en-SG" sz="2800" dirty="0">
                    <a:solidFill>
                      <a:srgbClr val="0000FF"/>
                    </a:solidFill>
                  </a:rPr>
                  <a:t> or </a:t>
                </a:r>
                <a14:m>
                  <m:oMath xmlns:m="http://schemas.openxmlformats.org/officeDocument/2006/math">
                    <m:r>
                      <a:rPr lang="en-SG" sz="2800" i="1" dirty="0" smtClean="0">
                        <a:solidFill>
                          <a:srgbClr val="0000FF"/>
                        </a:solidFill>
                        <a:latin typeface="Cambria Math" panose="02040503050406030204" pitchFamily="18" charset="0"/>
                      </a:rPr>
                      <m:t>3</m:t>
                    </m:r>
                  </m:oMath>
                </a14:m>
                <a:r>
                  <a:rPr lang="en-SG" sz="2800" dirty="0">
                    <a:solidFill>
                      <a:srgbClr val="0000FF"/>
                    </a:solidFill>
                  </a:rPr>
                  <a:t> in the correct position?</a:t>
                </a:r>
              </a:p>
            </p:txBody>
          </p:sp>
        </mc:Choice>
        <mc:Fallback xmlns="">
          <p:sp>
            <p:nvSpPr>
              <p:cNvPr id="14" name="TextBox 13">
                <a:extLst>
                  <a:ext uri="{FF2B5EF4-FFF2-40B4-BE49-F238E27FC236}">
                    <a16:creationId xmlns:a16="http://schemas.microsoft.com/office/drawing/2014/main" id="{59FB7879-BCF9-4B1A-A2CC-BB0778FBDB53}"/>
                  </a:ext>
                </a:extLst>
              </p:cNvPr>
              <p:cNvSpPr txBox="1">
                <a:spLocks noRot="1" noChangeAspect="1" noMove="1" noResize="1" noEditPoints="1" noAdjustHandles="1" noChangeArrowheads="1" noChangeShapeType="1" noTextEdit="1"/>
              </p:cNvSpPr>
              <p:nvPr/>
            </p:nvSpPr>
            <p:spPr>
              <a:xfrm>
                <a:off x="1412247" y="382427"/>
                <a:ext cx="9782226" cy="1384995"/>
              </a:xfrm>
              <a:prstGeom prst="rect">
                <a:avLst/>
              </a:prstGeom>
              <a:blipFill>
                <a:blip r:embed="rId2"/>
                <a:stretch>
                  <a:fillRect l="-1309" t="-4405" b="-11894"/>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EEC64C99-9F71-48FB-8F62-1580BF788EE6}"/>
                  </a:ext>
                </a:extLst>
              </p:cNvPr>
              <p:cNvSpPr txBox="1"/>
              <p:nvPr/>
            </p:nvSpPr>
            <p:spPr>
              <a:xfrm>
                <a:off x="973874" y="2116261"/>
                <a:ext cx="10142444" cy="523220"/>
              </a:xfrm>
              <a:prstGeom prst="rect">
                <a:avLst/>
              </a:prstGeom>
              <a:noFill/>
            </p:spPr>
            <p:txBody>
              <a:bodyPr wrap="square" rtlCol="0">
                <a:spAutoFit/>
              </a:bodyPr>
              <a:lstStyle/>
              <a:p>
                <a:r>
                  <a:rPr lang="en-SG" sz="2800" dirty="0"/>
                  <a:t>Let </a:t>
                </a:r>
                <a14:m>
                  <m:oMath xmlns:m="http://schemas.openxmlformats.org/officeDocument/2006/math">
                    <m:sSub>
                      <m:sSubPr>
                        <m:ctrlPr>
                          <a:rPr lang="en-SG" sz="2800" i="1" smtClean="0">
                            <a:latin typeface="Cambria Math" panose="02040503050406030204" pitchFamily="18" charset="0"/>
                          </a:rPr>
                        </m:ctrlPr>
                      </m:sSubPr>
                      <m:e>
                        <m:r>
                          <a:rPr lang="en-SG" sz="2800" b="0" i="1" smtClean="0">
                            <a:latin typeface="Cambria Math" panose="02040503050406030204" pitchFamily="18" charset="0"/>
                          </a:rPr>
                          <m:t>𝑃</m:t>
                        </m:r>
                      </m:e>
                      <m:sub>
                        <m:r>
                          <a:rPr lang="en-SG" sz="2800" b="0" i="1" smtClean="0">
                            <a:latin typeface="Cambria Math" panose="02040503050406030204" pitchFamily="18" charset="0"/>
                          </a:rPr>
                          <m:t>𝑘</m:t>
                        </m:r>
                      </m:sub>
                    </m:sSub>
                  </m:oMath>
                </a14:m>
                <a:r>
                  <a:rPr lang="en-SG" sz="2800" dirty="0"/>
                  <a:t> be the permutations with integer </a:t>
                </a:r>
                <a14:m>
                  <m:oMath xmlns:m="http://schemas.openxmlformats.org/officeDocument/2006/math">
                    <m:r>
                      <a:rPr lang="en-SG" sz="2800" i="1" dirty="0" smtClean="0">
                        <a:latin typeface="Cambria Math" panose="02040503050406030204" pitchFamily="18" charset="0"/>
                      </a:rPr>
                      <m:t>𝑘</m:t>
                    </m:r>
                  </m:oMath>
                </a14:m>
                <a:r>
                  <a:rPr lang="en-SG" sz="2800" dirty="0"/>
                  <a:t> in the correct position.</a:t>
                </a:r>
              </a:p>
            </p:txBody>
          </p:sp>
        </mc:Choice>
        <mc:Fallback xmlns="">
          <p:sp>
            <p:nvSpPr>
              <p:cNvPr id="48" name="TextBox 47">
                <a:extLst>
                  <a:ext uri="{FF2B5EF4-FFF2-40B4-BE49-F238E27FC236}">
                    <a16:creationId xmlns:a16="http://schemas.microsoft.com/office/drawing/2014/main" id="{EEC64C99-9F71-48FB-8F62-1580BF788EE6}"/>
                  </a:ext>
                </a:extLst>
              </p:cNvPr>
              <p:cNvSpPr txBox="1">
                <a:spLocks noRot="1" noChangeAspect="1" noMove="1" noResize="1" noEditPoints="1" noAdjustHandles="1" noChangeArrowheads="1" noChangeShapeType="1" noTextEdit="1"/>
              </p:cNvSpPr>
              <p:nvPr/>
            </p:nvSpPr>
            <p:spPr>
              <a:xfrm>
                <a:off x="973874" y="2116261"/>
                <a:ext cx="10142444" cy="523220"/>
              </a:xfrm>
              <a:prstGeom prst="rect">
                <a:avLst/>
              </a:prstGeom>
              <a:blipFill>
                <a:blip r:embed="rId3"/>
                <a:stretch>
                  <a:fillRect l="-1250" t="-11905" b="-30952"/>
                </a:stretch>
              </a:blipFill>
            </p:spPr>
            <p:txBody>
              <a:bodyPr/>
              <a:lstStyle/>
              <a:p>
                <a:r>
                  <a:rPr lang="en-US">
                    <a:noFill/>
                  </a:rPr>
                  <a:t> </a:t>
                </a:r>
              </a:p>
            </p:txBody>
          </p:sp>
        </mc:Fallback>
      </mc:AlternateContent>
      <p:sp>
        <p:nvSpPr>
          <p:cNvPr id="49" name="TextBox 48">
            <a:extLst>
              <a:ext uri="{FF2B5EF4-FFF2-40B4-BE49-F238E27FC236}">
                <a16:creationId xmlns:a16="http://schemas.microsoft.com/office/drawing/2014/main" id="{EE92BDD4-3824-42C2-A24F-32AA6EE09B01}"/>
              </a:ext>
            </a:extLst>
          </p:cNvPr>
          <p:cNvSpPr txBox="1"/>
          <p:nvPr/>
        </p:nvSpPr>
        <p:spPr>
          <a:xfrm>
            <a:off x="5156615" y="1593243"/>
            <a:ext cx="6182275" cy="523220"/>
          </a:xfrm>
          <a:prstGeom prst="rect">
            <a:avLst/>
          </a:prstGeom>
          <a:solidFill>
            <a:srgbClr val="F9E1D3"/>
          </a:solidFill>
        </p:spPr>
        <p:txBody>
          <a:bodyPr wrap="square" rtlCol="0">
            <a:spAutoFit/>
          </a:bodyPr>
          <a:lstStyle/>
          <a:p>
            <a:r>
              <a:rPr lang="en-SG" sz="2800" dirty="0">
                <a:solidFill>
                  <a:srgbClr val="006600"/>
                </a:solidFill>
              </a:rPr>
              <a:t>Theorem 9.3.3 Inclusion/Exclusion Rule</a:t>
            </a:r>
            <a:endParaRPr lang="en-SG" sz="280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F4BA1EF-75A0-43FE-977D-D4916A5A739C}"/>
                  </a:ext>
                </a:extLst>
              </p:cNvPr>
              <p:cNvSpPr txBox="1"/>
              <p:nvPr/>
            </p:nvSpPr>
            <p:spPr>
              <a:xfrm>
                <a:off x="1412247" y="2639481"/>
                <a:ext cx="4629169" cy="523220"/>
              </a:xfrm>
              <a:prstGeom prst="rect">
                <a:avLst/>
              </a:prstGeom>
              <a:noFill/>
            </p:spPr>
            <p:txBody>
              <a:bodyPr wrap="square" rtlCol="0">
                <a:spAutoFit/>
              </a:bodyPr>
              <a:lstStyle/>
              <a:p>
                <a:r>
                  <a:rPr lang="en-SG" sz="2800" dirty="0"/>
                  <a:t>What is </a:t>
                </a:r>
                <a14:m>
                  <m:oMath xmlns:m="http://schemas.openxmlformats.org/officeDocument/2006/math">
                    <m:sSub>
                      <m:sSubPr>
                        <m:ctrlPr>
                          <a:rPr lang="en-SG" sz="2800" i="1" smtClean="0">
                            <a:latin typeface="Cambria Math" panose="02040503050406030204" pitchFamily="18" charset="0"/>
                          </a:rPr>
                        </m:ctrlPr>
                      </m:sSubPr>
                      <m:e>
                        <m:r>
                          <a:rPr lang="en-SG" sz="2800" b="0" i="1" smtClean="0">
                            <a:latin typeface="Cambria Math" panose="02040503050406030204" pitchFamily="18" charset="0"/>
                          </a:rPr>
                          <m:t>|</m:t>
                        </m:r>
                        <m:r>
                          <a:rPr lang="en-SG" sz="2800" b="0" i="1" smtClean="0">
                            <a:latin typeface="Cambria Math" panose="02040503050406030204" pitchFamily="18" charset="0"/>
                          </a:rPr>
                          <m:t>𝑃</m:t>
                        </m:r>
                      </m:e>
                      <m:sub>
                        <m:r>
                          <a:rPr lang="en-SG" sz="2800" b="0" i="1" smtClean="0">
                            <a:latin typeface="Cambria Math" panose="02040503050406030204" pitchFamily="18" charset="0"/>
                          </a:rPr>
                          <m:t>1</m:t>
                        </m:r>
                      </m:sub>
                    </m:sSub>
                    <m:r>
                      <a:rPr lang="en-SG" sz="2800" b="0" i="1" smtClean="0">
                        <a:latin typeface="Cambria Math" panose="02040503050406030204" pitchFamily="18" charset="0"/>
                      </a:rPr>
                      <m:t>|</m:t>
                    </m:r>
                  </m:oMath>
                </a14:m>
                <a:r>
                  <a:rPr lang="en-SG" sz="2800" dirty="0"/>
                  <a:t>? </a:t>
                </a:r>
                <a14:m>
                  <m:oMath xmlns:m="http://schemas.openxmlformats.org/officeDocument/2006/math">
                    <m:sSub>
                      <m:sSubPr>
                        <m:ctrlPr>
                          <a:rPr lang="en-SG" sz="2800" i="1">
                            <a:latin typeface="Cambria Math" panose="02040503050406030204" pitchFamily="18" charset="0"/>
                          </a:rPr>
                        </m:ctrlPr>
                      </m:sSubPr>
                      <m:e>
                        <m:r>
                          <a:rPr lang="en-SG" sz="2800" i="1">
                            <a:latin typeface="Cambria Math" panose="02040503050406030204" pitchFamily="18" charset="0"/>
                          </a:rPr>
                          <m:t>|</m:t>
                        </m:r>
                        <m:r>
                          <a:rPr lang="en-SG" sz="2800" i="1">
                            <a:latin typeface="Cambria Math" panose="02040503050406030204" pitchFamily="18" charset="0"/>
                          </a:rPr>
                          <m:t>𝑃</m:t>
                        </m:r>
                      </m:e>
                      <m:sub>
                        <m:r>
                          <a:rPr lang="en-SG" sz="2800" b="0" i="1" smtClean="0">
                            <a:latin typeface="Cambria Math" panose="02040503050406030204" pitchFamily="18" charset="0"/>
                          </a:rPr>
                          <m:t>2</m:t>
                        </m:r>
                      </m:sub>
                    </m:sSub>
                    <m:r>
                      <a:rPr lang="en-SG" sz="2800" i="1">
                        <a:latin typeface="Cambria Math" panose="02040503050406030204" pitchFamily="18" charset="0"/>
                      </a:rPr>
                      <m:t>|</m:t>
                    </m:r>
                  </m:oMath>
                </a14:m>
                <a:r>
                  <a:rPr lang="en-SG" sz="2800" dirty="0"/>
                  <a:t>? </a:t>
                </a:r>
                <a14:m>
                  <m:oMath xmlns:m="http://schemas.openxmlformats.org/officeDocument/2006/math">
                    <m:sSub>
                      <m:sSubPr>
                        <m:ctrlPr>
                          <a:rPr lang="en-SG" sz="2800" i="1">
                            <a:latin typeface="Cambria Math" panose="02040503050406030204" pitchFamily="18" charset="0"/>
                          </a:rPr>
                        </m:ctrlPr>
                      </m:sSubPr>
                      <m:e>
                        <m:r>
                          <a:rPr lang="en-SG" sz="2800" i="1">
                            <a:latin typeface="Cambria Math" panose="02040503050406030204" pitchFamily="18" charset="0"/>
                          </a:rPr>
                          <m:t>|</m:t>
                        </m:r>
                        <m:r>
                          <a:rPr lang="en-SG" sz="2800" i="1">
                            <a:latin typeface="Cambria Math" panose="02040503050406030204" pitchFamily="18" charset="0"/>
                          </a:rPr>
                          <m:t>𝑃</m:t>
                        </m:r>
                      </m:e>
                      <m:sub>
                        <m:r>
                          <a:rPr lang="en-SG" sz="2800" b="0" i="1" smtClean="0">
                            <a:latin typeface="Cambria Math" panose="02040503050406030204" pitchFamily="18" charset="0"/>
                          </a:rPr>
                          <m:t>3</m:t>
                        </m:r>
                      </m:sub>
                    </m:sSub>
                    <m:r>
                      <a:rPr lang="en-SG" sz="2800" i="1">
                        <a:latin typeface="Cambria Math" panose="02040503050406030204" pitchFamily="18" charset="0"/>
                      </a:rPr>
                      <m:t>|</m:t>
                    </m:r>
                  </m:oMath>
                </a14:m>
                <a:r>
                  <a:rPr lang="en-SG" sz="2800" dirty="0"/>
                  <a:t>? </a:t>
                </a:r>
              </a:p>
            </p:txBody>
          </p:sp>
        </mc:Choice>
        <mc:Fallback xmlns="">
          <p:sp>
            <p:nvSpPr>
              <p:cNvPr id="4" name="TextBox 3">
                <a:extLst>
                  <a:ext uri="{FF2B5EF4-FFF2-40B4-BE49-F238E27FC236}">
                    <a16:creationId xmlns:a16="http://schemas.microsoft.com/office/drawing/2014/main" id="{8F4BA1EF-75A0-43FE-977D-D4916A5A739C}"/>
                  </a:ext>
                </a:extLst>
              </p:cNvPr>
              <p:cNvSpPr txBox="1">
                <a:spLocks noRot="1" noChangeAspect="1" noMove="1" noResize="1" noEditPoints="1" noAdjustHandles="1" noChangeArrowheads="1" noChangeShapeType="1" noTextEdit="1"/>
              </p:cNvSpPr>
              <p:nvPr/>
            </p:nvSpPr>
            <p:spPr>
              <a:xfrm>
                <a:off x="1412247" y="2639481"/>
                <a:ext cx="4629169" cy="523220"/>
              </a:xfrm>
              <a:prstGeom prst="rect">
                <a:avLst/>
              </a:prstGeom>
              <a:blipFill>
                <a:blip r:embed="rId4"/>
                <a:stretch>
                  <a:fillRect l="-2740" t="-11628" b="-279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564BCD8-D066-4908-B462-B86FF1E5C830}"/>
                  </a:ext>
                </a:extLst>
              </p:cNvPr>
              <p:cNvSpPr txBox="1"/>
              <p:nvPr/>
            </p:nvSpPr>
            <p:spPr>
              <a:xfrm>
                <a:off x="1412247" y="3120602"/>
                <a:ext cx="7219970" cy="523220"/>
              </a:xfrm>
              <a:prstGeom prst="rect">
                <a:avLst/>
              </a:prstGeom>
              <a:noFill/>
            </p:spPr>
            <p:txBody>
              <a:bodyPr wrap="square" rtlCol="0">
                <a:spAutoFit/>
              </a:bodyPr>
              <a:lstStyle/>
              <a:p>
                <a:r>
                  <a:rPr lang="en-SG" sz="2800" dirty="0"/>
                  <a:t>What is </a:t>
                </a:r>
                <a14:m>
                  <m:oMath xmlns:m="http://schemas.openxmlformats.org/officeDocument/2006/math">
                    <m:sSub>
                      <m:sSubPr>
                        <m:ctrlPr>
                          <a:rPr lang="en-SG" sz="2800" i="1" smtClean="0">
                            <a:latin typeface="Cambria Math" panose="02040503050406030204" pitchFamily="18" charset="0"/>
                          </a:rPr>
                        </m:ctrlPr>
                      </m:sSubPr>
                      <m:e>
                        <m:r>
                          <a:rPr lang="en-SG" sz="2800" b="0" i="1" smtClean="0">
                            <a:latin typeface="Cambria Math" panose="02040503050406030204" pitchFamily="18" charset="0"/>
                          </a:rPr>
                          <m:t>|</m:t>
                        </m:r>
                        <m:r>
                          <a:rPr lang="en-SG" sz="2800" b="0" i="1" smtClean="0">
                            <a:latin typeface="Cambria Math" panose="02040503050406030204" pitchFamily="18" charset="0"/>
                          </a:rPr>
                          <m:t>𝑃</m:t>
                        </m:r>
                      </m:e>
                      <m:sub>
                        <m:r>
                          <a:rPr lang="en-SG" sz="2800" b="0" i="1" smtClean="0">
                            <a:latin typeface="Cambria Math" panose="02040503050406030204" pitchFamily="18" charset="0"/>
                          </a:rPr>
                          <m:t>1</m:t>
                        </m:r>
                      </m:sub>
                    </m:sSub>
                    <m:r>
                      <a:rPr lang="en-SG" sz="2800" i="1">
                        <a:latin typeface="Cambria Math" panose="02040503050406030204" pitchFamily="18" charset="0"/>
                        <a:ea typeface="Cambria Math" panose="02040503050406030204" pitchFamily="18" charset="0"/>
                      </a:rPr>
                      <m:t>∩</m:t>
                    </m:r>
                    <m:sSub>
                      <m:sSubPr>
                        <m:ctrlPr>
                          <a:rPr lang="en-SG" sz="2800" i="1">
                            <a:latin typeface="Cambria Math" panose="02040503050406030204" pitchFamily="18" charset="0"/>
                          </a:rPr>
                        </m:ctrlPr>
                      </m:sSubPr>
                      <m:e>
                        <m:r>
                          <a:rPr lang="en-SG" sz="2800" i="1">
                            <a:latin typeface="Cambria Math" panose="02040503050406030204" pitchFamily="18" charset="0"/>
                          </a:rPr>
                          <m:t>𝑃</m:t>
                        </m:r>
                      </m:e>
                      <m:sub>
                        <m:r>
                          <a:rPr lang="en-SG" sz="2800" b="0" i="1" smtClean="0">
                            <a:latin typeface="Cambria Math" panose="02040503050406030204" pitchFamily="18" charset="0"/>
                          </a:rPr>
                          <m:t>2</m:t>
                        </m:r>
                      </m:sub>
                    </m:sSub>
                  </m:oMath>
                </a14:m>
                <a:r>
                  <a:rPr lang="en-SG" sz="2800" dirty="0"/>
                  <a:t>|? </a:t>
                </a:r>
                <a14:m>
                  <m:oMath xmlns:m="http://schemas.openxmlformats.org/officeDocument/2006/math">
                    <m:sSub>
                      <m:sSubPr>
                        <m:ctrlPr>
                          <a:rPr lang="en-SG" sz="2800" i="1">
                            <a:latin typeface="Cambria Math" panose="02040503050406030204" pitchFamily="18" charset="0"/>
                          </a:rPr>
                        </m:ctrlPr>
                      </m:sSubPr>
                      <m:e>
                        <m:r>
                          <a:rPr lang="en-SG" sz="2800" i="1">
                            <a:latin typeface="Cambria Math" panose="02040503050406030204" pitchFamily="18" charset="0"/>
                          </a:rPr>
                          <m:t>|</m:t>
                        </m:r>
                        <m:r>
                          <a:rPr lang="en-SG" sz="2800" i="1">
                            <a:latin typeface="Cambria Math" panose="02040503050406030204" pitchFamily="18" charset="0"/>
                          </a:rPr>
                          <m:t>𝑃</m:t>
                        </m:r>
                      </m:e>
                      <m:sub>
                        <m:r>
                          <a:rPr lang="en-SG" sz="2800" b="0" i="1" smtClean="0">
                            <a:latin typeface="Cambria Math" panose="02040503050406030204" pitchFamily="18" charset="0"/>
                          </a:rPr>
                          <m:t>2</m:t>
                        </m:r>
                      </m:sub>
                    </m:sSub>
                    <m:r>
                      <a:rPr lang="en-SG" sz="2800" i="1">
                        <a:latin typeface="Cambria Math" panose="02040503050406030204" pitchFamily="18" charset="0"/>
                        <a:ea typeface="Cambria Math" panose="02040503050406030204" pitchFamily="18" charset="0"/>
                      </a:rPr>
                      <m:t>∩</m:t>
                    </m:r>
                    <m:sSub>
                      <m:sSubPr>
                        <m:ctrlPr>
                          <a:rPr lang="en-SG" sz="2800" i="1">
                            <a:latin typeface="Cambria Math" panose="02040503050406030204" pitchFamily="18" charset="0"/>
                          </a:rPr>
                        </m:ctrlPr>
                      </m:sSubPr>
                      <m:e>
                        <m:r>
                          <a:rPr lang="en-SG" sz="2800" i="1">
                            <a:latin typeface="Cambria Math" panose="02040503050406030204" pitchFamily="18" charset="0"/>
                          </a:rPr>
                          <m:t>𝑃</m:t>
                        </m:r>
                      </m:e>
                      <m:sub>
                        <m:r>
                          <a:rPr lang="en-SG" sz="2800" b="0" i="1" smtClean="0">
                            <a:latin typeface="Cambria Math" panose="02040503050406030204" pitchFamily="18" charset="0"/>
                          </a:rPr>
                          <m:t>3</m:t>
                        </m:r>
                      </m:sub>
                    </m:sSub>
                    <m:r>
                      <a:rPr lang="en-SG" sz="2800" i="1">
                        <a:latin typeface="Cambria Math" panose="02040503050406030204" pitchFamily="18" charset="0"/>
                      </a:rPr>
                      <m:t>|</m:t>
                    </m:r>
                  </m:oMath>
                </a14:m>
                <a:r>
                  <a:rPr lang="en-SG" sz="2800" dirty="0"/>
                  <a:t>? </a:t>
                </a:r>
                <a14:m>
                  <m:oMath xmlns:m="http://schemas.openxmlformats.org/officeDocument/2006/math">
                    <m:sSub>
                      <m:sSubPr>
                        <m:ctrlPr>
                          <a:rPr lang="en-SG" sz="2800" i="1">
                            <a:latin typeface="Cambria Math" panose="02040503050406030204" pitchFamily="18" charset="0"/>
                          </a:rPr>
                        </m:ctrlPr>
                      </m:sSubPr>
                      <m:e>
                        <m:r>
                          <a:rPr lang="en-SG" sz="2800" i="1">
                            <a:latin typeface="Cambria Math" panose="02040503050406030204" pitchFamily="18" charset="0"/>
                          </a:rPr>
                          <m:t>|</m:t>
                        </m:r>
                        <m:sSub>
                          <m:sSubPr>
                            <m:ctrlPr>
                              <a:rPr lang="en-SG" sz="2800" i="1">
                                <a:latin typeface="Cambria Math" panose="02040503050406030204" pitchFamily="18" charset="0"/>
                              </a:rPr>
                            </m:ctrlPr>
                          </m:sSubPr>
                          <m:e>
                            <m:r>
                              <a:rPr lang="en-SG" sz="2800" i="1">
                                <a:latin typeface="Cambria Math" panose="02040503050406030204" pitchFamily="18" charset="0"/>
                              </a:rPr>
                              <m:t>𝑃</m:t>
                            </m:r>
                          </m:e>
                          <m:sub>
                            <m:r>
                              <a:rPr lang="en-SG" sz="2800" i="1">
                                <a:latin typeface="Cambria Math" panose="02040503050406030204" pitchFamily="18" charset="0"/>
                              </a:rPr>
                              <m:t>1</m:t>
                            </m:r>
                          </m:sub>
                        </m:sSub>
                        <m:r>
                          <a:rPr lang="en-SG" sz="2800" i="1">
                            <a:latin typeface="Cambria Math" panose="02040503050406030204" pitchFamily="18" charset="0"/>
                            <a:ea typeface="Cambria Math" panose="02040503050406030204" pitchFamily="18" charset="0"/>
                          </a:rPr>
                          <m:t>∩</m:t>
                        </m:r>
                        <m:r>
                          <a:rPr lang="en-SG" sz="2800" i="1">
                            <a:latin typeface="Cambria Math" panose="02040503050406030204" pitchFamily="18" charset="0"/>
                          </a:rPr>
                          <m:t>𝑃</m:t>
                        </m:r>
                      </m:e>
                      <m:sub>
                        <m:r>
                          <a:rPr lang="en-SG" sz="2800" b="0" i="1" smtClean="0">
                            <a:latin typeface="Cambria Math" panose="02040503050406030204" pitchFamily="18" charset="0"/>
                          </a:rPr>
                          <m:t>3</m:t>
                        </m:r>
                      </m:sub>
                    </m:sSub>
                    <m:r>
                      <a:rPr lang="en-SG" sz="2800" i="1">
                        <a:latin typeface="Cambria Math" panose="02040503050406030204" pitchFamily="18" charset="0"/>
                      </a:rPr>
                      <m:t>|</m:t>
                    </m:r>
                  </m:oMath>
                </a14:m>
                <a:r>
                  <a:rPr lang="en-SG" sz="2800" dirty="0"/>
                  <a:t>? </a:t>
                </a:r>
              </a:p>
            </p:txBody>
          </p:sp>
        </mc:Choice>
        <mc:Fallback xmlns="">
          <p:sp>
            <p:nvSpPr>
              <p:cNvPr id="7" name="TextBox 6">
                <a:extLst>
                  <a:ext uri="{FF2B5EF4-FFF2-40B4-BE49-F238E27FC236}">
                    <a16:creationId xmlns:a16="http://schemas.microsoft.com/office/drawing/2014/main" id="{5564BCD8-D066-4908-B462-B86FF1E5C830}"/>
                  </a:ext>
                </a:extLst>
              </p:cNvPr>
              <p:cNvSpPr txBox="1">
                <a:spLocks noRot="1" noChangeAspect="1" noMove="1" noResize="1" noEditPoints="1" noAdjustHandles="1" noChangeArrowheads="1" noChangeShapeType="1" noTextEdit="1"/>
              </p:cNvSpPr>
              <p:nvPr/>
            </p:nvSpPr>
            <p:spPr>
              <a:xfrm>
                <a:off x="1412247" y="3120602"/>
                <a:ext cx="7219970" cy="523220"/>
              </a:xfrm>
              <a:prstGeom prst="rect">
                <a:avLst/>
              </a:prstGeom>
              <a:blipFill>
                <a:blip r:embed="rId5"/>
                <a:stretch>
                  <a:fillRect l="-1757" t="-11628" b="-279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11B97D1-2785-42B0-932C-598B12F414F9}"/>
                  </a:ext>
                </a:extLst>
              </p:cNvPr>
              <p:cNvSpPr txBox="1"/>
              <p:nvPr/>
            </p:nvSpPr>
            <p:spPr>
              <a:xfrm>
                <a:off x="1412247" y="4154125"/>
                <a:ext cx="3907898" cy="523220"/>
              </a:xfrm>
              <a:prstGeom prst="rect">
                <a:avLst/>
              </a:prstGeom>
              <a:noFill/>
            </p:spPr>
            <p:txBody>
              <a:bodyPr wrap="square" rtlCol="0">
                <a:spAutoFit/>
              </a:bodyPr>
              <a:lstStyle/>
              <a:p>
                <a:r>
                  <a:rPr lang="en-SG" sz="2800" dirty="0"/>
                  <a:t>What is </a:t>
                </a:r>
                <a14:m>
                  <m:oMath xmlns:m="http://schemas.openxmlformats.org/officeDocument/2006/math">
                    <m:sSub>
                      <m:sSubPr>
                        <m:ctrlPr>
                          <a:rPr lang="en-SG" sz="2800" i="1" smtClean="0">
                            <a:latin typeface="Cambria Math" panose="02040503050406030204" pitchFamily="18" charset="0"/>
                          </a:rPr>
                        </m:ctrlPr>
                      </m:sSubPr>
                      <m:e>
                        <m:r>
                          <a:rPr lang="en-SG" sz="2800" b="0" i="1" smtClean="0">
                            <a:latin typeface="Cambria Math" panose="02040503050406030204" pitchFamily="18" charset="0"/>
                          </a:rPr>
                          <m:t>|</m:t>
                        </m:r>
                        <m:r>
                          <a:rPr lang="en-SG" sz="2800" b="0" i="1" smtClean="0">
                            <a:latin typeface="Cambria Math" panose="02040503050406030204" pitchFamily="18" charset="0"/>
                          </a:rPr>
                          <m:t>𝑃</m:t>
                        </m:r>
                      </m:e>
                      <m:sub>
                        <m:r>
                          <a:rPr lang="en-SG" sz="2800" b="0" i="1" smtClean="0">
                            <a:latin typeface="Cambria Math" panose="02040503050406030204" pitchFamily="18" charset="0"/>
                          </a:rPr>
                          <m:t>1</m:t>
                        </m:r>
                      </m:sub>
                    </m:sSub>
                    <m:r>
                      <a:rPr lang="en-SG" sz="2800" i="1">
                        <a:latin typeface="Cambria Math" panose="02040503050406030204" pitchFamily="18" charset="0"/>
                        <a:ea typeface="Cambria Math" panose="02040503050406030204" pitchFamily="18" charset="0"/>
                      </a:rPr>
                      <m:t>∩</m:t>
                    </m:r>
                    <m:sSub>
                      <m:sSubPr>
                        <m:ctrlPr>
                          <a:rPr lang="en-SG" sz="2800" i="1">
                            <a:latin typeface="Cambria Math" panose="02040503050406030204" pitchFamily="18" charset="0"/>
                          </a:rPr>
                        </m:ctrlPr>
                      </m:sSubPr>
                      <m:e>
                        <m:r>
                          <a:rPr lang="en-SG" sz="2800" i="1">
                            <a:latin typeface="Cambria Math" panose="02040503050406030204" pitchFamily="18" charset="0"/>
                          </a:rPr>
                          <m:t>𝑃</m:t>
                        </m:r>
                      </m:e>
                      <m:sub>
                        <m:r>
                          <a:rPr lang="en-SG" sz="2800" b="0" i="1" smtClean="0">
                            <a:latin typeface="Cambria Math" panose="02040503050406030204" pitchFamily="18" charset="0"/>
                          </a:rPr>
                          <m:t>2</m:t>
                        </m:r>
                      </m:sub>
                    </m:sSub>
                    <m:sSub>
                      <m:sSubPr>
                        <m:ctrlPr>
                          <a:rPr lang="en-SG" sz="2800" i="1">
                            <a:latin typeface="Cambria Math" panose="02040503050406030204" pitchFamily="18" charset="0"/>
                          </a:rPr>
                        </m:ctrlPr>
                      </m:sSubPr>
                      <m:e>
                        <m:r>
                          <a:rPr lang="en-SG" sz="2800" i="1">
                            <a:latin typeface="Cambria Math" panose="02040503050406030204" pitchFamily="18" charset="0"/>
                            <a:ea typeface="Cambria Math" panose="02040503050406030204" pitchFamily="18" charset="0"/>
                          </a:rPr>
                          <m:t>∩</m:t>
                        </m:r>
                        <m:r>
                          <a:rPr lang="en-SG" sz="2800" i="1">
                            <a:latin typeface="Cambria Math" panose="02040503050406030204" pitchFamily="18" charset="0"/>
                          </a:rPr>
                          <m:t>𝑃</m:t>
                        </m:r>
                      </m:e>
                      <m:sub>
                        <m:r>
                          <a:rPr lang="en-SG" sz="2800" i="1">
                            <a:latin typeface="Cambria Math" panose="02040503050406030204" pitchFamily="18" charset="0"/>
                          </a:rPr>
                          <m:t>3</m:t>
                        </m:r>
                      </m:sub>
                    </m:sSub>
                  </m:oMath>
                </a14:m>
                <a:r>
                  <a:rPr lang="en-SG" sz="2800" dirty="0"/>
                  <a:t>|?</a:t>
                </a:r>
              </a:p>
            </p:txBody>
          </p:sp>
        </mc:Choice>
        <mc:Fallback xmlns="">
          <p:sp>
            <p:nvSpPr>
              <p:cNvPr id="11" name="TextBox 10">
                <a:extLst>
                  <a:ext uri="{FF2B5EF4-FFF2-40B4-BE49-F238E27FC236}">
                    <a16:creationId xmlns:a16="http://schemas.microsoft.com/office/drawing/2014/main" id="{411B97D1-2785-42B0-932C-598B12F414F9}"/>
                  </a:ext>
                </a:extLst>
              </p:cNvPr>
              <p:cNvSpPr txBox="1">
                <a:spLocks noRot="1" noChangeAspect="1" noMove="1" noResize="1" noEditPoints="1" noAdjustHandles="1" noChangeArrowheads="1" noChangeShapeType="1" noTextEdit="1"/>
              </p:cNvSpPr>
              <p:nvPr/>
            </p:nvSpPr>
            <p:spPr>
              <a:xfrm>
                <a:off x="1412247" y="4154125"/>
                <a:ext cx="3907898" cy="523220"/>
              </a:xfrm>
              <a:prstGeom prst="rect">
                <a:avLst/>
              </a:prstGeom>
              <a:blipFill>
                <a:blip r:embed="rId6"/>
                <a:stretch>
                  <a:fillRect l="-3236" t="-9302" b="-302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AF4237A-4A11-1445-83A7-9614E2D4E553}"/>
                  </a:ext>
                </a:extLst>
              </p:cNvPr>
              <p:cNvSpPr txBox="1"/>
              <p:nvPr/>
            </p:nvSpPr>
            <p:spPr>
              <a:xfrm>
                <a:off x="5022232" y="2636181"/>
                <a:ext cx="4768235" cy="523220"/>
              </a:xfrm>
              <a:prstGeom prst="rect">
                <a:avLst/>
              </a:prstGeom>
              <a:noFill/>
            </p:spPr>
            <p:txBody>
              <a:bodyPr wrap="square" rtlCol="0">
                <a:spAutoFit/>
              </a:bodyPr>
              <a:lstStyle/>
              <a:p>
                <a:r>
                  <a:rPr lang="en-US" sz="2800" dirty="0">
                    <a:solidFill>
                      <a:srgbClr val="0000FF"/>
                    </a:solidFill>
                  </a:rPr>
                  <a:t>|</a:t>
                </a:r>
                <a14:m>
                  <m:oMath xmlns:m="http://schemas.openxmlformats.org/officeDocument/2006/math">
                    <m:sSub>
                      <m:sSubPr>
                        <m:ctrlPr>
                          <a:rPr lang="en-SG" sz="2800" i="1">
                            <a:solidFill>
                              <a:srgbClr val="0000FF"/>
                            </a:solidFill>
                            <a:latin typeface="Cambria Math" panose="02040503050406030204" pitchFamily="18" charset="0"/>
                          </a:rPr>
                        </m:ctrlPr>
                      </m:sSubPr>
                      <m:e>
                        <m:r>
                          <a:rPr lang="en-US" sz="2800" i="1">
                            <a:solidFill>
                              <a:srgbClr val="0000FF"/>
                            </a:solidFill>
                            <a:latin typeface="Cambria Math" panose="02040503050406030204" pitchFamily="18" charset="0"/>
                          </a:rPr>
                          <m:t>𝑃</m:t>
                        </m:r>
                      </m:e>
                      <m:sub>
                        <m:r>
                          <a:rPr lang="en-US" sz="2800" i="1">
                            <a:solidFill>
                              <a:srgbClr val="0000FF"/>
                            </a:solidFill>
                            <a:latin typeface="Cambria Math" panose="02040503050406030204" pitchFamily="18" charset="0"/>
                          </a:rPr>
                          <m:t>1</m:t>
                        </m:r>
                      </m:sub>
                    </m:sSub>
                  </m:oMath>
                </a14:m>
                <a:r>
                  <a:rPr lang="en-US" sz="2800" dirty="0">
                    <a:solidFill>
                      <a:srgbClr val="0000FF"/>
                    </a:solidFill>
                  </a:rPr>
                  <a:t>|</a:t>
                </a:r>
                <a14:m>
                  <m:oMath xmlns:m="http://schemas.openxmlformats.org/officeDocument/2006/math">
                    <m:r>
                      <a:rPr lang="en-US" sz="2800" i="1">
                        <a:solidFill>
                          <a:srgbClr val="0000FF"/>
                        </a:solidFill>
                        <a:latin typeface="Cambria Math" panose="02040503050406030204" pitchFamily="18" charset="0"/>
                      </a:rPr>
                      <m:t>=</m:t>
                    </m:r>
                    <m:r>
                      <a:rPr lang="en-US" sz="2800">
                        <a:solidFill>
                          <a:srgbClr val="0000FF"/>
                        </a:solidFill>
                        <a:latin typeface="Cambria Math" panose="02040503050406030204" pitchFamily="18" charset="0"/>
                      </a:rPr>
                      <m:t>|</m:t>
                    </m:r>
                    <m:sSub>
                      <m:sSubPr>
                        <m:ctrlPr>
                          <a:rPr lang="en-SG" sz="2800" i="1">
                            <a:solidFill>
                              <a:srgbClr val="0000FF"/>
                            </a:solidFill>
                            <a:latin typeface="Cambria Math" panose="02040503050406030204" pitchFamily="18" charset="0"/>
                          </a:rPr>
                        </m:ctrlPr>
                      </m:sSubPr>
                      <m:e>
                        <m:r>
                          <a:rPr lang="en-US" sz="2800" i="1">
                            <a:solidFill>
                              <a:srgbClr val="0000FF"/>
                            </a:solidFill>
                            <a:latin typeface="Cambria Math" panose="02040503050406030204" pitchFamily="18" charset="0"/>
                          </a:rPr>
                          <m:t>𝑃</m:t>
                        </m:r>
                      </m:e>
                      <m:sub>
                        <m:r>
                          <a:rPr lang="en-US" sz="2800" i="1">
                            <a:solidFill>
                              <a:srgbClr val="0000FF"/>
                            </a:solidFill>
                            <a:latin typeface="Cambria Math" panose="02040503050406030204" pitchFamily="18" charset="0"/>
                          </a:rPr>
                          <m:t>2</m:t>
                        </m:r>
                      </m:sub>
                    </m:sSub>
                    <m:r>
                      <a:rPr lang="en-US" sz="2800">
                        <a:solidFill>
                          <a:srgbClr val="0000FF"/>
                        </a:solidFill>
                        <a:latin typeface="Cambria Math" panose="02040503050406030204" pitchFamily="18" charset="0"/>
                      </a:rPr>
                      <m:t>|</m:t>
                    </m:r>
                    <m:r>
                      <a:rPr lang="en-US" sz="2800" i="1">
                        <a:solidFill>
                          <a:srgbClr val="0000FF"/>
                        </a:solidFill>
                        <a:latin typeface="Cambria Math" panose="02040503050406030204" pitchFamily="18" charset="0"/>
                      </a:rPr>
                      <m:t>=</m:t>
                    </m:r>
                    <m:r>
                      <a:rPr lang="en-US" sz="2800">
                        <a:solidFill>
                          <a:srgbClr val="0000FF"/>
                        </a:solidFill>
                        <a:latin typeface="Cambria Math" panose="02040503050406030204" pitchFamily="18" charset="0"/>
                      </a:rPr>
                      <m:t>|</m:t>
                    </m:r>
                    <m:sSub>
                      <m:sSubPr>
                        <m:ctrlPr>
                          <a:rPr lang="en-SG" sz="2800" i="1">
                            <a:solidFill>
                              <a:srgbClr val="0000FF"/>
                            </a:solidFill>
                            <a:latin typeface="Cambria Math" panose="02040503050406030204" pitchFamily="18" charset="0"/>
                          </a:rPr>
                        </m:ctrlPr>
                      </m:sSubPr>
                      <m:e>
                        <m:r>
                          <a:rPr lang="en-US" sz="2800" i="1">
                            <a:solidFill>
                              <a:srgbClr val="0000FF"/>
                            </a:solidFill>
                            <a:latin typeface="Cambria Math" panose="02040503050406030204" pitchFamily="18" charset="0"/>
                          </a:rPr>
                          <m:t>𝑃</m:t>
                        </m:r>
                      </m:e>
                      <m:sub>
                        <m:r>
                          <a:rPr lang="en-US" sz="2800" i="1">
                            <a:solidFill>
                              <a:srgbClr val="0000FF"/>
                            </a:solidFill>
                            <a:latin typeface="Cambria Math" panose="02040503050406030204" pitchFamily="18" charset="0"/>
                          </a:rPr>
                          <m:t>3</m:t>
                        </m:r>
                      </m:sub>
                    </m:sSub>
                    <m:r>
                      <a:rPr lang="en-US" sz="2800">
                        <a:solidFill>
                          <a:srgbClr val="0000FF"/>
                        </a:solidFill>
                        <a:latin typeface="Cambria Math" panose="02040503050406030204" pitchFamily="18" charset="0"/>
                      </a:rPr>
                      <m:t>|</m:t>
                    </m:r>
                    <m:r>
                      <a:rPr lang="en-US" sz="2800" i="1">
                        <a:solidFill>
                          <a:srgbClr val="0000FF"/>
                        </a:solidFill>
                        <a:latin typeface="Cambria Math" panose="02040503050406030204" pitchFamily="18" charset="0"/>
                      </a:rPr>
                      <m:t>=</m:t>
                    </m:r>
                    <m:d>
                      <m:dPr>
                        <m:ctrlPr>
                          <a:rPr lang="en-SG" sz="2800" i="1">
                            <a:solidFill>
                              <a:srgbClr val="0000FF"/>
                            </a:solidFill>
                            <a:latin typeface="Cambria Math" panose="02040503050406030204" pitchFamily="18" charset="0"/>
                          </a:rPr>
                        </m:ctrlPr>
                      </m:dPr>
                      <m:e>
                        <m:r>
                          <a:rPr lang="en-US" sz="2800" i="1">
                            <a:solidFill>
                              <a:srgbClr val="0000FF"/>
                            </a:solidFill>
                            <a:latin typeface="Cambria Math" panose="02040503050406030204" pitchFamily="18" charset="0"/>
                          </a:rPr>
                          <m:t>𝑛</m:t>
                        </m:r>
                        <m:r>
                          <a:rPr lang="en-US" sz="2800" i="1">
                            <a:solidFill>
                              <a:srgbClr val="0000FF"/>
                            </a:solidFill>
                            <a:latin typeface="Cambria Math" panose="02040503050406030204" pitchFamily="18" charset="0"/>
                          </a:rPr>
                          <m:t>−1</m:t>
                        </m:r>
                      </m:e>
                    </m:d>
                    <m:r>
                      <a:rPr lang="en-US" sz="2800" i="1">
                        <a:solidFill>
                          <a:srgbClr val="0000FF"/>
                        </a:solidFill>
                        <a:latin typeface="Cambria Math" panose="02040503050406030204" pitchFamily="18" charset="0"/>
                      </a:rPr>
                      <m:t>!</m:t>
                    </m:r>
                  </m:oMath>
                </a14:m>
                <a:endParaRPr lang="en-SG" sz="2800" dirty="0">
                  <a:solidFill>
                    <a:srgbClr val="0000FF"/>
                  </a:solidFill>
                </a:endParaRPr>
              </a:p>
            </p:txBody>
          </p:sp>
        </mc:Choice>
        <mc:Fallback xmlns="">
          <p:sp>
            <p:nvSpPr>
              <p:cNvPr id="3" name="TextBox 2">
                <a:extLst>
                  <a:ext uri="{FF2B5EF4-FFF2-40B4-BE49-F238E27FC236}">
                    <a16:creationId xmlns:a16="http://schemas.microsoft.com/office/drawing/2014/main" id="{EAF4237A-4A11-1445-83A7-9614E2D4E553}"/>
                  </a:ext>
                </a:extLst>
              </p:cNvPr>
              <p:cNvSpPr txBox="1">
                <a:spLocks noRot="1" noChangeAspect="1" noMove="1" noResize="1" noEditPoints="1" noAdjustHandles="1" noChangeArrowheads="1" noChangeShapeType="1" noTextEdit="1"/>
              </p:cNvSpPr>
              <p:nvPr/>
            </p:nvSpPr>
            <p:spPr>
              <a:xfrm>
                <a:off x="5022232" y="2636181"/>
                <a:ext cx="4768235" cy="523220"/>
              </a:xfrm>
              <a:prstGeom prst="rect">
                <a:avLst/>
              </a:prstGeom>
              <a:blipFill>
                <a:blip r:embed="rId7"/>
                <a:stretch>
                  <a:fillRect l="-2660" t="-11905" b="-309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FBC9E2A-73DA-DE46-94FA-B03E95D63324}"/>
                  </a:ext>
                </a:extLst>
              </p:cNvPr>
              <p:cNvSpPr txBox="1"/>
              <p:nvPr/>
            </p:nvSpPr>
            <p:spPr>
              <a:xfrm>
                <a:off x="2593004" y="3649244"/>
                <a:ext cx="6629122" cy="523220"/>
              </a:xfrm>
              <a:prstGeom prst="rect">
                <a:avLst/>
              </a:prstGeom>
              <a:noFill/>
            </p:spPr>
            <p:txBody>
              <a:bodyPr wrap="none" rtlCol="0">
                <a:spAutoFit/>
              </a:bodyPr>
              <a:lstStyle/>
              <a:p>
                <a:r>
                  <a:rPr lang="en-US" sz="2800" dirty="0">
                    <a:solidFill>
                      <a:srgbClr val="0000FF"/>
                    </a:solidFill>
                  </a:rPr>
                  <a:t>|</a:t>
                </a:r>
                <a14:m>
                  <m:oMath xmlns:m="http://schemas.openxmlformats.org/officeDocument/2006/math">
                    <m:sSub>
                      <m:sSubPr>
                        <m:ctrlPr>
                          <a:rPr lang="en-SG" sz="2800" i="1">
                            <a:solidFill>
                              <a:srgbClr val="0000FF"/>
                            </a:solidFill>
                            <a:latin typeface="Cambria Math" panose="02040503050406030204" pitchFamily="18" charset="0"/>
                          </a:rPr>
                        </m:ctrlPr>
                      </m:sSubPr>
                      <m:e>
                        <m:r>
                          <a:rPr lang="en-US" sz="2800" i="1">
                            <a:solidFill>
                              <a:srgbClr val="0000FF"/>
                            </a:solidFill>
                            <a:latin typeface="Cambria Math" panose="02040503050406030204" pitchFamily="18" charset="0"/>
                          </a:rPr>
                          <m:t>𝑃</m:t>
                        </m:r>
                      </m:e>
                      <m:sub>
                        <m:r>
                          <a:rPr lang="en-US" sz="2800" i="1">
                            <a:solidFill>
                              <a:srgbClr val="0000FF"/>
                            </a:solidFill>
                            <a:latin typeface="Cambria Math" panose="02040503050406030204" pitchFamily="18" charset="0"/>
                          </a:rPr>
                          <m:t>1</m:t>
                        </m:r>
                      </m:sub>
                    </m:sSub>
                    <m:r>
                      <a:rPr lang="en-US" sz="2800" i="1">
                        <a:solidFill>
                          <a:srgbClr val="0000FF"/>
                        </a:solidFill>
                        <a:latin typeface="Cambria Math" panose="02040503050406030204" pitchFamily="18" charset="0"/>
                      </a:rPr>
                      <m:t>∩</m:t>
                    </m:r>
                    <m:sSub>
                      <m:sSubPr>
                        <m:ctrlPr>
                          <a:rPr lang="en-SG" sz="2800" i="1">
                            <a:solidFill>
                              <a:srgbClr val="0000FF"/>
                            </a:solidFill>
                            <a:latin typeface="Cambria Math" panose="02040503050406030204" pitchFamily="18" charset="0"/>
                          </a:rPr>
                        </m:ctrlPr>
                      </m:sSubPr>
                      <m:e>
                        <m:r>
                          <a:rPr lang="en-US" sz="2800" i="1">
                            <a:solidFill>
                              <a:srgbClr val="0000FF"/>
                            </a:solidFill>
                            <a:latin typeface="Cambria Math" panose="02040503050406030204" pitchFamily="18" charset="0"/>
                          </a:rPr>
                          <m:t>𝑃</m:t>
                        </m:r>
                      </m:e>
                      <m:sub>
                        <m:r>
                          <a:rPr lang="en-US" sz="2800" i="1">
                            <a:solidFill>
                              <a:srgbClr val="0000FF"/>
                            </a:solidFill>
                            <a:latin typeface="Cambria Math" panose="02040503050406030204" pitchFamily="18" charset="0"/>
                          </a:rPr>
                          <m:t>2</m:t>
                        </m:r>
                      </m:sub>
                    </m:sSub>
                  </m:oMath>
                </a14:m>
                <a:r>
                  <a:rPr lang="en-US" sz="2800" dirty="0">
                    <a:solidFill>
                      <a:srgbClr val="0000FF"/>
                    </a:solidFill>
                  </a:rPr>
                  <a:t>|</a:t>
                </a:r>
                <a14:m>
                  <m:oMath xmlns:m="http://schemas.openxmlformats.org/officeDocument/2006/math">
                    <m:r>
                      <a:rPr lang="en-US" sz="2800" i="1">
                        <a:solidFill>
                          <a:srgbClr val="0000FF"/>
                        </a:solidFill>
                        <a:latin typeface="Cambria Math" panose="02040503050406030204" pitchFamily="18" charset="0"/>
                      </a:rPr>
                      <m:t>=</m:t>
                    </m:r>
                    <m:r>
                      <a:rPr lang="en-US" sz="2800">
                        <a:solidFill>
                          <a:srgbClr val="0000FF"/>
                        </a:solidFill>
                        <a:latin typeface="Cambria Math" panose="02040503050406030204" pitchFamily="18" charset="0"/>
                      </a:rPr>
                      <m:t>|</m:t>
                    </m:r>
                    <m:sSub>
                      <m:sSubPr>
                        <m:ctrlPr>
                          <a:rPr lang="en-SG" sz="2800" i="1">
                            <a:solidFill>
                              <a:srgbClr val="0000FF"/>
                            </a:solidFill>
                            <a:latin typeface="Cambria Math" panose="02040503050406030204" pitchFamily="18" charset="0"/>
                          </a:rPr>
                        </m:ctrlPr>
                      </m:sSubPr>
                      <m:e>
                        <m:r>
                          <a:rPr lang="en-US" sz="2800" i="1">
                            <a:solidFill>
                              <a:srgbClr val="0000FF"/>
                            </a:solidFill>
                            <a:latin typeface="Cambria Math" panose="02040503050406030204" pitchFamily="18" charset="0"/>
                          </a:rPr>
                          <m:t>𝑃</m:t>
                        </m:r>
                      </m:e>
                      <m:sub>
                        <m:r>
                          <a:rPr lang="en-US" sz="2800" i="1">
                            <a:solidFill>
                              <a:srgbClr val="0000FF"/>
                            </a:solidFill>
                            <a:latin typeface="Cambria Math" panose="02040503050406030204" pitchFamily="18" charset="0"/>
                          </a:rPr>
                          <m:t>2</m:t>
                        </m:r>
                      </m:sub>
                    </m:sSub>
                    <m:r>
                      <a:rPr lang="en-US" sz="2800" i="1">
                        <a:solidFill>
                          <a:srgbClr val="0000FF"/>
                        </a:solidFill>
                        <a:latin typeface="Cambria Math" panose="02040503050406030204" pitchFamily="18" charset="0"/>
                      </a:rPr>
                      <m:t>∩</m:t>
                    </m:r>
                    <m:sSub>
                      <m:sSubPr>
                        <m:ctrlPr>
                          <a:rPr lang="en-SG" sz="2800" i="1">
                            <a:solidFill>
                              <a:srgbClr val="0000FF"/>
                            </a:solidFill>
                            <a:latin typeface="Cambria Math" panose="02040503050406030204" pitchFamily="18" charset="0"/>
                          </a:rPr>
                        </m:ctrlPr>
                      </m:sSubPr>
                      <m:e>
                        <m:r>
                          <a:rPr lang="en-US" sz="2800" i="1">
                            <a:solidFill>
                              <a:srgbClr val="0000FF"/>
                            </a:solidFill>
                            <a:latin typeface="Cambria Math" panose="02040503050406030204" pitchFamily="18" charset="0"/>
                          </a:rPr>
                          <m:t>𝑃</m:t>
                        </m:r>
                      </m:e>
                      <m:sub>
                        <m:r>
                          <a:rPr lang="en-US" sz="2800" i="1">
                            <a:solidFill>
                              <a:srgbClr val="0000FF"/>
                            </a:solidFill>
                            <a:latin typeface="Cambria Math" panose="02040503050406030204" pitchFamily="18" charset="0"/>
                          </a:rPr>
                          <m:t>3</m:t>
                        </m:r>
                      </m:sub>
                    </m:sSub>
                    <m:r>
                      <a:rPr lang="en-US" sz="2800">
                        <a:solidFill>
                          <a:srgbClr val="0000FF"/>
                        </a:solidFill>
                        <a:latin typeface="Cambria Math" panose="02040503050406030204" pitchFamily="18" charset="0"/>
                      </a:rPr>
                      <m:t>|</m:t>
                    </m:r>
                    <m:r>
                      <a:rPr lang="en-US" sz="2800" i="1">
                        <a:solidFill>
                          <a:srgbClr val="0000FF"/>
                        </a:solidFill>
                        <a:latin typeface="Cambria Math" panose="02040503050406030204" pitchFamily="18" charset="0"/>
                      </a:rPr>
                      <m:t>=</m:t>
                    </m:r>
                    <m:r>
                      <a:rPr lang="en-US" sz="2800">
                        <a:solidFill>
                          <a:srgbClr val="0000FF"/>
                        </a:solidFill>
                        <a:latin typeface="Cambria Math" panose="02040503050406030204" pitchFamily="18" charset="0"/>
                      </a:rPr>
                      <m:t>|</m:t>
                    </m:r>
                    <m:sSub>
                      <m:sSubPr>
                        <m:ctrlPr>
                          <a:rPr lang="en-SG" sz="2800" i="1">
                            <a:solidFill>
                              <a:srgbClr val="0000FF"/>
                            </a:solidFill>
                            <a:latin typeface="Cambria Math" panose="02040503050406030204" pitchFamily="18" charset="0"/>
                          </a:rPr>
                        </m:ctrlPr>
                      </m:sSubPr>
                      <m:e>
                        <m:r>
                          <a:rPr lang="en-US" sz="2800" i="1">
                            <a:solidFill>
                              <a:srgbClr val="0000FF"/>
                            </a:solidFill>
                            <a:latin typeface="Cambria Math" panose="02040503050406030204" pitchFamily="18" charset="0"/>
                          </a:rPr>
                          <m:t>𝑃</m:t>
                        </m:r>
                      </m:e>
                      <m:sub>
                        <m:r>
                          <a:rPr lang="en-US" sz="2800" i="1">
                            <a:solidFill>
                              <a:srgbClr val="0000FF"/>
                            </a:solidFill>
                            <a:latin typeface="Cambria Math" panose="02040503050406030204" pitchFamily="18" charset="0"/>
                          </a:rPr>
                          <m:t>1</m:t>
                        </m:r>
                      </m:sub>
                    </m:sSub>
                    <m:r>
                      <a:rPr lang="en-US" sz="2800" i="1">
                        <a:solidFill>
                          <a:srgbClr val="0000FF"/>
                        </a:solidFill>
                        <a:latin typeface="Cambria Math" panose="02040503050406030204" pitchFamily="18" charset="0"/>
                      </a:rPr>
                      <m:t>∩</m:t>
                    </m:r>
                    <m:sSub>
                      <m:sSubPr>
                        <m:ctrlPr>
                          <a:rPr lang="en-SG" sz="2800" i="1">
                            <a:solidFill>
                              <a:srgbClr val="0000FF"/>
                            </a:solidFill>
                            <a:latin typeface="Cambria Math" panose="02040503050406030204" pitchFamily="18" charset="0"/>
                          </a:rPr>
                        </m:ctrlPr>
                      </m:sSubPr>
                      <m:e>
                        <m:r>
                          <a:rPr lang="en-US" sz="2800" i="1">
                            <a:solidFill>
                              <a:srgbClr val="0000FF"/>
                            </a:solidFill>
                            <a:latin typeface="Cambria Math" panose="02040503050406030204" pitchFamily="18" charset="0"/>
                          </a:rPr>
                          <m:t>𝑃</m:t>
                        </m:r>
                      </m:e>
                      <m:sub>
                        <m:r>
                          <a:rPr lang="en-US" sz="2800" i="1">
                            <a:solidFill>
                              <a:srgbClr val="0000FF"/>
                            </a:solidFill>
                            <a:latin typeface="Cambria Math" panose="02040503050406030204" pitchFamily="18" charset="0"/>
                          </a:rPr>
                          <m:t>3</m:t>
                        </m:r>
                      </m:sub>
                    </m:sSub>
                    <m:r>
                      <a:rPr lang="en-US" sz="2800">
                        <a:solidFill>
                          <a:srgbClr val="0000FF"/>
                        </a:solidFill>
                        <a:latin typeface="Cambria Math" panose="02040503050406030204" pitchFamily="18" charset="0"/>
                      </a:rPr>
                      <m:t>|</m:t>
                    </m:r>
                    <m:r>
                      <a:rPr lang="en-US" sz="2800" i="1">
                        <a:solidFill>
                          <a:srgbClr val="0000FF"/>
                        </a:solidFill>
                        <a:latin typeface="Cambria Math" panose="02040503050406030204" pitchFamily="18" charset="0"/>
                      </a:rPr>
                      <m:t>=</m:t>
                    </m:r>
                    <m:d>
                      <m:dPr>
                        <m:ctrlPr>
                          <a:rPr lang="en-SG" sz="2800" i="1">
                            <a:solidFill>
                              <a:srgbClr val="0000FF"/>
                            </a:solidFill>
                            <a:latin typeface="Cambria Math" panose="02040503050406030204" pitchFamily="18" charset="0"/>
                          </a:rPr>
                        </m:ctrlPr>
                      </m:dPr>
                      <m:e>
                        <m:r>
                          <a:rPr lang="en-US" sz="2800" i="1">
                            <a:solidFill>
                              <a:srgbClr val="0000FF"/>
                            </a:solidFill>
                            <a:latin typeface="Cambria Math" panose="02040503050406030204" pitchFamily="18" charset="0"/>
                          </a:rPr>
                          <m:t>𝑛</m:t>
                        </m:r>
                        <m:r>
                          <a:rPr lang="en-US" sz="2800" i="1">
                            <a:solidFill>
                              <a:srgbClr val="0000FF"/>
                            </a:solidFill>
                            <a:latin typeface="Cambria Math" panose="02040503050406030204" pitchFamily="18" charset="0"/>
                          </a:rPr>
                          <m:t>−2</m:t>
                        </m:r>
                      </m:e>
                    </m:d>
                    <m:r>
                      <a:rPr lang="en-US" sz="2800" i="1">
                        <a:solidFill>
                          <a:srgbClr val="0000FF"/>
                        </a:solidFill>
                        <a:latin typeface="Cambria Math" panose="02040503050406030204" pitchFamily="18" charset="0"/>
                      </a:rPr>
                      <m:t>!</m:t>
                    </m:r>
                  </m:oMath>
                </a14:m>
                <a:endParaRPr lang="en-SG" sz="2800" dirty="0">
                  <a:solidFill>
                    <a:srgbClr val="0000FF"/>
                  </a:solidFill>
                </a:endParaRPr>
              </a:p>
            </p:txBody>
          </p:sp>
        </mc:Choice>
        <mc:Fallback xmlns="">
          <p:sp>
            <p:nvSpPr>
              <p:cNvPr id="6" name="TextBox 5">
                <a:extLst>
                  <a:ext uri="{FF2B5EF4-FFF2-40B4-BE49-F238E27FC236}">
                    <a16:creationId xmlns:a16="http://schemas.microsoft.com/office/drawing/2014/main" id="{FFBC9E2A-73DA-DE46-94FA-B03E95D63324}"/>
                  </a:ext>
                </a:extLst>
              </p:cNvPr>
              <p:cNvSpPr txBox="1">
                <a:spLocks noRot="1" noChangeAspect="1" noMove="1" noResize="1" noEditPoints="1" noAdjustHandles="1" noChangeArrowheads="1" noChangeShapeType="1" noTextEdit="1"/>
              </p:cNvSpPr>
              <p:nvPr/>
            </p:nvSpPr>
            <p:spPr>
              <a:xfrm>
                <a:off x="2593004" y="3649244"/>
                <a:ext cx="6629122" cy="523220"/>
              </a:xfrm>
              <a:prstGeom prst="rect">
                <a:avLst/>
              </a:prstGeom>
              <a:blipFill>
                <a:blip r:embed="rId8"/>
                <a:stretch>
                  <a:fillRect l="-2103" t="-11905" b="-309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7F6CC6D-CFC2-4741-AD5E-D59523D31D56}"/>
                  </a:ext>
                </a:extLst>
              </p:cNvPr>
              <p:cNvSpPr txBox="1"/>
              <p:nvPr/>
            </p:nvSpPr>
            <p:spPr>
              <a:xfrm>
                <a:off x="5022232" y="4133665"/>
                <a:ext cx="3799695" cy="523220"/>
              </a:xfrm>
              <a:prstGeom prst="rect">
                <a:avLst/>
              </a:prstGeom>
              <a:noFill/>
            </p:spPr>
            <p:txBody>
              <a:bodyPr wrap="none" rtlCol="0">
                <a:spAutoFit/>
              </a:bodyPr>
              <a:lstStyle/>
              <a:p>
                <a:r>
                  <a:rPr lang="en-US" sz="2800" dirty="0">
                    <a:solidFill>
                      <a:srgbClr val="0000FF"/>
                    </a:solidFill>
                  </a:rPr>
                  <a:t>|</a:t>
                </a:r>
                <a14:m>
                  <m:oMath xmlns:m="http://schemas.openxmlformats.org/officeDocument/2006/math">
                    <m:sSub>
                      <m:sSubPr>
                        <m:ctrlPr>
                          <a:rPr lang="en-SG" sz="2800" i="1">
                            <a:solidFill>
                              <a:srgbClr val="0000FF"/>
                            </a:solidFill>
                            <a:latin typeface="Cambria Math" panose="02040503050406030204" pitchFamily="18" charset="0"/>
                          </a:rPr>
                        </m:ctrlPr>
                      </m:sSubPr>
                      <m:e>
                        <m:r>
                          <a:rPr lang="en-US" sz="2800" i="1">
                            <a:solidFill>
                              <a:srgbClr val="0000FF"/>
                            </a:solidFill>
                            <a:latin typeface="Cambria Math" panose="02040503050406030204" pitchFamily="18" charset="0"/>
                          </a:rPr>
                          <m:t>𝑃</m:t>
                        </m:r>
                      </m:e>
                      <m:sub>
                        <m:r>
                          <a:rPr lang="en-US" sz="2800" i="1">
                            <a:solidFill>
                              <a:srgbClr val="0000FF"/>
                            </a:solidFill>
                            <a:latin typeface="Cambria Math" panose="02040503050406030204" pitchFamily="18" charset="0"/>
                          </a:rPr>
                          <m:t>1</m:t>
                        </m:r>
                      </m:sub>
                    </m:sSub>
                    <m:r>
                      <a:rPr lang="en-US" sz="2800" i="1">
                        <a:solidFill>
                          <a:srgbClr val="0000FF"/>
                        </a:solidFill>
                        <a:latin typeface="Cambria Math" panose="02040503050406030204" pitchFamily="18" charset="0"/>
                      </a:rPr>
                      <m:t>∩</m:t>
                    </m:r>
                    <m:sSub>
                      <m:sSubPr>
                        <m:ctrlPr>
                          <a:rPr lang="en-SG" sz="2800" i="1">
                            <a:solidFill>
                              <a:srgbClr val="0000FF"/>
                            </a:solidFill>
                            <a:latin typeface="Cambria Math" panose="02040503050406030204" pitchFamily="18" charset="0"/>
                          </a:rPr>
                        </m:ctrlPr>
                      </m:sSubPr>
                      <m:e>
                        <m:r>
                          <a:rPr lang="en-US" sz="2800" i="1">
                            <a:solidFill>
                              <a:srgbClr val="0000FF"/>
                            </a:solidFill>
                            <a:latin typeface="Cambria Math" panose="02040503050406030204" pitchFamily="18" charset="0"/>
                          </a:rPr>
                          <m:t>𝑃</m:t>
                        </m:r>
                      </m:e>
                      <m:sub>
                        <m:r>
                          <a:rPr lang="en-US" sz="2800" i="1">
                            <a:solidFill>
                              <a:srgbClr val="0000FF"/>
                            </a:solidFill>
                            <a:latin typeface="Cambria Math" panose="02040503050406030204" pitchFamily="18" charset="0"/>
                          </a:rPr>
                          <m:t>2</m:t>
                        </m:r>
                      </m:sub>
                    </m:sSub>
                    <m:r>
                      <a:rPr lang="en-US" sz="2800" i="1">
                        <a:solidFill>
                          <a:srgbClr val="0000FF"/>
                        </a:solidFill>
                        <a:latin typeface="Cambria Math" panose="02040503050406030204" pitchFamily="18" charset="0"/>
                      </a:rPr>
                      <m:t>∩</m:t>
                    </m:r>
                    <m:sSub>
                      <m:sSubPr>
                        <m:ctrlPr>
                          <a:rPr lang="en-SG" sz="2800" i="1">
                            <a:solidFill>
                              <a:srgbClr val="0000FF"/>
                            </a:solidFill>
                            <a:latin typeface="Cambria Math" panose="02040503050406030204" pitchFamily="18" charset="0"/>
                          </a:rPr>
                        </m:ctrlPr>
                      </m:sSubPr>
                      <m:e>
                        <m:r>
                          <a:rPr lang="en-US" sz="2800" i="1">
                            <a:solidFill>
                              <a:srgbClr val="0000FF"/>
                            </a:solidFill>
                            <a:latin typeface="Cambria Math" panose="02040503050406030204" pitchFamily="18" charset="0"/>
                          </a:rPr>
                          <m:t>𝑃</m:t>
                        </m:r>
                      </m:e>
                      <m:sub>
                        <m:r>
                          <a:rPr lang="en-US" sz="2800" i="1">
                            <a:solidFill>
                              <a:srgbClr val="0000FF"/>
                            </a:solidFill>
                            <a:latin typeface="Cambria Math" panose="02040503050406030204" pitchFamily="18" charset="0"/>
                          </a:rPr>
                          <m:t>3</m:t>
                        </m:r>
                      </m:sub>
                    </m:sSub>
                  </m:oMath>
                </a14:m>
                <a:r>
                  <a:rPr lang="en-US" sz="2800" dirty="0">
                    <a:solidFill>
                      <a:srgbClr val="0000FF"/>
                    </a:solidFill>
                  </a:rPr>
                  <a:t>|</a:t>
                </a:r>
                <a14:m>
                  <m:oMath xmlns:m="http://schemas.openxmlformats.org/officeDocument/2006/math">
                    <m:r>
                      <a:rPr lang="en-US" sz="2800" i="1">
                        <a:solidFill>
                          <a:srgbClr val="0000FF"/>
                        </a:solidFill>
                        <a:latin typeface="Cambria Math" panose="02040503050406030204" pitchFamily="18" charset="0"/>
                      </a:rPr>
                      <m:t>=</m:t>
                    </m:r>
                    <m:d>
                      <m:dPr>
                        <m:ctrlPr>
                          <a:rPr lang="en-SG" sz="2800" i="1">
                            <a:solidFill>
                              <a:srgbClr val="0000FF"/>
                            </a:solidFill>
                            <a:latin typeface="Cambria Math" panose="02040503050406030204" pitchFamily="18" charset="0"/>
                          </a:rPr>
                        </m:ctrlPr>
                      </m:dPr>
                      <m:e>
                        <m:r>
                          <a:rPr lang="en-US" sz="2800" i="1">
                            <a:solidFill>
                              <a:srgbClr val="0000FF"/>
                            </a:solidFill>
                            <a:latin typeface="Cambria Math" panose="02040503050406030204" pitchFamily="18" charset="0"/>
                          </a:rPr>
                          <m:t>𝑛</m:t>
                        </m:r>
                        <m:r>
                          <a:rPr lang="en-US" sz="2800" i="1">
                            <a:solidFill>
                              <a:srgbClr val="0000FF"/>
                            </a:solidFill>
                            <a:latin typeface="Cambria Math" panose="02040503050406030204" pitchFamily="18" charset="0"/>
                          </a:rPr>
                          <m:t>−3</m:t>
                        </m:r>
                      </m:e>
                    </m:d>
                    <m:r>
                      <a:rPr lang="en-US" sz="2800" i="1">
                        <a:solidFill>
                          <a:srgbClr val="0000FF"/>
                        </a:solidFill>
                        <a:latin typeface="Cambria Math" panose="02040503050406030204" pitchFamily="18" charset="0"/>
                      </a:rPr>
                      <m:t>!</m:t>
                    </m:r>
                  </m:oMath>
                </a14:m>
                <a:endParaRPr lang="en-SG" sz="2800" dirty="0">
                  <a:solidFill>
                    <a:srgbClr val="0000FF"/>
                  </a:solidFill>
                </a:endParaRPr>
              </a:p>
            </p:txBody>
          </p:sp>
        </mc:Choice>
        <mc:Fallback xmlns="">
          <p:sp>
            <p:nvSpPr>
              <p:cNvPr id="9" name="TextBox 8">
                <a:extLst>
                  <a:ext uri="{FF2B5EF4-FFF2-40B4-BE49-F238E27FC236}">
                    <a16:creationId xmlns:a16="http://schemas.microsoft.com/office/drawing/2014/main" id="{B7F6CC6D-CFC2-4741-AD5E-D59523D31D56}"/>
                  </a:ext>
                </a:extLst>
              </p:cNvPr>
              <p:cNvSpPr txBox="1">
                <a:spLocks noRot="1" noChangeAspect="1" noMove="1" noResize="1" noEditPoints="1" noAdjustHandles="1" noChangeArrowheads="1" noChangeShapeType="1" noTextEdit="1"/>
              </p:cNvSpPr>
              <p:nvPr/>
            </p:nvSpPr>
            <p:spPr>
              <a:xfrm>
                <a:off x="5022232" y="4133665"/>
                <a:ext cx="3799695" cy="523220"/>
              </a:xfrm>
              <a:prstGeom prst="rect">
                <a:avLst/>
              </a:prstGeom>
              <a:blipFill>
                <a:blip r:embed="rId9"/>
                <a:stretch>
                  <a:fillRect l="-3333" t="-11905" b="-309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82E2FFA7-B877-7742-A1A4-3A4C72D19A0E}"/>
                  </a:ext>
                </a:extLst>
              </p:cNvPr>
              <p:cNvSpPr txBox="1"/>
              <p:nvPr/>
            </p:nvSpPr>
            <p:spPr>
              <a:xfrm>
                <a:off x="2023982" y="5167188"/>
                <a:ext cx="7766485" cy="100957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solidFill>
                                <a:srgbClr val="0000FF"/>
                              </a:solidFill>
                              <a:latin typeface="Cambria Math" panose="02040503050406030204" pitchFamily="18" charset="0"/>
                            </a:rPr>
                          </m:ctrlPr>
                        </m:dPr>
                        <m:e>
                          <m:sSub>
                            <m:sSubPr>
                              <m:ctrlPr>
                                <a:rPr lang="en-SG" sz="2800" i="1">
                                  <a:solidFill>
                                    <a:srgbClr val="0000FF"/>
                                  </a:solidFill>
                                  <a:latin typeface="Cambria Math" panose="02040503050406030204" pitchFamily="18" charset="0"/>
                                </a:rPr>
                              </m:ctrlPr>
                            </m:sSubPr>
                            <m:e>
                              <m:r>
                                <a:rPr lang="en-US" sz="2800" i="1">
                                  <a:solidFill>
                                    <a:srgbClr val="0000FF"/>
                                  </a:solidFill>
                                  <a:latin typeface="Cambria Math" panose="02040503050406030204" pitchFamily="18" charset="0"/>
                                </a:rPr>
                                <m:t>𝑃</m:t>
                              </m:r>
                            </m:e>
                            <m:sub>
                              <m:r>
                                <a:rPr lang="en-US" sz="2800" i="1">
                                  <a:solidFill>
                                    <a:srgbClr val="0000FF"/>
                                  </a:solidFill>
                                  <a:latin typeface="Cambria Math" panose="02040503050406030204" pitchFamily="18" charset="0"/>
                                </a:rPr>
                                <m:t>1</m:t>
                              </m:r>
                            </m:sub>
                          </m:sSub>
                          <m:r>
                            <a:rPr lang="en-US" sz="2800" i="1">
                              <a:solidFill>
                                <a:srgbClr val="0000FF"/>
                              </a:solidFill>
                              <a:latin typeface="Cambria Math" panose="02040503050406030204" pitchFamily="18" charset="0"/>
                            </a:rPr>
                            <m:t>∪</m:t>
                          </m:r>
                          <m:sSub>
                            <m:sSubPr>
                              <m:ctrlPr>
                                <a:rPr lang="en-SG" sz="2800" i="1">
                                  <a:solidFill>
                                    <a:srgbClr val="0000FF"/>
                                  </a:solidFill>
                                  <a:latin typeface="Cambria Math" panose="02040503050406030204" pitchFamily="18" charset="0"/>
                                </a:rPr>
                              </m:ctrlPr>
                            </m:sSubPr>
                            <m:e>
                              <m:r>
                                <a:rPr lang="en-US" sz="2800" i="1">
                                  <a:solidFill>
                                    <a:srgbClr val="0000FF"/>
                                  </a:solidFill>
                                  <a:latin typeface="Cambria Math" panose="02040503050406030204" pitchFamily="18" charset="0"/>
                                </a:rPr>
                                <m:t>𝑃</m:t>
                              </m:r>
                            </m:e>
                            <m:sub>
                              <m:r>
                                <a:rPr lang="en-US" sz="2800" i="1">
                                  <a:solidFill>
                                    <a:srgbClr val="0000FF"/>
                                  </a:solidFill>
                                  <a:latin typeface="Cambria Math" panose="02040503050406030204" pitchFamily="18" charset="0"/>
                                </a:rPr>
                                <m:t>2</m:t>
                              </m:r>
                            </m:sub>
                          </m:sSub>
                          <m:r>
                            <a:rPr lang="en-US" sz="2800" i="1">
                              <a:solidFill>
                                <a:srgbClr val="0000FF"/>
                              </a:solidFill>
                              <a:latin typeface="Cambria Math" panose="02040503050406030204" pitchFamily="18" charset="0"/>
                            </a:rPr>
                            <m:t>∪</m:t>
                          </m:r>
                          <m:sSub>
                            <m:sSubPr>
                              <m:ctrlPr>
                                <a:rPr lang="en-SG" sz="2800" i="1">
                                  <a:solidFill>
                                    <a:srgbClr val="0000FF"/>
                                  </a:solidFill>
                                  <a:latin typeface="Cambria Math" panose="02040503050406030204" pitchFamily="18" charset="0"/>
                                </a:rPr>
                              </m:ctrlPr>
                            </m:sSubPr>
                            <m:e>
                              <m:r>
                                <a:rPr lang="en-US" sz="2800" i="1">
                                  <a:solidFill>
                                    <a:srgbClr val="0000FF"/>
                                  </a:solidFill>
                                  <a:latin typeface="Cambria Math" panose="02040503050406030204" pitchFamily="18" charset="0"/>
                                </a:rPr>
                                <m:t>𝑃</m:t>
                              </m:r>
                            </m:e>
                            <m:sub>
                              <m:r>
                                <a:rPr lang="en-US" sz="2800" i="1">
                                  <a:solidFill>
                                    <a:srgbClr val="0000FF"/>
                                  </a:solidFill>
                                  <a:latin typeface="Cambria Math" panose="02040503050406030204" pitchFamily="18" charset="0"/>
                                </a:rPr>
                                <m:t>3</m:t>
                              </m:r>
                            </m:sub>
                          </m:sSub>
                        </m:e>
                      </m:d>
                      <m:r>
                        <a:rPr lang="en-US" sz="2800" i="1">
                          <a:solidFill>
                            <a:srgbClr val="0000FF"/>
                          </a:solidFill>
                          <a:latin typeface="Cambria Math" panose="02040503050406030204" pitchFamily="18" charset="0"/>
                        </a:rPr>
                        <m:t>=3</m:t>
                      </m:r>
                      <m:d>
                        <m:dPr>
                          <m:ctrlPr>
                            <a:rPr lang="en-SG" sz="2800" i="1">
                              <a:solidFill>
                                <a:srgbClr val="0000FF"/>
                              </a:solidFill>
                              <a:latin typeface="Cambria Math" panose="02040503050406030204" pitchFamily="18" charset="0"/>
                            </a:rPr>
                          </m:ctrlPr>
                        </m:dPr>
                        <m:e>
                          <m:r>
                            <a:rPr lang="en-US" sz="2800" i="1">
                              <a:solidFill>
                                <a:srgbClr val="0000FF"/>
                              </a:solidFill>
                              <a:latin typeface="Cambria Math" panose="02040503050406030204" pitchFamily="18" charset="0"/>
                            </a:rPr>
                            <m:t>𝑛</m:t>
                          </m:r>
                          <m:r>
                            <a:rPr lang="en-US" sz="2800" i="1">
                              <a:solidFill>
                                <a:srgbClr val="0000FF"/>
                              </a:solidFill>
                              <a:latin typeface="Cambria Math" panose="02040503050406030204" pitchFamily="18" charset="0"/>
                            </a:rPr>
                            <m:t>−1</m:t>
                          </m:r>
                        </m:e>
                      </m:d>
                      <m:r>
                        <a:rPr lang="en-US" sz="2800" i="1">
                          <a:solidFill>
                            <a:srgbClr val="0000FF"/>
                          </a:solidFill>
                          <a:latin typeface="Cambria Math" panose="02040503050406030204" pitchFamily="18" charset="0"/>
                        </a:rPr>
                        <m:t>!−3</m:t>
                      </m:r>
                      <m:d>
                        <m:dPr>
                          <m:ctrlPr>
                            <a:rPr lang="en-SG" sz="2800" i="1">
                              <a:solidFill>
                                <a:srgbClr val="0000FF"/>
                              </a:solidFill>
                              <a:latin typeface="Cambria Math" panose="02040503050406030204" pitchFamily="18" charset="0"/>
                            </a:rPr>
                          </m:ctrlPr>
                        </m:dPr>
                        <m:e>
                          <m:r>
                            <a:rPr lang="en-US" sz="2800" i="1">
                              <a:solidFill>
                                <a:srgbClr val="0000FF"/>
                              </a:solidFill>
                              <a:latin typeface="Cambria Math" panose="02040503050406030204" pitchFamily="18" charset="0"/>
                            </a:rPr>
                            <m:t>𝑛</m:t>
                          </m:r>
                          <m:r>
                            <a:rPr lang="en-US" sz="2800" i="1">
                              <a:solidFill>
                                <a:srgbClr val="0000FF"/>
                              </a:solidFill>
                              <a:latin typeface="Cambria Math" panose="02040503050406030204" pitchFamily="18" charset="0"/>
                            </a:rPr>
                            <m:t>−2</m:t>
                          </m:r>
                        </m:e>
                      </m:d>
                      <m:r>
                        <a:rPr lang="en-US" sz="2800" i="1">
                          <a:solidFill>
                            <a:srgbClr val="0000FF"/>
                          </a:solidFill>
                          <a:latin typeface="Cambria Math" panose="02040503050406030204" pitchFamily="18" charset="0"/>
                        </a:rPr>
                        <m:t>!+</m:t>
                      </m:r>
                      <m:d>
                        <m:dPr>
                          <m:ctrlPr>
                            <a:rPr lang="en-SG" sz="2800" i="1">
                              <a:solidFill>
                                <a:srgbClr val="0000FF"/>
                              </a:solidFill>
                              <a:latin typeface="Cambria Math" panose="02040503050406030204" pitchFamily="18" charset="0"/>
                            </a:rPr>
                          </m:ctrlPr>
                        </m:dPr>
                        <m:e>
                          <m:r>
                            <a:rPr lang="en-US" sz="2800" i="1">
                              <a:solidFill>
                                <a:srgbClr val="0000FF"/>
                              </a:solidFill>
                              <a:latin typeface="Cambria Math" panose="02040503050406030204" pitchFamily="18" charset="0"/>
                            </a:rPr>
                            <m:t>𝑛</m:t>
                          </m:r>
                          <m:r>
                            <a:rPr lang="en-US" sz="2800" i="1">
                              <a:solidFill>
                                <a:srgbClr val="0000FF"/>
                              </a:solidFill>
                              <a:latin typeface="Cambria Math" panose="02040503050406030204" pitchFamily="18" charset="0"/>
                            </a:rPr>
                            <m:t>−3</m:t>
                          </m:r>
                        </m:e>
                      </m:d>
                      <m:r>
                        <a:rPr lang="en-US" sz="2800" i="1">
                          <a:solidFill>
                            <a:srgbClr val="0000FF"/>
                          </a:solidFill>
                          <a:latin typeface="Cambria Math" panose="02040503050406030204" pitchFamily="18" charset="0"/>
                        </a:rPr>
                        <m:t>!</m:t>
                      </m:r>
                    </m:oMath>
                  </m:oMathPara>
                </a14:m>
                <a:endParaRPr lang="en-US" sz="2800" i="1" dirty="0">
                  <a:solidFill>
                    <a:srgbClr val="0000FF"/>
                  </a:solidFill>
                </a:endParaRPr>
              </a:p>
              <a:p>
                <a:r>
                  <a:rPr lang="en-US" sz="2800" dirty="0">
                    <a:solidFill>
                      <a:srgbClr val="0000FF"/>
                    </a:solidFill>
                  </a:rPr>
                  <a:t>                               </a:t>
                </a:r>
                <a14:m>
                  <m:oMath xmlns:m="http://schemas.openxmlformats.org/officeDocument/2006/math">
                    <m:r>
                      <a:rPr lang="en-US" sz="2800" i="1">
                        <a:solidFill>
                          <a:srgbClr val="0000FF"/>
                        </a:solidFill>
                        <a:latin typeface="Cambria Math" panose="02040503050406030204" pitchFamily="18" charset="0"/>
                      </a:rPr>
                      <m:t>=</m:t>
                    </m:r>
                    <m:d>
                      <m:dPr>
                        <m:ctrlPr>
                          <a:rPr lang="en-SG" sz="2800" i="1">
                            <a:solidFill>
                              <a:srgbClr val="0000FF"/>
                            </a:solidFill>
                            <a:latin typeface="Cambria Math" panose="02040503050406030204" pitchFamily="18" charset="0"/>
                          </a:rPr>
                        </m:ctrlPr>
                      </m:dPr>
                      <m:e>
                        <m:r>
                          <a:rPr lang="en-US" sz="2800" i="1">
                            <a:solidFill>
                              <a:srgbClr val="0000FF"/>
                            </a:solidFill>
                            <a:latin typeface="Cambria Math" panose="02040503050406030204" pitchFamily="18" charset="0"/>
                          </a:rPr>
                          <m:t>3</m:t>
                        </m:r>
                        <m:sSup>
                          <m:sSupPr>
                            <m:ctrlPr>
                              <a:rPr lang="en-SG" sz="2800" i="1">
                                <a:solidFill>
                                  <a:srgbClr val="0000FF"/>
                                </a:solidFill>
                                <a:latin typeface="Cambria Math" panose="02040503050406030204" pitchFamily="18" charset="0"/>
                              </a:rPr>
                            </m:ctrlPr>
                          </m:sSupPr>
                          <m:e>
                            <m:r>
                              <a:rPr lang="en-US" sz="2800" i="1">
                                <a:solidFill>
                                  <a:srgbClr val="0000FF"/>
                                </a:solidFill>
                                <a:latin typeface="Cambria Math" panose="02040503050406030204" pitchFamily="18" charset="0"/>
                              </a:rPr>
                              <m:t>𝑛</m:t>
                            </m:r>
                          </m:e>
                          <m:sup>
                            <m:r>
                              <a:rPr lang="en-US" sz="2800" i="1">
                                <a:solidFill>
                                  <a:srgbClr val="0000FF"/>
                                </a:solidFill>
                                <a:latin typeface="Cambria Math" panose="02040503050406030204" pitchFamily="18" charset="0"/>
                              </a:rPr>
                              <m:t>2</m:t>
                            </m:r>
                          </m:sup>
                        </m:sSup>
                        <m:r>
                          <a:rPr lang="en-US" sz="2800" i="1">
                            <a:solidFill>
                              <a:srgbClr val="0000FF"/>
                            </a:solidFill>
                            <a:latin typeface="Cambria Math" panose="02040503050406030204" pitchFamily="18" charset="0"/>
                          </a:rPr>
                          <m:t>−12</m:t>
                        </m:r>
                        <m:r>
                          <a:rPr lang="en-US" sz="2800" i="1">
                            <a:solidFill>
                              <a:srgbClr val="0000FF"/>
                            </a:solidFill>
                            <a:latin typeface="Cambria Math" panose="02040503050406030204" pitchFamily="18" charset="0"/>
                          </a:rPr>
                          <m:t>𝑛</m:t>
                        </m:r>
                        <m:r>
                          <a:rPr lang="en-US" sz="2800" i="1">
                            <a:solidFill>
                              <a:srgbClr val="0000FF"/>
                            </a:solidFill>
                            <a:latin typeface="Cambria Math" panose="02040503050406030204" pitchFamily="18" charset="0"/>
                          </a:rPr>
                          <m:t>+13</m:t>
                        </m:r>
                      </m:e>
                    </m:d>
                    <m:d>
                      <m:dPr>
                        <m:ctrlPr>
                          <a:rPr lang="en-SG" sz="2800" i="1">
                            <a:solidFill>
                              <a:srgbClr val="0000FF"/>
                            </a:solidFill>
                            <a:latin typeface="Cambria Math" panose="02040503050406030204" pitchFamily="18" charset="0"/>
                          </a:rPr>
                        </m:ctrlPr>
                      </m:dPr>
                      <m:e>
                        <m:r>
                          <a:rPr lang="en-US" sz="2800" i="1">
                            <a:solidFill>
                              <a:srgbClr val="0000FF"/>
                            </a:solidFill>
                            <a:latin typeface="Cambria Math" panose="02040503050406030204" pitchFamily="18" charset="0"/>
                          </a:rPr>
                          <m:t>𝑛</m:t>
                        </m:r>
                        <m:r>
                          <a:rPr lang="en-US" sz="2800" i="1">
                            <a:solidFill>
                              <a:srgbClr val="0000FF"/>
                            </a:solidFill>
                            <a:latin typeface="Cambria Math" panose="02040503050406030204" pitchFamily="18" charset="0"/>
                          </a:rPr>
                          <m:t>−3</m:t>
                        </m:r>
                      </m:e>
                    </m:d>
                    <m:r>
                      <a:rPr lang="en-US" sz="2800" i="1">
                        <a:solidFill>
                          <a:srgbClr val="0000FF"/>
                        </a:solidFill>
                        <a:latin typeface="Cambria Math" panose="02040503050406030204" pitchFamily="18" charset="0"/>
                      </a:rPr>
                      <m:t>!</m:t>
                    </m:r>
                  </m:oMath>
                </a14:m>
                <a:endParaRPr lang="en-SG" sz="2800" dirty="0">
                  <a:solidFill>
                    <a:srgbClr val="0000FF"/>
                  </a:solidFill>
                </a:endParaRPr>
              </a:p>
            </p:txBody>
          </p:sp>
        </mc:Choice>
        <mc:Fallback xmlns="">
          <p:sp>
            <p:nvSpPr>
              <p:cNvPr id="12" name="TextBox 11">
                <a:extLst>
                  <a:ext uri="{FF2B5EF4-FFF2-40B4-BE49-F238E27FC236}">
                    <a16:creationId xmlns:a16="http://schemas.microsoft.com/office/drawing/2014/main" id="{82E2FFA7-B877-7742-A1A4-3A4C72D19A0E}"/>
                  </a:ext>
                </a:extLst>
              </p:cNvPr>
              <p:cNvSpPr txBox="1">
                <a:spLocks noRot="1" noChangeAspect="1" noMove="1" noResize="1" noEditPoints="1" noAdjustHandles="1" noChangeArrowheads="1" noChangeShapeType="1" noTextEdit="1"/>
              </p:cNvSpPr>
              <p:nvPr/>
            </p:nvSpPr>
            <p:spPr>
              <a:xfrm>
                <a:off x="2023982" y="5167188"/>
                <a:ext cx="7766485" cy="1009572"/>
              </a:xfrm>
              <a:prstGeom prst="rect">
                <a:avLst/>
              </a:prstGeom>
              <a:blipFill>
                <a:blip r:embed="rId10"/>
                <a:stretch>
                  <a:fillRect/>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83B772B3-B5FC-CB4B-9825-37E3FF4F06FD}"/>
              </a:ext>
            </a:extLst>
          </p:cNvPr>
          <p:cNvSpPr txBox="1"/>
          <p:nvPr/>
        </p:nvSpPr>
        <p:spPr>
          <a:xfrm>
            <a:off x="1412247" y="4656885"/>
            <a:ext cx="7141699" cy="523220"/>
          </a:xfrm>
          <a:prstGeom prst="rect">
            <a:avLst/>
          </a:prstGeom>
          <a:noFill/>
        </p:spPr>
        <p:txBody>
          <a:bodyPr wrap="none" rtlCol="0">
            <a:spAutoFit/>
          </a:bodyPr>
          <a:lstStyle/>
          <a:p>
            <a:r>
              <a:rPr lang="en-US" sz="2800" dirty="0">
                <a:solidFill>
                  <a:srgbClr val="006600"/>
                </a:solidFill>
              </a:rPr>
              <a:t>By the inclusion/exclusion rule (theorem 9.3.3), </a:t>
            </a:r>
            <a:endParaRPr lang="en-SG" sz="2800" dirty="0">
              <a:solidFill>
                <a:srgbClr val="006600"/>
              </a:solidFill>
            </a:endParaRPr>
          </a:p>
        </p:txBody>
      </p:sp>
    </p:spTree>
    <p:extLst>
      <p:ext uri="{BB962C8B-B14F-4D97-AF65-F5344CB8AC3E}">
        <p14:creationId xmlns:p14="http://schemas.microsoft.com/office/powerpoint/2010/main" val="2531428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dissolve">
                                      <p:cBhvr>
                                        <p:cTn id="7" dur="500"/>
                                        <p:tgtEl>
                                          <p:spTgt spid="4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dissolve">
                                      <p:cBhvr>
                                        <p:cTn id="12" dur="500"/>
                                        <p:tgtEl>
                                          <p:spTgt spid="4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dissolve">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dissolve">
                                      <p:cBhvr>
                                        <p:cTn id="35" dur="500"/>
                                        <p:tgtEl>
                                          <p:spTgt spid="11"/>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9"/>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13"/>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49" grpId="0" animBg="1"/>
      <p:bldP spid="4" grpId="0"/>
      <p:bldP spid="7" grpId="0"/>
      <p:bldP spid="11" grpId="0"/>
      <p:bldP spid="3" grpId="0"/>
      <p:bldP spid="6" grpId="0"/>
      <p:bldP spid="9" grpId="0"/>
      <p:bldP spid="12" grpId="0"/>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9532D-7B1D-4496-906D-F1887FE508D2}"/>
              </a:ext>
            </a:extLst>
          </p:cNvPr>
          <p:cNvSpPr>
            <a:spLocks noGrp="1"/>
          </p:cNvSpPr>
          <p:nvPr>
            <p:ph type="title"/>
          </p:nvPr>
        </p:nvSpPr>
        <p:spPr>
          <a:xfrm>
            <a:off x="314662" y="226852"/>
            <a:ext cx="1097585" cy="895927"/>
          </a:xfrm>
        </p:spPr>
        <p:txBody>
          <a:bodyPr>
            <a:normAutofit/>
          </a:bodyPr>
          <a:lstStyle/>
          <a:p>
            <a:pPr>
              <a:lnSpc>
                <a:spcPct val="100000"/>
              </a:lnSpc>
            </a:pPr>
            <a:r>
              <a:rPr lang="en-SG" dirty="0" err="1">
                <a:solidFill>
                  <a:schemeClr val="bg2">
                    <a:lumMod val="50000"/>
                  </a:schemeClr>
                </a:solidFill>
              </a:rPr>
              <a:t>Q4</a:t>
            </a:r>
            <a:r>
              <a:rPr lang="en-SG" dirty="0">
                <a:solidFill>
                  <a:schemeClr val="bg2">
                    <a:lumMod val="50000"/>
                  </a:schemeClr>
                </a:solidFill>
              </a:rPr>
              <a:t>.</a:t>
            </a:r>
            <a:endParaRPr lang="en-SG" dirty="0">
              <a:solidFill>
                <a:schemeClr val="bg2">
                  <a:lumMod val="50000"/>
                </a:schemeClr>
              </a:solidFill>
              <a:latin typeface="Cambria Math" panose="02040503050406030204" pitchFamily="18" charset="0"/>
              <a:ea typeface="Cambria Math" panose="02040503050406030204" pitchFamily="18" charset="0"/>
            </a:endParaRPr>
          </a:p>
        </p:txBody>
      </p:sp>
      <p:sp>
        <p:nvSpPr>
          <p:cNvPr id="10" name="Slide Number Placeholder 1"/>
          <p:cNvSpPr>
            <a:spLocks noGrp="1"/>
          </p:cNvSpPr>
          <p:nvPr>
            <p:ph type="sldNum" sz="quarter" idx="12"/>
          </p:nvPr>
        </p:nvSpPr>
        <p:spPr>
          <a:xfrm>
            <a:off x="10485783" y="6492875"/>
            <a:ext cx="1706217" cy="365125"/>
          </a:xfrm>
        </p:spPr>
        <p:txBody>
          <a:bodyPr/>
          <a:lstStyle/>
          <a:p>
            <a:fld id="{576A5E36-E009-4840-A577-F8CF29116582}" type="slidenum">
              <a:rPr lang="en-US" sz="1600" smtClean="0">
                <a:solidFill>
                  <a:schemeClr val="bg1"/>
                </a:solidFill>
              </a:rPr>
              <a:t>7</a:t>
            </a:fld>
            <a:endParaRPr lang="en-US" sz="1600" dirty="0">
              <a:solidFill>
                <a:schemeClr val="bg1"/>
              </a:solidFill>
            </a:endParaRPr>
          </a:p>
        </p:txBody>
      </p:sp>
      <p:sp>
        <p:nvSpPr>
          <p:cNvPr id="14" name="TextBox 13">
            <a:extLst>
              <a:ext uri="{FF2B5EF4-FFF2-40B4-BE49-F238E27FC236}">
                <a16:creationId xmlns:a16="http://schemas.microsoft.com/office/drawing/2014/main" id="{59FB7879-BCF9-4B1A-A2CC-BB0778FBDB53}"/>
              </a:ext>
            </a:extLst>
          </p:cNvPr>
          <p:cNvSpPr txBox="1"/>
          <p:nvPr/>
        </p:nvSpPr>
        <p:spPr>
          <a:xfrm>
            <a:off x="1412247" y="382427"/>
            <a:ext cx="9782226" cy="1815882"/>
          </a:xfrm>
          <a:prstGeom prst="rect">
            <a:avLst/>
          </a:prstGeom>
          <a:solidFill>
            <a:srgbClr val="CCECFF"/>
          </a:solidFill>
        </p:spPr>
        <p:txBody>
          <a:bodyPr wrap="square" rtlCol="0">
            <a:spAutoFit/>
          </a:bodyPr>
          <a:lstStyle/>
          <a:p>
            <a:r>
              <a:rPr lang="en-SG" sz="2800" dirty="0"/>
              <a:t>Given n boxes numbered 1 to n, each box to be filled with a white ball or a blue ball. At least one box contains a white ball and boxes containing white balls must be consecutively numbered.</a:t>
            </a:r>
          </a:p>
          <a:p>
            <a:r>
              <a:rPr lang="en-SG" sz="2800" dirty="0">
                <a:solidFill>
                  <a:srgbClr val="0000FF"/>
                </a:solidFill>
              </a:rPr>
              <a:t>What is the total number of ways this can be done?</a:t>
            </a:r>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EEC64C99-9F71-48FB-8F62-1580BF788EE6}"/>
                  </a:ext>
                </a:extLst>
              </p:cNvPr>
              <p:cNvSpPr txBox="1"/>
              <p:nvPr/>
            </p:nvSpPr>
            <p:spPr>
              <a:xfrm>
                <a:off x="988318" y="2161839"/>
                <a:ext cx="6438308" cy="523220"/>
              </a:xfrm>
              <a:prstGeom prst="rect">
                <a:avLst/>
              </a:prstGeom>
              <a:noFill/>
            </p:spPr>
            <p:txBody>
              <a:bodyPr wrap="square" rtlCol="0">
                <a:spAutoFit/>
              </a:bodyPr>
              <a:lstStyle/>
              <a:p>
                <a:r>
                  <a:rPr lang="en-SG" sz="2800" dirty="0"/>
                  <a:t>Case </a:t>
                </a:r>
                <a14:m>
                  <m:oMath xmlns:m="http://schemas.openxmlformats.org/officeDocument/2006/math">
                    <m:r>
                      <a:rPr lang="en-SG" sz="2800" i="1" dirty="0" smtClean="0">
                        <a:latin typeface="Cambria Math" panose="02040503050406030204" pitchFamily="18" charset="0"/>
                      </a:rPr>
                      <m:t>1</m:t>
                    </m:r>
                  </m:oMath>
                </a14:m>
                <a:r>
                  <a:rPr lang="en-SG" sz="2800" dirty="0"/>
                  <a:t>: A white ball in a box.</a:t>
                </a:r>
              </a:p>
            </p:txBody>
          </p:sp>
        </mc:Choice>
        <mc:Fallback xmlns="">
          <p:sp>
            <p:nvSpPr>
              <p:cNvPr id="48" name="TextBox 47">
                <a:extLst>
                  <a:ext uri="{FF2B5EF4-FFF2-40B4-BE49-F238E27FC236}">
                    <a16:creationId xmlns:a16="http://schemas.microsoft.com/office/drawing/2014/main" id="{EEC64C99-9F71-48FB-8F62-1580BF788EE6}"/>
                  </a:ext>
                </a:extLst>
              </p:cNvPr>
              <p:cNvSpPr txBox="1">
                <a:spLocks noRot="1" noChangeAspect="1" noMove="1" noResize="1" noEditPoints="1" noAdjustHandles="1" noChangeArrowheads="1" noChangeShapeType="1" noTextEdit="1"/>
              </p:cNvSpPr>
              <p:nvPr/>
            </p:nvSpPr>
            <p:spPr>
              <a:xfrm>
                <a:off x="988318" y="2161839"/>
                <a:ext cx="6438308" cy="523220"/>
              </a:xfrm>
              <a:prstGeom prst="rect">
                <a:avLst/>
              </a:prstGeom>
              <a:blipFill>
                <a:blip r:embed="rId2"/>
                <a:stretch>
                  <a:fillRect l="-1969" t="-11905" b="-309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9672E8F-9758-4C48-B2BC-9467CB5AD62F}"/>
                  </a:ext>
                </a:extLst>
              </p:cNvPr>
              <p:cNvSpPr txBox="1"/>
              <p:nvPr/>
            </p:nvSpPr>
            <p:spPr>
              <a:xfrm>
                <a:off x="973874" y="2711869"/>
                <a:ext cx="6590708" cy="523220"/>
              </a:xfrm>
              <a:prstGeom prst="rect">
                <a:avLst/>
              </a:prstGeom>
              <a:noFill/>
            </p:spPr>
            <p:txBody>
              <a:bodyPr wrap="square" rtlCol="0">
                <a:spAutoFit/>
              </a:bodyPr>
              <a:lstStyle/>
              <a:p>
                <a:pPr marL="1163638" indent="-1163638"/>
                <a:r>
                  <a:rPr lang="en-SG" sz="2800" dirty="0"/>
                  <a:t>Case </a:t>
                </a:r>
                <a14:m>
                  <m:oMath xmlns:m="http://schemas.openxmlformats.org/officeDocument/2006/math">
                    <m:r>
                      <a:rPr lang="en-SG" sz="2800" i="1" dirty="0" smtClean="0">
                        <a:latin typeface="Cambria Math" panose="02040503050406030204" pitchFamily="18" charset="0"/>
                      </a:rPr>
                      <m:t>2</m:t>
                    </m:r>
                  </m:oMath>
                </a14:m>
                <a:r>
                  <a:rPr lang="en-SG" sz="2800" dirty="0"/>
                  <a:t>: White balls in </a:t>
                </a:r>
                <a14:m>
                  <m:oMath xmlns:m="http://schemas.openxmlformats.org/officeDocument/2006/math">
                    <m:r>
                      <a:rPr lang="en-SG" sz="2800" i="1" dirty="0" smtClean="0">
                        <a:latin typeface="Cambria Math" panose="02040503050406030204" pitchFamily="18" charset="0"/>
                      </a:rPr>
                      <m:t>2</m:t>
                    </m:r>
                  </m:oMath>
                </a14:m>
                <a:r>
                  <a:rPr lang="en-SG" sz="2800" dirty="0"/>
                  <a:t> consecutive boxes.</a:t>
                </a:r>
              </a:p>
            </p:txBody>
          </p:sp>
        </mc:Choice>
        <mc:Fallback xmlns="">
          <p:sp>
            <p:nvSpPr>
              <p:cNvPr id="12" name="TextBox 11">
                <a:extLst>
                  <a:ext uri="{FF2B5EF4-FFF2-40B4-BE49-F238E27FC236}">
                    <a16:creationId xmlns:a16="http://schemas.microsoft.com/office/drawing/2014/main" id="{79672E8F-9758-4C48-B2BC-9467CB5AD62F}"/>
                  </a:ext>
                </a:extLst>
              </p:cNvPr>
              <p:cNvSpPr txBox="1">
                <a:spLocks noRot="1" noChangeAspect="1" noMove="1" noResize="1" noEditPoints="1" noAdjustHandles="1" noChangeArrowheads="1" noChangeShapeType="1" noTextEdit="1"/>
              </p:cNvSpPr>
              <p:nvPr/>
            </p:nvSpPr>
            <p:spPr>
              <a:xfrm>
                <a:off x="973874" y="2711869"/>
                <a:ext cx="6590708" cy="523220"/>
              </a:xfrm>
              <a:prstGeom prst="rect">
                <a:avLst/>
              </a:prstGeom>
              <a:blipFill>
                <a:blip r:embed="rId3"/>
                <a:stretch>
                  <a:fillRect l="-1923" t="-11905" b="-30952"/>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DBB7CDDB-3672-47CC-8D8A-0F189720CD6F}"/>
              </a:ext>
            </a:extLst>
          </p:cNvPr>
          <p:cNvSpPr txBox="1"/>
          <p:nvPr/>
        </p:nvSpPr>
        <p:spPr>
          <a:xfrm>
            <a:off x="1616083" y="3464440"/>
            <a:ext cx="5195454" cy="523220"/>
          </a:xfrm>
          <a:prstGeom prst="rect">
            <a:avLst/>
          </a:prstGeom>
          <a:noFill/>
        </p:spPr>
        <p:txBody>
          <a:bodyPr wrap="square" rtlCol="0">
            <a:spAutoFit/>
          </a:bodyPr>
          <a:lstStyle/>
          <a:p>
            <a:pPr marL="1163638" indent="-1163638" algn="ctr"/>
            <a:r>
              <a:rPr lang="en-SG" sz="2800" b="1" dirty="0"/>
              <a:t>:</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DB5B6F73-C874-404F-9723-F804E16C70BC}"/>
                  </a:ext>
                </a:extLst>
              </p:cNvPr>
              <p:cNvSpPr txBox="1"/>
              <p:nvPr/>
            </p:nvSpPr>
            <p:spPr>
              <a:xfrm>
                <a:off x="973874" y="3770627"/>
                <a:ext cx="6590708" cy="523220"/>
              </a:xfrm>
              <a:prstGeom prst="rect">
                <a:avLst/>
              </a:prstGeom>
              <a:noFill/>
            </p:spPr>
            <p:txBody>
              <a:bodyPr wrap="square" rtlCol="0">
                <a:spAutoFit/>
              </a:bodyPr>
              <a:lstStyle/>
              <a:p>
                <a:pPr marL="1163638" indent="-1163638"/>
                <a:r>
                  <a:rPr lang="en-SG" sz="2800" dirty="0"/>
                  <a:t>Case </a:t>
                </a:r>
                <a14:m>
                  <m:oMath xmlns:m="http://schemas.openxmlformats.org/officeDocument/2006/math">
                    <m:r>
                      <a:rPr lang="en-SG" sz="2800" i="1" dirty="0" smtClean="0">
                        <a:latin typeface="Cambria Math" panose="02040503050406030204" pitchFamily="18" charset="0"/>
                      </a:rPr>
                      <m:t>𝑛</m:t>
                    </m:r>
                  </m:oMath>
                </a14:m>
                <a:r>
                  <a:rPr lang="en-SG" sz="2800" dirty="0"/>
                  <a:t>: White balls in </a:t>
                </a:r>
                <a14:m>
                  <m:oMath xmlns:m="http://schemas.openxmlformats.org/officeDocument/2006/math">
                    <m:r>
                      <a:rPr lang="en-SG" sz="2800" i="1" dirty="0" smtClean="0">
                        <a:latin typeface="Cambria Math" panose="02040503050406030204" pitchFamily="18" charset="0"/>
                      </a:rPr>
                      <m:t>𝑛</m:t>
                    </m:r>
                  </m:oMath>
                </a14:m>
                <a:r>
                  <a:rPr lang="en-SG" sz="2800" dirty="0"/>
                  <a:t> consecutive boxes.</a:t>
                </a:r>
              </a:p>
            </p:txBody>
          </p:sp>
        </mc:Choice>
        <mc:Fallback xmlns="">
          <p:sp>
            <p:nvSpPr>
              <p:cNvPr id="15" name="TextBox 14">
                <a:extLst>
                  <a:ext uri="{FF2B5EF4-FFF2-40B4-BE49-F238E27FC236}">
                    <a16:creationId xmlns:a16="http://schemas.microsoft.com/office/drawing/2014/main" id="{DB5B6F73-C874-404F-9723-F804E16C70BC}"/>
                  </a:ext>
                </a:extLst>
              </p:cNvPr>
              <p:cNvSpPr txBox="1">
                <a:spLocks noRot="1" noChangeAspect="1" noMove="1" noResize="1" noEditPoints="1" noAdjustHandles="1" noChangeArrowheads="1" noChangeShapeType="1" noTextEdit="1"/>
              </p:cNvSpPr>
              <p:nvPr/>
            </p:nvSpPr>
            <p:spPr>
              <a:xfrm>
                <a:off x="973874" y="3770627"/>
                <a:ext cx="6590708" cy="523220"/>
              </a:xfrm>
              <a:prstGeom prst="rect">
                <a:avLst/>
              </a:prstGeom>
              <a:blipFill>
                <a:blip r:embed="rId4"/>
                <a:stretch>
                  <a:fillRect l="-1923" t="-14634" b="-317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EDEBC205-A600-4346-A64B-DA042490AED7}"/>
                  </a:ext>
                </a:extLst>
              </p:cNvPr>
              <p:cNvSpPr txBox="1"/>
              <p:nvPr/>
            </p:nvSpPr>
            <p:spPr>
              <a:xfrm>
                <a:off x="988318" y="3212576"/>
                <a:ext cx="6590708" cy="523220"/>
              </a:xfrm>
              <a:prstGeom prst="rect">
                <a:avLst/>
              </a:prstGeom>
              <a:noFill/>
            </p:spPr>
            <p:txBody>
              <a:bodyPr wrap="square" rtlCol="0">
                <a:spAutoFit/>
              </a:bodyPr>
              <a:lstStyle/>
              <a:p>
                <a:pPr marL="1163638" indent="-1163638"/>
                <a:r>
                  <a:rPr lang="en-SG" sz="2800" dirty="0"/>
                  <a:t>Case </a:t>
                </a:r>
                <a14:m>
                  <m:oMath xmlns:m="http://schemas.openxmlformats.org/officeDocument/2006/math">
                    <m:r>
                      <a:rPr lang="en-SG" sz="2800" b="0" i="1" dirty="0" smtClean="0">
                        <a:latin typeface="Cambria Math" panose="02040503050406030204" pitchFamily="18" charset="0"/>
                      </a:rPr>
                      <m:t>3</m:t>
                    </m:r>
                  </m:oMath>
                </a14:m>
                <a:r>
                  <a:rPr lang="en-SG" sz="2800" dirty="0"/>
                  <a:t>: White balls in </a:t>
                </a:r>
                <a14:m>
                  <m:oMath xmlns:m="http://schemas.openxmlformats.org/officeDocument/2006/math">
                    <m:r>
                      <a:rPr lang="en-SG" sz="2800" b="0" i="1" dirty="0" smtClean="0">
                        <a:latin typeface="Cambria Math" panose="02040503050406030204" pitchFamily="18" charset="0"/>
                      </a:rPr>
                      <m:t>3</m:t>
                    </m:r>
                  </m:oMath>
                </a14:m>
                <a:r>
                  <a:rPr lang="en-SG" sz="2800" dirty="0"/>
                  <a:t> consecutive boxes.</a:t>
                </a:r>
              </a:p>
            </p:txBody>
          </p:sp>
        </mc:Choice>
        <mc:Fallback xmlns="">
          <p:sp>
            <p:nvSpPr>
              <p:cNvPr id="16" name="TextBox 15">
                <a:extLst>
                  <a:ext uri="{FF2B5EF4-FFF2-40B4-BE49-F238E27FC236}">
                    <a16:creationId xmlns:a16="http://schemas.microsoft.com/office/drawing/2014/main" id="{EDEBC205-A600-4346-A64B-DA042490AED7}"/>
                  </a:ext>
                </a:extLst>
              </p:cNvPr>
              <p:cNvSpPr txBox="1">
                <a:spLocks noRot="1" noChangeAspect="1" noMove="1" noResize="1" noEditPoints="1" noAdjustHandles="1" noChangeArrowheads="1" noChangeShapeType="1" noTextEdit="1"/>
              </p:cNvSpPr>
              <p:nvPr/>
            </p:nvSpPr>
            <p:spPr>
              <a:xfrm>
                <a:off x="988318" y="3212576"/>
                <a:ext cx="6590708" cy="523220"/>
              </a:xfrm>
              <a:prstGeom prst="rect">
                <a:avLst/>
              </a:prstGeom>
              <a:blipFill>
                <a:blip r:embed="rId5"/>
                <a:stretch>
                  <a:fillRect l="-1923" t="-11628" b="-27907"/>
                </a:stretch>
              </a:blipFill>
            </p:spPr>
            <p:txBody>
              <a:bodyPr/>
              <a:lstStyle/>
              <a:p>
                <a:r>
                  <a:rPr lang="en-US">
                    <a:noFill/>
                  </a:rPr>
                  <a:t> </a:t>
                </a:r>
              </a:p>
            </p:txBody>
          </p:sp>
        </mc:Fallback>
      </mc:AlternateContent>
      <p:sp>
        <p:nvSpPr>
          <p:cNvPr id="17" name="TextBox 16">
            <a:extLst>
              <a:ext uri="{FF2B5EF4-FFF2-40B4-BE49-F238E27FC236}">
                <a16:creationId xmlns:a16="http://schemas.microsoft.com/office/drawing/2014/main" id="{A5DCE885-0E25-4FDA-960D-5D76E2F277E0}"/>
              </a:ext>
            </a:extLst>
          </p:cNvPr>
          <p:cNvSpPr txBox="1"/>
          <p:nvPr/>
        </p:nvSpPr>
        <p:spPr>
          <a:xfrm>
            <a:off x="990346" y="4308249"/>
            <a:ext cx="3293326" cy="523220"/>
          </a:xfrm>
          <a:prstGeom prst="rect">
            <a:avLst/>
          </a:prstGeom>
          <a:noFill/>
        </p:spPr>
        <p:txBody>
          <a:bodyPr wrap="square" rtlCol="0">
            <a:spAutoFit/>
          </a:bodyPr>
          <a:lstStyle/>
          <a:p>
            <a:pPr marL="1163638" indent="-1163638"/>
            <a:r>
              <a:rPr lang="en-SG" sz="2800" dirty="0"/>
              <a:t>What rule to apply?</a:t>
            </a:r>
          </a:p>
        </p:txBody>
      </p:sp>
      <p:sp>
        <p:nvSpPr>
          <p:cNvPr id="18" name="TextBox 17">
            <a:extLst>
              <a:ext uri="{FF2B5EF4-FFF2-40B4-BE49-F238E27FC236}">
                <a16:creationId xmlns:a16="http://schemas.microsoft.com/office/drawing/2014/main" id="{3C7CCB31-B741-4C72-98C3-7ED6C60EA4D3}"/>
              </a:ext>
            </a:extLst>
          </p:cNvPr>
          <p:cNvSpPr txBox="1"/>
          <p:nvPr/>
        </p:nvSpPr>
        <p:spPr>
          <a:xfrm>
            <a:off x="4139239" y="4314073"/>
            <a:ext cx="2392780" cy="523220"/>
          </a:xfrm>
          <a:prstGeom prst="rect">
            <a:avLst/>
          </a:prstGeom>
          <a:noFill/>
        </p:spPr>
        <p:txBody>
          <a:bodyPr wrap="square" rtlCol="0">
            <a:spAutoFit/>
          </a:bodyPr>
          <a:lstStyle/>
          <a:p>
            <a:pPr marL="1163638" indent="-1163638"/>
            <a:r>
              <a:rPr lang="en-SG" sz="2800" dirty="0">
                <a:solidFill>
                  <a:srgbClr val="C00000"/>
                </a:solidFill>
              </a:rPr>
              <a:t>Addition rule.</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36CABD2-4CC7-4154-BF7C-F1C427F16770}"/>
                  </a:ext>
                </a:extLst>
              </p:cNvPr>
              <p:cNvSpPr txBox="1"/>
              <p:nvPr/>
            </p:nvSpPr>
            <p:spPr>
              <a:xfrm>
                <a:off x="7480865" y="2161839"/>
                <a:ext cx="955964"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800" i="1" dirty="0" smtClean="0">
                          <a:solidFill>
                            <a:srgbClr val="C00000"/>
                          </a:solidFill>
                          <a:latin typeface="Cambria Math" panose="02040503050406030204" pitchFamily="18" charset="0"/>
                        </a:rPr>
                        <m:t>𝑛</m:t>
                      </m:r>
                    </m:oMath>
                  </m:oMathPara>
                </a14:m>
                <a:endParaRPr lang="en-SG" sz="2800" dirty="0">
                  <a:solidFill>
                    <a:srgbClr val="C00000"/>
                  </a:solidFill>
                </a:endParaRPr>
              </a:p>
            </p:txBody>
          </p:sp>
        </mc:Choice>
        <mc:Fallback xmlns="">
          <p:sp>
            <p:nvSpPr>
              <p:cNvPr id="3" name="TextBox 2">
                <a:extLst>
                  <a:ext uri="{FF2B5EF4-FFF2-40B4-BE49-F238E27FC236}">
                    <a16:creationId xmlns:a16="http://schemas.microsoft.com/office/drawing/2014/main" id="{936CABD2-4CC7-4154-BF7C-F1C427F16770}"/>
                  </a:ext>
                </a:extLst>
              </p:cNvPr>
              <p:cNvSpPr txBox="1">
                <a:spLocks noRot="1" noChangeAspect="1" noMove="1" noResize="1" noEditPoints="1" noAdjustHandles="1" noChangeArrowheads="1" noChangeShapeType="1" noTextEdit="1"/>
              </p:cNvSpPr>
              <p:nvPr/>
            </p:nvSpPr>
            <p:spPr>
              <a:xfrm>
                <a:off x="7480865" y="2161839"/>
                <a:ext cx="955964"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EB4254C-9B27-4528-AE8D-F6FCF08DE0C9}"/>
                  </a:ext>
                </a:extLst>
              </p:cNvPr>
              <p:cNvSpPr txBox="1"/>
              <p:nvPr/>
            </p:nvSpPr>
            <p:spPr>
              <a:xfrm>
                <a:off x="7131628" y="2708734"/>
                <a:ext cx="166947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800" i="1" dirty="0" smtClean="0">
                          <a:solidFill>
                            <a:srgbClr val="C00000"/>
                          </a:solidFill>
                          <a:latin typeface="Cambria Math" panose="02040503050406030204" pitchFamily="18" charset="0"/>
                        </a:rPr>
                        <m:t>𝑛</m:t>
                      </m:r>
                      <m:r>
                        <a:rPr lang="en-SG" sz="2800" b="0" i="1" dirty="0" smtClean="0">
                          <a:solidFill>
                            <a:srgbClr val="C00000"/>
                          </a:solidFill>
                          <a:latin typeface="Cambria Math" panose="02040503050406030204" pitchFamily="18" charset="0"/>
                        </a:rPr>
                        <m:t>−1</m:t>
                      </m:r>
                    </m:oMath>
                  </m:oMathPara>
                </a14:m>
                <a:endParaRPr lang="en-SG" sz="2800" dirty="0">
                  <a:solidFill>
                    <a:srgbClr val="C00000"/>
                  </a:solidFill>
                </a:endParaRPr>
              </a:p>
            </p:txBody>
          </p:sp>
        </mc:Choice>
        <mc:Fallback xmlns="">
          <p:sp>
            <p:nvSpPr>
              <p:cNvPr id="5" name="TextBox 4">
                <a:extLst>
                  <a:ext uri="{FF2B5EF4-FFF2-40B4-BE49-F238E27FC236}">
                    <a16:creationId xmlns:a16="http://schemas.microsoft.com/office/drawing/2014/main" id="{CEB4254C-9B27-4528-AE8D-F6FCF08DE0C9}"/>
                  </a:ext>
                </a:extLst>
              </p:cNvPr>
              <p:cNvSpPr txBox="1">
                <a:spLocks noRot="1" noChangeAspect="1" noMove="1" noResize="1" noEditPoints="1" noAdjustHandles="1" noChangeArrowheads="1" noChangeShapeType="1" noTextEdit="1"/>
              </p:cNvSpPr>
              <p:nvPr/>
            </p:nvSpPr>
            <p:spPr>
              <a:xfrm>
                <a:off x="7131628" y="2708734"/>
                <a:ext cx="1669473" cy="52322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577FF1C-C64F-4091-8C21-7F4BE00E55E8}"/>
                  </a:ext>
                </a:extLst>
              </p:cNvPr>
              <p:cNvSpPr txBox="1"/>
              <p:nvPr/>
            </p:nvSpPr>
            <p:spPr>
              <a:xfrm>
                <a:off x="7131628" y="3219159"/>
                <a:ext cx="166947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800" i="1" dirty="0" smtClean="0">
                          <a:solidFill>
                            <a:srgbClr val="C00000"/>
                          </a:solidFill>
                          <a:latin typeface="Cambria Math" panose="02040503050406030204" pitchFamily="18" charset="0"/>
                        </a:rPr>
                        <m:t>𝑛</m:t>
                      </m:r>
                      <m:r>
                        <a:rPr lang="en-SG" sz="2800" b="0" i="1" dirty="0" smtClean="0">
                          <a:solidFill>
                            <a:srgbClr val="C00000"/>
                          </a:solidFill>
                          <a:latin typeface="Cambria Math" panose="02040503050406030204" pitchFamily="18" charset="0"/>
                        </a:rPr>
                        <m:t>−2</m:t>
                      </m:r>
                    </m:oMath>
                  </m:oMathPara>
                </a14:m>
                <a:endParaRPr lang="en-SG" sz="2800" dirty="0">
                  <a:solidFill>
                    <a:srgbClr val="C00000"/>
                  </a:solidFill>
                </a:endParaRPr>
              </a:p>
            </p:txBody>
          </p:sp>
        </mc:Choice>
        <mc:Fallback xmlns="">
          <p:sp>
            <p:nvSpPr>
              <p:cNvPr id="6" name="TextBox 5">
                <a:extLst>
                  <a:ext uri="{FF2B5EF4-FFF2-40B4-BE49-F238E27FC236}">
                    <a16:creationId xmlns:a16="http://schemas.microsoft.com/office/drawing/2014/main" id="{4577FF1C-C64F-4091-8C21-7F4BE00E55E8}"/>
                  </a:ext>
                </a:extLst>
              </p:cNvPr>
              <p:cNvSpPr txBox="1">
                <a:spLocks noRot="1" noChangeAspect="1" noMove="1" noResize="1" noEditPoints="1" noAdjustHandles="1" noChangeArrowheads="1" noChangeShapeType="1" noTextEdit="1"/>
              </p:cNvSpPr>
              <p:nvPr/>
            </p:nvSpPr>
            <p:spPr>
              <a:xfrm>
                <a:off x="7131628" y="3219159"/>
                <a:ext cx="1669473" cy="5232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200BF52-717F-405F-8D2A-E64F851B4D12}"/>
                  </a:ext>
                </a:extLst>
              </p:cNvPr>
              <p:cNvSpPr txBox="1"/>
              <p:nvPr/>
            </p:nvSpPr>
            <p:spPr>
              <a:xfrm>
                <a:off x="7451718" y="3791970"/>
                <a:ext cx="1029292"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2800" i="1" dirty="0" smtClean="0">
                          <a:solidFill>
                            <a:srgbClr val="C00000"/>
                          </a:solidFill>
                          <a:latin typeface="Cambria Math" panose="02040503050406030204" pitchFamily="18" charset="0"/>
                        </a:rPr>
                        <m:t>1</m:t>
                      </m:r>
                    </m:oMath>
                  </m:oMathPara>
                </a14:m>
                <a:endParaRPr lang="en-SG" sz="2800" dirty="0">
                  <a:solidFill>
                    <a:srgbClr val="C00000"/>
                  </a:solidFill>
                </a:endParaRPr>
              </a:p>
            </p:txBody>
          </p:sp>
        </mc:Choice>
        <mc:Fallback xmlns="">
          <p:sp>
            <p:nvSpPr>
              <p:cNvPr id="8" name="TextBox 7">
                <a:extLst>
                  <a:ext uri="{FF2B5EF4-FFF2-40B4-BE49-F238E27FC236}">
                    <a16:creationId xmlns:a16="http://schemas.microsoft.com/office/drawing/2014/main" id="{4200BF52-717F-405F-8D2A-E64F851B4D12}"/>
                  </a:ext>
                </a:extLst>
              </p:cNvPr>
              <p:cNvSpPr txBox="1">
                <a:spLocks noRot="1" noChangeAspect="1" noMove="1" noResize="1" noEditPoints="1" noAdjustHandles="1" noChangeArrowheads="1" noChangeShapeType="1" noTextEdit="1"/>
              </p:cNvSpPr>
              <p:nvPr/>
            </p:nvSpPr>
            <p:spPr>
              <a:xfrm>
                <a:off x="7451718" y="3791970"/>
                <a:ext cx="1029292" cy="52322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936C946-761C-A649-99D5-24B7CD80CDC5}"/>
                  </a:ext>
                </a:extLst>
              </p:cNvPr>
              <p:cNvSpPr txBox="1"/>
              <p:nvPr/>
            </p:nvSpPr>
            <p:spPr>
              <a:xfrm>
                <a:off x="6235520" y="4844411"/>
                <a:ext cx="5654112" cy="1699440"/>
              </a:xfrm>
              <a:prstGeom prst="rect">
                <a:avLst/>
              </a:prstGeom>
              <a:noFill/>
            </p:spPr>
            <p:txBody>
              <a:bodyPr wrap="none" rtlCol="0">
                <a:spAutoFit/>
              </a:bodyPr>
              <a:lstStyle/>
              <a:p>
                <a:r>
                  <a:rPr lang="en-SG" sz="2800" dirty="0">
                    <a:solidFill>
                      <a:srgbClr val="0000FF"/>
                    </a:solidFill>
                  </a:rPr>
                  <a:t>2. Therefore, total number of ways is</a:t>
                </a:r>
              </a:p>
              <a:p>
                <a:pPr/>
                <a14:m>
                  <m:oMathPara xmlns:m="http://schemas.openxmlformats.org/officeDocument/2006/math">
                    <m:oMathParaPr>
                      <m:jc m:val="centerGroup"/>
                    </m:oMathParaPr>
                    <m:oMath xmlns:m="http://schemas.openxmlformats.org/officeDocument/2006/math">
                      <m:nary>
                        <m:naryPr>
                          <m:chr m:val="∑"/>
                          <m:limLoc m:val="undOvr"/>
                          <m:ctrlPr>
                            <a:rPr lang="en-SG" sz="2800" i="1">
                              <a:solidFill>
                                <a:srgbClr val="0000FF"/>
                              </a:solidFill>
                              <a:latin typeface="Cambria Math" panose="02040503050406030204" pitchFamily="18" charset="0"/>
                            </a:rPr>
                          </m:ctrlPr>
                        </m:naryPr>
                        <m:sub>
                          <m:r>
                            <a:rPr lang="en-US" sz="2800" i="1">
                              <a:solidFill>
                                <a:srgbClr val="0000FF"/>
                              </a:solidFill>
                              <a:latin typeface="Cambria Math" panose="02040503050406030204" pitchFamily="18" charset="0"/>
                            </a:rPr>
                            <m:t>𝑘</m:t>
                          </m:r>
                          <m:r>
                            <a:rPr lang="en-US" sz="2800" i="1">
                              <a:solidFill>
                                <a:srgbClr val="0000FF"/>
                              </a:solidFill>
                              <a:latin typeface="Cambria Math" panose="02040503050406030204" pitchFamily="18" charset="0"/>
                            </a:rPr>
                            <m:t>=1</m:t>
                          </m:r>
                        </m:sub>
                        <m:sup>
                          <m:r>
                            <a:rPr lang="en-US" sz="2800" i="1">
                              <a:solidFill>
                                <a:srgbClr val="0000FF"/>
                              </a:solidFill>
                              <a:latin typeface="Cambria Math" panose="02040503050406030204" pitchFamily="18" charset="0"/>
                            </a:rPr>
                            <m:t>𝑛</m:t>
                          </m:r>
                        </m:sup>
                        <m:e>
                          <m:r>
                            <a:rPr lang="en-US" sz="2800" i="1">
                              <a:solidFill>
                                <a:srgbClr val="0000FF"/>
                              </a:solidFill>
                              <a:latin typeface="Cambria Math" panose="02040503050406030204" pitchFamily="18" charset="0"/>
                            </a:rPr>
                            <m:t>(</m:t>
                          </m:r>
                          <m:r>
                            <a:rPr lang="en-US" sz="2800" i="1">
                              <a:solidFill>
                                <a:srgbClr val="0000FF"/>
                              </a:solidFill>
                              <a:latin typeface="Cambria Math" panose="02040503050406030204" pitchFamily="18" charset="0"/>
                            </a:rPr>
                            <m:t>𝑛</m:t>
                          </m:r>
                          <m:r>
                            <a:rPr lang="en-US" sz="2800" i="1">
                              <a:solidFill>
                                <a:srgbClr val="0000FF"/>
                              </a:solidFill>
                              <a:latin typeface="Cambria Math" panose="02040503050406030204" pitchFamily="18" charset="0"/>
                            </a:rPr>
                            <m:t>−</m:t>
                          </m:r>
                          <m:r>
                            <a:rPr lang="en-US" sz="2800" i="1">
                              <a:solidFill>
                                <a:srgbClr val="0000FF"/>
                              </a:solidFill>
                              <a:latin typeface="Cambria Math" panose="02040503050406030204" pitchFamily="18" charset="0"/>
                            </a:rPr>
                            <m:t>𝑘</m:t>
                          </m:r>
                          <m:r>
                            <a:rPr lang="en-US" sz="2800" i="1">
                              <a:solidFill>
                                <a:srgbClr val="0000FF"/>
                              </a:solidFill>
                              <a:latin typeface="Cambria Math" panose="02040503050406030204" pitchFamily="18" charset="0"/>
                            </a:rPr>
                            <m:t>+1)</m:t>
                          </m:r>
                        </m:e>
                      </m:nary>
                      <m:r>
                        <a:rPr lang="en-US" sz="2800" i="1">
                          <a:solidFill>
                            <a:srgbClr val="0000FF"/>
                          </a:solidFill>
                          <a:latin typeface="Cambria Math" panose="02040503050406030204" pitchFamily="18" charset="0"/>
                        </a:rPr>
                        <m:t>=</m:t>
                      </m:r>
                      <m:nary>
                        <m:naryPr>
                          <m:chr m:val="∑"/>
                          <m:limLoc m:val="undOvr"/>
                          <m:ctrlPr>
                            <a:rPr lang="en-SG" sz="2800" i="1">
                              <a:solidFill>
                                <a:srgbClr val="0000FF"/>
                              </a:solidFill>
                              <a:latin typeface="Cambria Math" panose="02040503050406030204" pitchFamily="18" charset="0"/>
                            </a:rPr>
                          </m:ctrlPr>
                        </m:naryPr>
                        <m:sub>
                          <m:r>
                            <a:rPr lang="en-US" sz="2800" i="1">
                              <a:solidFill>
                                <a:srgbClr val="0000FF"/>
                              </a:solidFill>
                              <a:latin typeface="Cambria Math" panose="02040503050406030204" pitchFamily="18" charset="0"/>
                            </a:rPr>
                            <m:t>𝑘</m:t>
                          </m:r>
                          <m:r>
                            <a:rPr lang="en-US" sz="2800" i="1">
                              <a:solidFill>
                                <a:srgbClr val="0000FF"/>
                              </a:solidFill>
                              <a:latin typeface="Cambria Math" panose="02040503050406030204" pitchFamily="18" charset="0"/>
                            </a:rPr>
                            <m:t>=1</m:t>
                          </m:r>
                        </m:sub>
                        <m:sup>
                          <m:r>
                            <a:rPr lang="en-US" sz="2800" i="1">
                              <a:solidFill>
                                <a:srgbClr val="0000FF"/>
                              </a:solidFill>
                              <a:latin typeface="Cambria Math" panose="02040503050406030204" pitchFamily="18" charset="0"/>
                            </a:rPr>
                            <m:t>𝑛</m:t>
                          </m:r>
                        </m:sup>
                        <m:e>
                          <m:r>
                            <a:rPr lang="en-US" sz="2800" i="1">
                              <a:solidFill>
                                <a:srgbClr val="0000FF"/>
                              </a:solidFill>
                              <a:latin typeface="Cambria Math" panose="02040503050406030204" pitchFamily="18" charset="0"/>
                            </a:rPr>
                            <m:t>𝑘</m:t>
                          </m:r>
                        </m:e>
                      </m:nary>
                      <m:r>
                        <a:rPr lang="en-US" sz="2800" i="1">
                          <a:solidFill>
                            <a:srgbClr val="0000FF"/>
                          </a:solidFill>
                          <a:latin typeface="Cambria Math" panose="02040503050406030204" pitchFamily="18" charset="0"/>
                        </a:rPr>
                        <m:t>=</m:t>
                      </m:r>
                      <m:f>
                        <m:fPr>
                          <m:ctrlPr>
                            <a:rPr lang="en-SG" sz="2800" i="1" smtClean="0">
                              <a:solidFill>
                                <a:srgbClr val="C00000"/>
                              </a:solidFill>
                              <a:latin typeface="Cambria Math" panose="02040503050406030204" pitchFamily="18" charset="0"/>
                            </a:rPr>
                          </m:ctrlPr>
                        </m:fPr>
                        <m:num>
                          <m:r>
                            <a:rPr lang="en-US" sz="2800" i="1">
                              <a:solidFill>
                                <a:srgbClr val="C00000"/>
                              </a:solidFill>
                              <a:latin typeface="Cambria Math" panose="02040503050406030204" pitchFamily="18" charset="0"/>
                            </a:rPr>
                            <m:t>𝑛</m:t>
                          </m:r>
                          <m:d>
                            <m:dPr>
                              <m:ctrlPr>
                                <a:rPr lang="en-SG" sz="2800" i="1">
                                  <a:solidFill>
                                    <a:srgbClr val="C00000"/>
                                  </a:solidFill>
                                  <a:latin typeface="Cambria Math" panose="02040503050406030204" pitchFamily="18" charset="0"/>
                                </a:rPr>
                              </m:ctrlPr>
                            </m:dPr>
                            <m:e>
                              <m:r>
                                <a:rPr lang="en-US" sz="2800" i="1">
                                  <a:solidFill>
                                    <a:srgbClr val="C00000"/>
                                  </a:solidFill>
                                  <a:latin typeface="Cambria Math" panose="02040503050406030204" pitchFamily="18" charset="0"/>
                                </a:rPr>
                                <m:t>𝑛</m:t>
                              </m:r>
                              <m:r>
                                <a:rPr lang="en-US" sz="2800" i="1">
                                  <a:solidFill>
                                    <a:srgbClr val="C00000"/>
                                  </a:solidFill>
                                  <a:latin typeface="Cambria Math" panose="02040503050406030204" pitchFamily="18" charset="0"/>
                                </a:rPr>
                                <m:t>+1</m:t>
                              </m:r>
                            </m:e>
                          </m:d>
                        </m:num>
                        <m:den>
                          <m:r>
                            <a:rPr lang="en-US" sz="2800" i="1">
                              <a:solidFill>
                                <a:srgbClr val="C00000"/>
                              </a:solidFill>
                              <a:latin typeface="Cambria Math" panose="02040503050406030204" pitchFamily="18" charset="0"/>
                            </a:rPr>
                            <m:t>2</m:t>
                          </m:r>
                        </m:den>
                      </m:f>
                    </m:oMath>
                  </m:oMathPara>
                </a14:m>
                <a:endParaRPr lang="en-SG" sz="2800" dirty="0">
                  <a:solidFill>
                    <a:srgbClr val="0000FF"/>
                  </a:solidFill>
                </a:endParaRPr>
              </a:p>
            </p:txBody>
          </p:sp>
        </mc:Choice>
        <mc:Fallback xmlns="">
          <p:sp>
            <p:nvSpPr>
              <p:cNvPr id="4" name="TextBox 3">
                <a:extLst>
                  <a:ext uri="{FF2B5EF4-FFF2-40B4-BE49-F238E27FC236}">
                    <a16:creationId xmlns:a16="http://schemas.microsoft.com/office/drawing/2014/main" id="{E936C946-761C-A649-99D5-24B7CD80CDC5}"/>
                  </a:ext>
                </a:extLst>
              </p:cNvPr>
              <p:cNvSpPr txBox="1">
                <a:spLocks noRot="1" noChangeAspect="1" noMove="1" noResize="1" noEditPoints="1" noAdjustHandles="1" noChangeArrowheads="1" noChangeShapeType="1" noTextEdit="1"/>
              </p:cNvSpPr>
              <p:nvPr/>
            </p:nvSpPr>
            <p:spPr>
              <a:xfrm>
                <a:off x="6235520" y="4844411"/>
                <a:ext cx="5654112" cy="1699440"/>
              </a:xfrm>
              <a:prstGeom prst="rect">
                <a:avLst/>
              </a:prstGeom>
              <a:blipFill>
                <a:blip r:embed="rId10"/>
                <a:stretch>
                  <a:fillRect l="-2265" t="-35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DC50699-B5AB-3844-87ED-D10D1C15835A}"/>
                  </a:ext>
                </a:extLst>
              </p:cNvPr>
              <p:cNvSpPr txBox="1"/>
              <p:nvPr/>
            </p:nvSpPr>
            <p:spPr>
              <a:xfrm>
                <a:off x="376619" y="4802665"/>
                <a:ext cx="5719381" cy="1384995"/>
              </a:xfrm>
              <a:prstGeom prst="rect">
                <a:avLst/>
              </a:prstGeom>
              <a:noFill/>
            </p:spPr>
            <p:txBody>
              <a:bodyPr wrap="square" rtlCol="0">
                <a:spAutoFit/>
              </a:bodyPr>
              <a:lstStyle/>
              <a:p>
                <a:r>
                  <a:rPr lang="en-US" sz="2800" dirty="0">
                    <a:solidFill>
                      <a:srgbClr val="0000FF"/>
                    </a:solidFill>
                  </a:rPr>
                  <a:t>1. For </a:t>
                </a:r>
                <a14:m>
                  <m:oMath xmlns:m="http://schemas.openxmlformats.org/officeDocument/2006/math">
                    <m:r>
                      <a:rPr lang="en-US" sz="2800" i="1">
                        <a:solidFill>
                          <a:srgbClr val="0000FF"/>
                        </a:solidFill>
                        <a:latin typeface="Cambria Math" panose="02040503050406030204" pitchFamily="18" charset="0"/>
                      </a:rPr>
                      <m:t>𝑘</m:t>
                    </m:r>
                    <m:r>
                      <a:rPr lang="en-US" sz="2800" i="1">
                        <a:solidFill>
                          <a:srgbClr val="0000FF"/>
                        </a:solidFill>
                        <a:latin typeface="Cambria Math" panose="02040503050406030204" pitchFamily="18" charset="0"/>
                      </a:rPr>
                      <m:t> (1 ≤</m:t>
                    </m:r>
                    <m:r>
                      <a:rPr lang="en-US" sz="2800" i="1">
                        <a:solidFill>
                          <a:srgbClr val="0000FF"/>
                        </a:solidFill>
                        <a:latin typeface="Cambria Math" panose="02040503050406030204" pitchFamily="18" charset="0"/>
                      </a:rPr>
                      <m:t>𝑘</m:t>
                    </m:r>
                    <m:r>
                      <a:rPr lang="en-US" sz="2800" i="1">
                        <a:solidFill>
                          <a:srgbClr val="0000FF"/>
                        </a:solidFill>
                        <a:latin typeface="Cambria Math" panose="02040503050406030204" pitchFamily="18" charset="0"/>
                      </a:rPr>
                      <m:t>≤</m:t>
                    </m:r>
                    <m:r>
                      <a:rPr lang="en-US" sz="2800" i="1">
                        <a:solidFill>
                          <a:srgbClr val="0000FF"/>
                        </a:solidFill>
                        <a:latin typeface="Cambria Math" panose="02040503050406030204" pitchFamily="18" charset="0"/>
                      </a:rPr>
                      <m:t>𝑛</m:t>
                    </m:r>
                    <m:r>
                      <a:rPr lang="en-US" sz="2800" i="1">
                        <a:solidFill>
                          <a:srgbClr val="0000FF"/>
                        </a:solidFill>
                        <a:latin typeface="Cambria Math" panose="02040503050406030204" pitchFamily="18" charset="0"/>
                      </a:rPr>
                      <m:t>)</m:t>
                    </m:r>
                  </m:oMath>
                </a14:m>
                <a:r>
                  <a:rPr lang="en-US" sz="2800" dirty="0">
                    <a:solidFill>
                      <a:srgbClr val="0000FF"/>
                    </a:solidFill>
                  </a:rPr>
                  <a:t> consecutively numbered boxes that contain white balls, there are </a:t>
                </a:r>
                <a14:m>
                  <m:oMath xmlns:m="http://schemas.openxmlformats.org/officeDocument/2006/math">
                    <m:r>
                      <a:rPr lang="en-US" sz="2800" i="1">
                        <a:solidFill>
                          <a:srgbClr val="0000FF"/>
                        </a:solidFill>
                        <a:latin typeface="Cambria Math" panose="02040503050406030204" pitchFamily="18" charset="0"/>
                      </a:rPr>
                      <m:t>𝑛</m:t>
                    </m:r>
                    <m:r>
                      <a:rPr lang="en-US" sz="2800" i="1">
                        <a:solidFill>
                          <a:srgbClr val="0000FF"/>
                        </a:solidFill>
                        <a:latin typeface="Cambria Math" panose="02040503050406030204" pitchFamily="18" charset="0"/>
                      </a:rPr>
                      <m:t>−</m:t>
                    </m:r>
                    <m:r>
                      <a:rPr lang="en-US" sz="2800" i="1">
                        <a:solidFill>
                          <a:srgbClr val="0000FF"/>
                        </a:solidFill>
                        <a:latin typeface="Cambria Math" panose="02040503050406030204" pitchFamily="18" charset="0"/>
                      </a:rPr>
                      <m:t>𝑘</m:t>
                    </m:r>
                    <m:r>
                      <a:rPr lang="en-US" sz="2800" i="1">
                        <a:solidFill>
                          <a:srgbClr val="0000FF"/>
                        </a:solidFill>
                        <a:latin typeface="Cambria Math" panose="02040503050406030204" pitchFamily="18" charset="0"/>
                      </a:rPr>
                      <m:t>+1</m:t>
                    </m:r>
                  </m:oMath>
                </a14:m>
                <a:r>
                  <a:rPr lang="en-US" sz="2800" dirty="0">
                    <a:solidFill>
                      <a:srgbClr val="0000FF"/>
                    </a:solidFill>
                  </a:rPr>
                  <a:t> ways.</a:t>
                </a:r>
                <a:r>
                  <a:rPr lang="en-SG" sz="2800" dirty="0">
                    <a:solidFill>
                      <a:srgbClr val="0000FF"/>
                    </a:solidFill>
                    <a:effectLst/>
                  </a:rPr>
                  <a:t> </a:t>
                </a:r>
                <a:endParaRPr lang="en-US" sz="2800" dirty="0">
                  <a:solidFill>
                    <a:srgbClr val="0000FF"/>
                  </a:solidFill>
                </a:endParaRPr>
              </a:p>
            </p:txBody>
          </p:sp>
        </mc:Choice>
        <mc:Fallback xmlns="">
          <p:sp>
            <p:nvSpPr>
              <p:cNvPr id="7" name="TextBox 6">
                <a:extLst>
                  <a:ext uri="{FF2B5EF4-FFF2-40B4-BE49-F238E27FC236}">
                    <a16:creationId xmlns:a16="http://schemas.microsoft.com/office/drawing/2014/main" id="{ADC50699-B5AB-3844-87ED-D10D1C15835A}"/>
                  </a:ext>
                </a:extLst>
              </p:cNvPr>
              <p:cNvSpPr txBox="1">
                <a:spLocks noRot="1" noChangeAspect="1" noMove="1" noResize="1" noEditPoints="1" noAdjustHandles="1" noChangeArrowheads="1" noChangeShapeType="1" noTextEdit="1"/>
              </p:cNvSpPr>
              <p:nvPr/>
            </p:nvSpPr>
            <p:spPr>
              <a:xfrm>
                <a:off x="376619" y="4802665"/>
                <a:ext cx="5719381" cy="1384995"/>
              </a:xfrm>
              <a:prstGeom prst="rect">
                <a:avLst/>
              </a:prstGeom>
              <a:blipFill>
                <a:blip r:embed="rId11"/>
                <a:stretch>
                  <a:fillRect l="-2212" t="-5455" b="-10909"/>
                </a:stretch>
              </a:blipFill>
            </p:spPr>
            <p:txBody>
              <a:bodyPr/>
              <a:lstStyle/>
              <a:p>
                <a:r>
                  <a:rPr lang="en-US">
                    <a:noFill/>
                  </a:rPr>
                  <a:t> </a:t>
                </a:r>
              </a:p>
            </p:txBody>
          </p:sp>
        </mc:Fallback>
      </mc:AlternateContent>
    </p:spTree>
    <p:extLst>
      <p:ext uri="{BB962C8B-B14F-4D97-AF65-F5344CB8AC3E}">
        <p14:creationId xmlns:p14="http://schemas.microsoft.com/office/powerpoint/2010/main" val="1129561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dissolve">
                                      <p:cBhvr>
                                        <p:cTn id="7" dur="500"/>
                                        <p:tgtEl>
                                          <p:spTgt spid="4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dissolv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dissolve">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dissolv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dissolve">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dissolve">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dissolve">
                                      <p:cBhvr>
                                        <p:cTn id="42" dur="50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dissolve">
                                      <p:cBhvr>
                                        <p:cTn id="47" dur="500"/>
                                        <p:tgtEl>
                                          <p:spTgt spid="8"/>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dissolve">
                                      <p:cBhvr>
                                        <p:cTn id="52" dur="500"/>
                                        <p:tgtEl>
                                          <p:spTgt spid="17"/>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dissolve">
                                      <p:cBhvr>
                                        <p:cTn id="57" dur="500"/>
                                        <p:tgtEl>
                                          <p:spTgt spid="18"/>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nodeType="clickEffect">
                                  <p:stCondLst>
                                    <p:cond delay="0"/>
                                  </p:stCondLst>
                                  <p:childTnLst>
                                    <p:set>
                                      <p:cBhvr>
                                        <p:cTn id="65" dur="1" fill="hold">
                                          <p:stCondLst>
                                            <p:cond delay="0"/>
                                          </p:stCondLst>
                                        </p:cTn>
                                        <p:tgtEl>
                                          <p:spTgt spid="4">
                                            <p:txEl>
                                              <p:pRg st="0" end="0"/>
                                            </p:txEl>
                                          </p:spTgt>
                                        </p:tgtEl>
                                        <p:attrNameLst>
                                          <p:attrName>style.visibility</p:attrName>
                                        </p:attrNameLst>
                                      </p:cBhvr>
                                      <p:to>
                                        <p:strVal val="visible"/>
                                      </p:to>
                                    </p:set>
                                  </p:childTnLst>
                                </p:cTn>
                              </p:par>
                              <p:par>
                                <p:cTn id="66" presetID="1" presetClass="entr" presetSubtype="0" fill="hold" nodeType="withEffect">
                                  <p:stCondLst>
                                    <p:cond delay="0"/>
                                  </p:stCondLst>
                                  <p:childTnLst>
                                    <p:set>
                                      <p:cBhvr>
                                        <p:cTn id="67"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12" grpId="0"/>
      <p:bldP spid="13" grpId="0"/>
      <p:bldP spid="15" grpId="0"/>
      <p:bldP spid="16" grpId="0"/>
      <p:bldP spid="17" grpId="0"/>
      <p:bldP spid="18" grpId="0"/>
      <p:bldP spid="3" grpId="0"/>
      <p:bldP spid="5" grpId="0"/>
      <p:bldP spid="6"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9532D-7B1D-4496-906D-F1887FE508D2}"/>
              </a:ext>
            </a:extLst>
          </p:cNvPr>
          <p:cNvSpPr>
            <a:spLocks noGrp="1"/>
          </p:cNvSpPr>
          <p:nvPr>
            <p:ph type="title"/>
          </p:nvPr>
        </p:nvSpPr>
        <p:spPr>
          <a:xfrm>
            <a:off x="314662" y="226852"/>
            <a:ext cx="1097585" cy="895927"/>
          </a:xfrm>
        </p:spPr>
        <p:txBody>
          <a:bodyPr>
            <a:normAutofit/>
          </a:bodyPr>
          <a:lstStyle/>
          <a:p>
            <a:pPr>
              <a:lnSpc>
                <a:spcPct val="100000"/>
              </a:lnSpc>
            </a:pPr>
            <a:r>
              <a:rPr lang="en-SG" dirty="0" err="1">
                <a:solidFill>
                  <a:schemeClr val="bg2">
                    <a:lumMod val="50000"/>
                  </a:schemeClr>
                </a:solidFill>
              </a:rPr>
              <a:t>Q5</a:t>
            </a:r>
            <a:r>
              <a:rPr lang="en-SG" dirty="0">
                <a:solidFill>
                  <a:schemeClr val="bg2">
                    <a:lumMod val="50000"/>
                  </a:schemeClr>
                </a:solidFill>
              </a:rPr>
              <a:t>.</a:t>
            </a:r>
            <a:endParaRPr lang="en-SG" dirty="0">
              <a:solidFill>
                <a:schemeClr val="bg2">
                  <a:lumMod val="50000"/>
                </a:schemeClr>
              </a:solidFill>
              <a:latin typeface="Cambria Math" panose="02040503050406030204" pitchFamily="18" charset="0"/>
              <a:ea typeface="Cambria Math" panose="02040503050406030204" pitchFamily="18" charset="0"/>
            </a:endParaRPr>
          </a:p>
        </p:txBody>
      </p:sp>
      <p:sp>
        <p:nvSpPr>
          <p:cNvPr id="10" name="Slide Number Placeholder 1"/>
          <p:cNvSpPr>
            <a:spLocks noGrp="1"/>
          </p:cNvSpPr>
          <p:nvPr>
            <p:ph type="sldNum" sz="quarter" idx="12"/>
          </p:nvPr>
        </p:nvSpPr>
        <p:spPr>
          <a:xfrm>
            <a:off x="10485783" y="6492875"/>
            <a:ext cx="1706217" cy="365125"/>
          </a:xfrm>
        </p:spPr>
        <p:txBody>
          <a:bodyPr/>
          <a:lstStyle/>
          <a:p>
            <a:fld id="{576A5E36-E009-4840-A577-F8CF29116582}" type="slidenum">
              <a:rPr lang="en-US" sz="1600" smtClean="0">
                <a:solidFill>
                  <a:schemeClr val="bg1"/>
                </a:solidFill>
              </a:rPr>
              <a:t>8</a:t>
            </a:fld>
            <a:endParaRPr lang="en-US" sz="1600" dirty="0">
              <a:solidFill>
                <a:schemeClr val="bg1"/>
              </a:solidFill>
            </a:endParaRPr>
          </a:p>
        </p:txBody>
      </p:sp>
      <p:sp>
        <p:nvSpPr>
          <p:cNvPr id="14" name="TextBox 13">
            <a:extLst>
              <a:ext uri="{FF2B5EF4-FFF2-40B4-BE49-F238E27FC236}">
                <a16:creationId xmlns:a16="http://schemas.microsoft.com/office/drawing/2014/main" id="{59FB7879-BCF9-4B1A-A2CC-BB0778FBDB53}"/>
              </a:ext>
            </a:extLst>
          </p:cNvPr>
          <p:cNvSpPr txBox="1"/>
          <p:nvPr/>
        </p:nvSpPr>
        <p:spPr>
          <a:xfrm>
            <a:off x="729391" y="1269468"/>
            <a:ext cx="10733217" cy="954107"/>
          </a:xfrm>
          <a:prstGeom prst="rect">
            <a:avLst/>
          </a:prstGeom>
          <a:solidFill>
            <a:srgbClr val="CCECFF"/>
          </a:solidFill>
        </p:spPr>
        <p:txBody>
          <a:bodyPr wrap="square" rtlCol="0">
            <a:spAutoFit/>
          </a:bodyPr>
          <a:lstStyle/>
          <a:p>
            <a:pPr marL="623888" indent="-623888"/>
            <a:r>
              <a:rPr lang="en-SG" sz="2800" dirty="0">
                <a:solidFill>
                  <a:srgbClr val="0000FF"/>
                </a:solidFill>
              </a:rPr>
              <a:t>(a)	In how many ways can 8 boys and 4 girls sit around a circular table, so that no two girls sit together?</a:t>
            </a:r>
          </a:p>
        </p:txBody>
      </p:sp>
      <p:pic>
        <p:nvPicPr>
          <p:cNvPr id="8" name="Picture 7">
            <a:extLst>
              <a:ext uri="{FF2B5EF4-FFF2-40B4-BE49-F238E27FC236}">
                <a16:creationId xmlns:a16="http://schemas.microsoft.com/office/drawing/2014/main" id="{4FFA56A2-0C16-4C8D-8E37-46CB91BD81E6}"/>
              </a:ext>
            </a:extLst>
          </p:cNvPr>
          <p:cNvPicPr>
            <a:picLocks noChangeAspect="1"/>
          </p:cNvPicPr>
          <p:nvPr/>
        </p:nvPicPr>
        <p:blipFill>
          <a:blip r:embed="rId2">
            <a:duotone>
              <a:schemeClr val="bg2">
                <a:shade val="45000"/>
                <a:satMod val="135000"/>
              </a:schemeClr>
              <a:prstClr val="white"/>
            </a:duotone>
          </a:blip>
          <a:stretch>
            <a:fillRect/>
          </a:stretch>
        </p:blipFill>
        <p:spPr>
          <a:xfrm>
            <a:off x="7712811" y="348220"/>
            <a:ext cx="588303" cy="937082"/>
          </a:xfrm>
          <a:prstGeom prst="rect">
            <a:avLst/>
          </a:prstGeom>
          <a:solidFill>
            <a:srgbClr val="FFC000"/>
          </a:solidFill>
        </p:spPr>
      </p:pic>
      <p:pic>
        <p:nvPicPr>
          <p:cNvPr id="12" name="Picture 11">
            <a:extLst>
              <a:ext uri="{FF2B5EF4-FFF2-40B4-BE49-F238E27FC236}">
                <a16:creationId xmlns:a16="http://schemas.microsoft.com/office/drawing/2014/main" id="{53A518C9-D2FA-4ACD-883A-E2228CD2A71A}"/>
              </a:ext>
            </a:extLst>
          </p:cNvPr>
          <p:cNvPicPr>
            <a:picLocks noChangeAspect="1"/>
          </p:cNvPicPr>
          <p:nvPr/>
        </p:nvPicPr>
        <p:blipFill>
          <a:blip r:embed="rId3"/>
          <a:stretch>
            <a:fillRect/>
          </a:stretch>
        </p:blipFill>
        <p:spPr>
          <a:xfrm>
            <a:off x="3435563" y="385900"/>
            <a:ext cx="506896" cy="861723"/>
          </a:xfrm>
          <a:prstGeom prst="rect">
            <a:avLst/>
          </a:prstGeom>
        </p:spPr>
      </p:pic>
      <p:pic>
        <p:nvPicPr>
          <p:cNvPr id="52" name="Picture 51">
            <a:extLst>
              <a:ext uri="{FF2B5EF4-FFF2-40B4-BE49-F238E27FC236}">
                <a16:creationId xmlns:a16="http://schemas.microsoft.com/office/drawing/2014/main" id="{910B7B4E-0990-46A5-9B8B-451E511405F7}"/>
              </a:ext>
            </a:extLst>
          </p:cNvPr>
          <p:cNvPicPr>
            <a:picLocks noChangeAspect="1"/>
          </p:cNvPicPr>
          <p:nvPr/>
        </p:nvPicPr>
        <p:blipFill>
          <a:blip r:embed="rId3"/>
          <a:stretch>
            <a:fillRect/>
          </a:stretch>
        </p:blipFill>
        <p:spPr>
          <a:xfrm>
            <a:off x="3948063" y="385900"/>
            <a:ext cx="506896" cy="861723"/>
          </a:xfrm>
          <a:prstGeom prst="rect">
            <a:avLst/>
          </a:prstGeom>
        </p:spPr>
      </p:pic>
      <p:pic>
        <p:nvPicPr>
          <p:cNvPr id="54" name="Picture 53">
            <a:extLst>
              <a:ext uri="{FF2B5EF4-FFF2-40B4-BE49-F238E27FC236}">
                <a16:creationId xmlns:a16="http://schemas.microsoft.com/office/drawing/2014/main" id="{88624C06-E511-4067-92F1-1A264420B9BF}"/>
              </a:ext>
            </a:extLst>
          </p:cNvPr>
          <p:cNvPicPr>
            <a:picLocks noChangeAspect="1"/>
          </p:cNvPicPr>
          <p:nvPr/>
        </p:nvPicPr>
        <p:blipFill>
          <a:blip r:embed="rId3"/>
          <a:stretch>
            <a:fillRect/>
          </a:stretch>
        </p:blipFill>
        <p:spPr>
          <a:xfrm>
            <a:off x="4460563" y="385900"/>
            <a:ext cx="506896" cy="861723"/>
          </a:xfrm>
          <a:prstGeom prst="rect">
            <a:avLst/>
          </a:prstGeom>
        </p:spPr>
      </p:pic>
      <p:pic>
        <p:nvPicPr>
          <p:cNvPr id="56" name="Picture 55">
            <a:extLst>
              <a:ext uri="{FF2B5EF4-FFF2-40B4-BE49-F238E27FC236}">
                <a16:creationId xmlns:a16="http://schemas.microsoft.com/office/drawing/2014/main" id="{FDE05404-6800-4360-A552-56AD1AB31843}"/>
              </a:ext>
            </a:extLst>
          </p:cNvPr>
          <p:cNvPicPr>
            <a:picLocks noChangeAspect="1"/>
          </p:cNvPicPr>
          <p:nvPr/>
        </p:nvPicPr>
        <p:blipFill>
          <a:blip r:embed="rId3"/>
          <a:stretch>
            <a:fillRect/>
          </a:stretch>
        </p:blipFill>
        <p:spPr>
          <a:xfrm>
            <a:off x="4967459" y="385900"/>
            <a:ext cx="506896" cy="861723"/>
          </a:xfrm>
          <a:prstGeom prst="rect">
            <a:avLst/>
          </a:prstGeom>
        </p:spPr>
      </p:pic>
      <p:pic>
        <p:nvPicPr>
          <p:cNvPr id="58" name="Picture 57">
            <a:extLst>
              <a:ext uri="{FF2B5EF4-FFF2-40B4-BE49-F238E27FC236}">
                <a16:creationId xmlns:a16="http://schemas.microsoft.com/office/drawing/2014/main" id="{3D06D891-C888-47F9-8260-BF3CA86977EA}"/>
              </a:ext>
            </a:extLst>
          </p:cNvPr>
          <p:cNvPicPr>
            <a:picLocks noChangeAspect="1"/>
          </p:cNvPicPr>
          <p:nvPr/>
        </p:nvPicPr>
        <p:blipFill>
          <a:blip r:embed="rId3"/>
          <a:stretch>
            <a:fillRect/>
          </a:stretch>
        </p:blipFill>
        <p:spPr>
          <a:xfrm>
            <a:off x="5474355" y="385900"/>
            <a:ext cx="506896" cy="861723"/>
          </a:xfrm>
          <a:prstGeom prst="rect">
            <a:avLst/>
          </a:prstGeom>
        </p:spPr>
      </p:pic>
      <p:pic>
        <p:nvPicPr>
          <p:cNvPr id="60" name="Picture 59">
            <a:extLst>
              <a:ext uri="{FF2B5EF4-FFF2-40B4-BE49-F238E27FC236}">
                <a16:creationId xmlns:a16="http://schemas.microsoft.com/office/drawing/2014/main" id="{5417652E-2702-4835-9D79-A8EC0E3B2D13}"/>
              </a:ext>
            </a:extLst>
          </p:cNvPr>
          <p:cNvPicPr>
            <a:picLocks noChangeAspect="1"/>
          </p:cNvPicPr>
          <p:nvPr/>
        </p:nvPicPr>
        <p:blipFill>
          <a:blip r:embed="rId3"/>
          <a:stretch>
            <a:fillRect/>
          </a:stretch>
        </p:blipFill>
        <p:spPr>
          <a:xfrm>
            <a:off x="5986855" y="385900"/>
            <a:ext cx="506896" cy="861723"/>
          </a:xfrm>
          <a:prstGeom prst="rect">
            <a:avLst/>
          </a:prstGeom>
        </p:spPr>
      </p:pic>
      <p:pic>
        <p:nvPicPr>
          <p:cNvPr id="62" name="Picture 61">
            <a:extLst>
              <a:ext uri="{FF2B5EF4-FFF2-40B4-BE49-F238E27FC236}">
                <a16:creationId xmlns:a16="http://schemas.microsoft.com/office/drawing/2014/main" id="{43B80FAC-7909-4009-8DB8-844775934FB5}"/>
              </a:ext>
            </a:extLst>
          </p:cNvPr>
          <p:cNvPicPr>
            <a:picLocks noChangeAspect="1"/>
          </p:cNvPicPr>
          <p:nvPr/>
        </p:nvPicPr>
        <p:blipFill>
          <a:blip r:embed="rId3"/>
          <a:stretch>
            <a:fillRect/>
          </a:stretch>
        </p:blipFill>
        <p:spPr>
          <a:xfrm>
            <a:off x="6499355" y="385900"/>
            <a:ext cx="506896" cy="861723"/>
          </a:xfrm>
          <a:prstGeom prst="rect">
            <a:avLst/>
          </a:prstGeom>
        </p:spPr>
      </p:pic>
      <p:pic>
        <p:nvPicPr>
          <p:cNvPr id="64" name="Picture 63">
            <a:extLst>
              <a:ext uri="{FF2B5EF4-FFF2-40B4-BE49-F238E27FC236}">
                <a16:creationId xmlns:a16="http://schemas.microsoft.com/office/drawing/2014/main" id="{ABFA0B4A-E406-40C7-A3FA-F577F21C76FB}"/>
              </a:ext>
            </a:extLst>
          </p:cNvPr>
          <p:cNvPicPr>
            <a:picLocks noChangeAspect="1"/>
          </p:cNvPicPr>
          <p:nvPr/>
        </p:nvPicPr>
        <p:blipFill>
          <a:blip r:embed="rId3"/>
          <a:stretch>
            <a:fillRect/>
          </a:stretch>
        </p:blipFill>
        <p:spPr>
          <a:xfrm>
            <a:off x="7006251" y="385900"/>
            <a:ext cx="506896" cy="861723"/>
          </a:xfrm>
          <a:prstGeom prst="rect">
            <a:avLst/>
          </a:prstGeom>
        </p:spPr>
      </p:pic>
      <p:pic>
        <p:nvPicPr>
          <p:cNvPr id="66" name="Picture 65">
            <a:extLst>
              <a:ext uri="{FF2B5EF4-FFF2-40B4-BE49-F238E27FC236}">
                <a16:creationId xmlns:a16="http://schemas.microsoft.com/office/drawing/2014/main" id="{6714DC57-799C-47BB-A36A-C87D3D9FB9DE}"/>
              </a:ext>
            </a:extLst>
          </p:cNvPr>
          <p:cNvPicPr>
            <a:picLocks noChangeAspect="1"/>
          </p:cNvPicPr>
          <p:nvPr/>
        </p:nvPicPr>
        <p:blipFill>
          <a:blip r:embed="rId2">
            <a:duotone>
              <a:schemeClr val="bg2">
                <a:shade val="45000"/>
                <a:satMod val="135000"/>
              </a:schemeClr>
              <a:prstClr val="white"/>
            </a:duotone>
          </a:blip>
          <a:stretch>
            <a:fillRect/>
          </a:stretch>
        </p:blipFill>
        <p:spPr>
          <a:xfrm>
            <a:off x="8292846" y="348220"/>
            <a:ext cx="588303" cy="937082"/>
          </a:xfrm>
          <a:prstGeom prst="rect">
            <a:avLst/>
          </a:prstGeom>
        </p:spPr>
      </p:pic>
      <p:pic>
        <p:nvPicPr>
          <p:cNvPr id="68" name="Picture 67">
            <a:extLst>
              <a:ext uri="{FF2B5EF4-FFF2-40B4-BE49-F238E27FC236}">
                <a16:creationId xmlns:a16="http://schemas.microsoft.com/office/drawing/2014/main" id="{9C8B882B-849E-49C6-B546-56C2FBB620C5}"/>
              </a:ext>
            </a:extLst>
          </p:cNvPr>
          <p:cNvPicPr>
            <a:picLocks noChangeAspect="1"/>
          </p:cNvPicPr>
          <p:nvPr/>
        </p:nvPicPr>
        <p:blipFill>
          <a:blip r:embed="rId2">
            <a:duotone>
              <a:schemeClr val="bg2">
                <a:shade val="45000"/>
                <a:satMod val="135000"/>
              </a:schemeClr>
              <a:prstClr val="white"/>
            </a:duotone>
          </a:blip>
          <a:stretch>
            <a:fillRect/>
          </a:stretch>
        </p:blipFill>
        <p:spPr>
          <a:xfrm>
            <a:off x="8881630" y="348220"/>
            <a:ext cx="588303" cy="937082"/>
          </a:xfrm>
          <a:prstGeom prst="rect">
            <a:avLst/>
          </a:prstGeom>
        </p:spPr>
      </p:pic>
      <p:pic>
        <p:nvPicPr>
          <p:cNvPr id="70" name="Picture 69">
            <a:extLst>
              <a:ext uri="{FF2B5EF4-FFF2-40B4-BE49-F238E27FC236}">
                <a16:creationId xmlns:a16="http://schemas.microsoft.com/office/drawing/2014/main" id="{0DA2C015-85BC-4273-BB3C-4890D99FC90B}"/>
              </a:ext>
            </a:extLst>
          </p:cNvPr>
          <p:cNvPicPr>
            <a:picLocks noChangeAspect="1"/>
          </p:cNvPicPr>
          <p:nvPr/>
        </p:nvPicPr>
        <p:blipFill>
          <a:blip r:embed="rId2">
            <a:duotone>
              <a:schemeClr val="bg2">
                <a:shade val="45000"/>
                <a:satMod val="135000"/>
              </a:schemeClr>
              <a:prstClr val="white"/>
            </a:duotone>
          </a:blip>
          <a:stretch>
            <a:fillRect/>
          </a:stretch>
        </p:blipFill>
        <p:spPr>
          <a:xfrm>
            <a:off x="9461665" y="348220"/>
            <a:ext cx="588303" cy="937082"/>
          </a:xfrm>
          <a:prstGeom prst="rect">
            <a:avLst/>
          </a:prstGeom>
        </p:spPr>
      </p:pic>
      <p:sp>
        <p:nvSpPr>
          <p:cNvPr id="7" name="Rectangle 6">
            <a:extLst>
              <a:ext uri="{FF2B5EF4-FFF2-40B4-BE49-F238E27FC236}">
                <a16:creationId xmlns:a16="http://schemas.microsoft.com/office/drawing/2014/main" id="{E60D806D-B14F-E847-81B1-BEAC3A9D6320}"/>
              </a:ext>
            </a:extLst>
          </p:cNvPr>
          <p:cNvSpPr/>
          <p:nvPr/>
        </p:nvSpPr>
        <p:spPr>
          <a:xfrm>
            <a:off x="1013603" y="2299502"/>
            <a:ext cx="7654910" cy="830997"/>
          </a:xfrm>
          <a:prstGeom prst="rect">
            <a:avLst/>
          </a:prstGeom>
        </p:spPr>
        <p:txBody>
          <a:bodyPr wrap="square">
            <a:spAutoFit/>
          </a:bodyPr>
          <a:lstStyle/>
          <a:p>
            <a:r>
              <a:rPr lang="en-US" sz="2400" dirty="0"/>
              <a:t>We sit the boys first, then sit each girl in between the boys so that no two girls will sit together.</a:t>
            </a:r>
          </a:p>
        </p:txBody>
      </p:sp>
      <p:grpSp>
        <p:nvGrpSpPr>
          <p:cNvPr id="3" name="Group 2"/>
          <p:cNvGrpSpPr/>
          <p:nvPr/>
        </p:nvGrpSpPr>
        <p:grpSpPr>
          <a:xfrm>
            <a:off x="1709492" y="3328783"/>
            <a:ext cx="2518572" cy="2608756"/>
            <a:chOff x="1833957" y="3347990"/>
            <a:chExt cx="2995020" cy="3102264"/>
          </a:xfrm>
        </p:grpSpPr>
        <p:pic>
          <p:nvPicPr>
            <p:cNvPr id="28" name="Picture 27">
              <a:extLst>
                <a:ext uri="{FF2B5EF4-FFF2-40B4-BE49-F238E27FC236}">
                  <a16:creationId xmlns:a16="http://schemas.microsoft.com/office/drawing/2014/main" id="{0A295195-329C-544F-9423-2E5A3B57D2EC}"/>
                </a:ext>
              </a:extLst>
            </p:cNvPr>
            <p:cNvPicPr>
              <a:picLocks noChangeAspect="1"/>
            </p:cNvPicPr>
            <p:nvPr/>
          </p:nvPicPr>
          <p:blipFill>
            <a:blip r:embed="rId3"/>
            <a:stretch>
              <a:fillRect/>
            </a:stretch>
          </p:blipFill>
          <p:spPr>
            <a:xfrm>
              <a:off x="1833957" y="4301543"/>
              <a:ext cx="506896" cy="861723"/>
            </a:xfrm>
            <a:prstGeom prst="rect">
              <a:avLst/>
            </a:prstGeom>
          </p:spPr>
        </p:pic>
        <p:pic>
          <p:nvPicPr>
            <p:cNvPr id="29" name="Picture 28">
              <a:extLst>
                <a:ext uri="{FF2B5EF4-FFF2-40B4-BE49-F238E27FC236}">
                  <a16:creationId xmlns:a16="http://schemas.microsoft.com/office/drawing/2014/main" id="{CFA5E2BD-F958-7542-A288-4B180C8F7446}"/>
                </a:ext>
              </a:extLst>
            </p:cNvPr>
            <p:cNvPicPr>
              <a:picLocks noChangeAspect="1"/>
            </p:cNvPicPr>
            <p:nvPr/>
          </p:nvPicPr>
          <p:blipFill>
            <a:blip r:embed="rId3"/>
            <a:stretch>
              <a:fillRect/>
            </a:stretch>
          </p:blipFill>
          <p:spPr>
            <a:xfrm>
              <a:off x="2360183" y="3623678"/>
              <a:ext cx="506896" cy="861723"/>
            </a:xfrm>
            <a:prstGeom prst="rect">
              <a:avLst/>
            </a:prstGeom>
          </p:spPr>
        </p:pic>
        <p:pic>
          <p:nvPicPr>
            <p:cNvPr id="30" name="Picture 29">
              <a:extLst>
                <a:ext uri="{FF2B5EF4-FFF2-40B4-BE49-F238E27FC236}">
                  <a16:creationId xmlns:a16="http://schemas.microsoft.com/office/drawing/2014/main" id="{2797FD2B-F1BD-3B44-A379-FB9862292F15}"/>
                </a:ext>
              </a:extLst>
            </p:cNvPr>
            <p:cNvPicPr>
              <a:picLocks noChangeAspect="1"/>
            </p:cNvPicPr>
            <p:nvPr/>
          </p:nvPicPr>
          <p:blipFill>
            <a:blip r:embed="rId3"/>
            <a:stretch>
              <a:fillRect/>
            </a:stretch>
          </p:blipFill>
          <p:spPr>
            <a:xfrm>
              <a:off x="3090079" y="3347990"/>
              <a:ext cx="506896" cy="861723"/>
            </a:xfrm>
            <a:prstGeom prst="rect">
              <a:avLst/>
            </a:prstGeom>
          </p:spPr>
        </p:pic>
        <p:pic>
          <p:nvPicPr>
            <p:cNvPr id="31" name="Picture 30">
              <a:extLst>
                <a:ext uri="{FF2B5EF4-FFF2-40B4-BE49-F238E27FC236}">
                  <a16:creationId xmlns:a16="http://schemas.microsoft.com/office/drawing/2014/main" id="{9BA7DE8F-68FE-3040-A745-1E04DE5EBAC0}"/>
                </a:ext>
              </a:extLst>
            </p:cNvPr>
            <p:cNvPicPr>
              <a:picLocks noChangeAspect="1"/>
            </p:cNvPicPr>
            <p:nvPr/>
          </p:nvPicPr>
          <p:blipFill>
            <a:blip r:embed="rId3"/>
            <a:stretch>
              <a:fillRect/>
            </a:stretch>
          </p:blipFill>
          <p:spPr>
            <a:xfrm>
              <a:off x="2360183" y="5152446"/>
              <a:ext cx="506896" cy="861723"/>
            </a:xfrm>
            <a:prstGeom prst="rect">
              <a:avLst/>
            </a:prstGeom>
          </p:spPr>
        </p:pic>
        <p:pic>
          <p:nvPicPr>
            <p:cNvPr id="32" name="Picture 31">
              <a:extLst>
                <a:ext uri="{FF2B5EF4-FFF2-40B4-BE49-F238E27FC236}">
                  <a16:creationId xmlns:a16="http://schemas.microsoft.com/office/drawing/2014/main" id="{F5F6246B-1F6B-504D-89EE-6BDEAE612BEF}"/>
                </a:ext>
              </a:extLst>
            </p:cNvPr>
            <p:cNvPicPr>
              <a:picLocks noChangeAspect="1"/>
            </p:cNvPicPr>
            <p:nvPr/>
          </p:nvPicPr>
          <p:blipFill>
            <a:blip r:embed="rId3"/>
            <a:stretch>
              <a:fillRect/>
            </a:stretch>
          </p:blipFill>
          <p:spPr>
            <a:xfrm>
              <a:off x="3090079" y="5588531"/>
              <a:ext cx="506896" cy="861723"/>
            </a:xfrm>
            <a:prstGeom prst="rect">
              <a:avLst/>
            </a:prstGeom>
          </p:spPr>
        </p:pic>
        <p:pic>
          <p:nvPicPr>
            <p:cNvPr id="33" name="Picture 32">
              <a:extLst>
                <a:ext uri="{FF2B5EF4-FFF2-40B4-BE49-F238E27FC236}">
                  <a16:creationId xmlns:a16="http://schemas.microsoft.com/office/drawing/2014/main" id="{172650D3-9FEC-1740-84D2-CE6480886EBF}"/>
                </a:ext>
              </a:extLst>
            </p:cNvPr>
            <p:cNvPicPr>
              <a:picLocks noChangeAspect="1"/>
            </p:cNvPicPr>
            <p:nvPr/>
          </p:nvPicPr>
          <p:blipFill>
            <a:blip r:embed="rId3"/>
            <a:stretch>
              <a:fillRect/>
            </a:stretch>
          </p:blipFill>
          <p:spPr>
            <a:xfrm>
              <a:off x="3845633" y="5152446"/>
              <a:ext cx="506896" cy="861723"/>
            </a:xfrm>
            <a:prstGeom prst="rect">
              <a:avLst/>
            </a:prstGeom>
          </p:spPr>
        </p:pic>
        <p:pic>
          <p:nvPicPr>
            <p:cNvPr id="34" name="Picture 33">
              <a:extLst>
                <a:ext uri="{FF2B5EF4-FFF2-40B4-BE49-F238E27FC236}">
                  <a16:creationId xmlns:a16="http://schemas.microsoft.com/office/drawing/2014/main" id="{410715F4-E99F-4D46-B340-07B63E49A35E}"/>
                </a:ext>
              </a:extLst>
            </p:cNvPr>
            <p:cNvPicPr>
              <a:picLocks noChangeAspect="1"/>
            </p:cNvPicPr>
            <p:nvPr/>
          </p:nvPicPr>
          <p:blipFill>
            <a:blip r:embed="rId3"/>
            <a:stretch>
              <a:fillRect/>
            </a:stretch>
          </p:blipFill>
          <p:spPr>
            <a:xfrm>
              <a:off x="4322081" y="4290723"/>
              <a:ext cx="506896" cy="861723"/>
            </a:xfrm>
            <a:prstGeom prst="rect">
              <a:avLst/>
            </a:prstGeom>
          </p:spPr>
        </p:pic>
        <p:pic>
          <p:nvPicPr>
            <p:cNvPr id="35" name="Picture 34">
              <a:extLst>
                <a:ext uri="{FF2B5EF4-FFF2-40B4-BE49-F238E27FC236}">
                  <a16:creationId xmlns:a16="http://schemas.microsoft.com/office/drawing/2014/main" id="{819ECA85-D730-D24F-83B9-7F34E8E103A1}"/>
                </a:ext>
              </a:extLst>
            </p:cNvPr>
            <p:cNvPicPr>
              <a:picLocks noChangeAspect="1"/>
            </p:cNvPicPr>
            <p:nvPr/>
          </p:nvPicPr>
          <p:blipFill>
            <a:blip r:embed="rId3"/>
            <a:stretch>
              <a:fillRect/>
            </a:stretch>
          </p:blipFill>
          <p:spPr>
            <a:xfrm>
              <a:off x="3752566" y="3586862"/>
              <a:ext cx="506896" cy="861723"/>
            </a:xfrm>
            <a:prstGeom prst="rect">
              <a:avLst/>
            </a:prstGeom>
          </p:spPr>
        </p:pic>
      </p:grpSp>
      <p:grpSp>
        <p:nvGrpSpPr>
          <p:cNvPr id="4" name="Group 3"/>
          <p:cNvGrpSpPr/>
          <p:nvPr/>
        </p:nvGrpSpPr>
        <p:grpSpPr>
          <a:xfrm>
            <a:off x="1177484" y="3567394"/>
            <a:ext cx="919019" cy="725993"/>
            <a:chOff x="1177484" y="3567394"/>
            <a:chExt cx="919019" cy="725993"/>
          </a:xfrm>
        </p:grpSpPr>
        <p:pic>
          <p:nvPicPr>
            <p:cNvPr id="37" name="Picture 36">
              <a:extLst>
                <a:ext uri="{FF2B5EF4-FFF2-40B4-BE49-F238E27FC236}">
                  <a16:creationId xmlns:a16="http://schemas.microsoft.com/office/drawing/2014/main" id="{CD6B727D-BD7F-F142-85ED-0386C0FAF1B5}"/>
                </a:ext>
              </a:extLst>
            </p:cNvPr>
            <p:cNvPicPr>
              <a:picLocks noChangeAspect="1"/>
            </p:cNvPicPr>
            <p:nvPr/>
          </p:nvPicPr>
          <p:blipFill>
            <a:blip r:embed="rId2">
              <a:duotone>
                <a:schemeClr val="bg2">
                  <a:shade val="45000"/>
                  <a:satMod val="135000"/>
                </a:schemeClr>
                <a:prstClr val="white"/>
              </a:duotone>
            </a:blip>
            <a:stretch>
              <a:fillRect/>
            </a:stretch>
          </p:blipFill>
          <p:spPr>
            <a:xfrm>
              <a:off x="1177484" y="3567394"/>
              <a:ext cx="455780" cy="725993"/>
            </a:xfrm>
            <a:prstGeom prst="rect">
              <a:avLst/>
            </a:prstGeom>
          </p:spPr>
        </p:pic>
        <p:grpSp>
          <p:nvGrpSpPr>
            <p:cNvPr id="41" name="Group 40">
              <a:extLst>
                <a:ext uri="{FF2B5EF4-FFF2-40B4-BE49-F238E27FC236}">
                  <a16:creationId xmlns:a16="http://schemas.microsoft.com/office/drawing/2014/main" id="{D5985FDC-1C52-784C-BBBE-C547DC0227AF}"/>
                </a:ext>
              </a:extLst>
            </p:cNvPr>
            <p:cNvGrpSpPr/>
            <p:nvPr/>
          </p:nvGrpSpPr>
          <p:grpSpPr>
            <a:xfrm>
              <a:off x="1666008" y="3938466"/>
              <a:ext cx="430495" cy="145011"/>
              <a:chOff x="3307904" y="3832283"/>
              <a:chExt cx="853920" cy="287640"/>
            </a:xfrm>
          </p:grpSpPr>
          <mc:AlternateContent xmlns:mc="http://schemas.openxmlformats.org/markup-compatibility/2006" xmlns:p14="http://schemas.microsoft.com/office/powerpoint/2010/main">
            <mc:Choice Requires="p14">
              <p:contentPart p14:bwMode="auto" r:id="rId4">
                <p14:nvContentPartPr>
                  <p14:cNvPr id="27" name="Ink 26">
                    <a:extLst>
                      <a:ext uri="{FF2B5EF4-FFF2-40B4-BE49-F238E27FC236}">
                        <a16:creationId xmlns:a16="http://schemas.microsoft.com/office/drawing/2014/main" id="{B9E14C4A-EBF1-034F-8618-5F7A36AAA460}"/>
                      </a:ext>
                    </a:extLst>
                  </p14:cNvPr>
                  <p14:cNvContentPartPr/>
                  <p14:nvPr/>
                </p14:nvContentPartPr>
                <p14:xfrm>
                  <a:off x="3307904" y="3832283"/>
                  <a:ext cx="726840" cy="280440"/>
                </p14:xfrm>
              </p:contentPart>
            </mc:Choice>
            <mc:Fallback xmlns="">
              <p:pic>
                <p:nvPicPr>
                  <p:cNvPr id="27" name="Ink 26">
                    <a:extLst>
                      <a:ext uri="{FF2B5EF4-FFF2-40B4-BE49-F238E27FC236}">
                        <a16:creationId xmlns:a16="http://schemas.microsoft.com/office/drawing/2014/main" id="{B9E14C4A-EBF1-034F-8618-5F7A36AAA460}"/>
                      </a:ext>
                    </a:extLst>
                  </p:cNvPr>
                  <p:cNvPicPr/>
                  <p:nvPr/>
                </p:nvPicPr>
                <p:blipFill>
                  <a:blip r:embed="rId5"/>
                  <a:stretch>
                    <a:fillRect/>
                  </a:stretch>
                </p:blipFill>
                <p:spPr>
                  <a:xfrm>
                    <a:off x="3299264" y="3823283"/>
                    <a:ext cx="744480" cy="2980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0" name="Ink 39">
                    <a:extLst>
                      <a:ext uri="{FF2B5EF4-FFF2-40B4-BE49-F238E27FC236}">
                        <a16:creationId xmlns:a16="http://schemas.microsoft.com/office/drawing/2014/main" id="{E591E83B-FEAF-174D-9DB1-1D1B93570B36}"/>
                      </a:ext>
                    </a:extLst>
                  </p14:cNvPr>
                  <p14:cNvContentPartPr/>
                  <p14:nvPr/>
                </p14:nvContentPartPr>
                <p14:xfrm>
                  <a:off x="3896504" y="3895283"/>
                  <a:ext cx="265320" cy="224640"/>
                </p14:xfrm>
              </p:contentPart>
            </mc:Choice>
            <mc:Fallback xmlns="">
              <p:pic>
                <p:nvPicPr>
                  <p:cNvPr id="40" name="Ink 39">
                    <a:extLst>
                      <a:ext uri="{FF2B5EF4-FFF2-40B4-BE49-F238E27FC236}">
                        <a16:creationId xmlns:a16="http://schemas.microsoft.com/office/drawing/2014/main" id="{E591E83B-FEAF-174D-9DB1-1D1B93570B36}"/>
                      </a:ext>
                    </a:extLst>
                  </p:cNvPr>
                  <p:cNvPicPr/>
                  <p:nvPr/>
                </p:nvPicPr>
                <p:blipFill>
                  <a:blip r:embed="rId7"/>
                  <a:stretch>
                    <a:fillRect/>
                  </a:stretch>
                </p:blipFill>
                <p:spPr>
                  <a:xfrm>
                    <a:off x="3887504" y="3886643"/>
                    <a:ext cx="282960" cy="242280"/>
                  </a:xfrm>
                  <a:prstGeom prst="rect">
                    <a:avLst/>
                  </a:prstGeom>
                </p:spPr>
              </p:pic>
            </mc:Fallback>
          </mc:AlternateContent>
        </p:grpSp>
      </p:grpSp>
      <mc:AlternateContent xmlns:mc="http://schemas.openxmlformats.org/markup-compatibility/2006" xmlns:p14="http://schemas.microsoft.com/office/powerpoint/2010/main">
        <mc:Choice Requires="p14">
          <p:contentPart p14:bwMode="auto" r:id="rId8">
            <p14:nvContentPartPr>
              <p14:cNvPr id="51" name="Ink 50">
                <a:extLst>
                  <a:ext uri="{FF2B5EF4-FFF2-40B4-BE49-F238E27FC236}">
                    <a16:creationId xmlns:a16="http://schemas.microsoft.com/office/drawing/2014/main" id="{B51CDF7C-4374-EA40-90A3-BFC0B96B820E}"/>
                  </a:ext>
                </a:extLst>
              </p14:cNvPr>
              <p14:cNvContentPartPr/>
              <p14:nvPr/>
            </p14:nvContentPartPr>
            <p14:xfrm>
              <a:off x="1266866" y="4332683"/>
              <a:ext cx="360" cy="360"/>
            </p14:xfrm>
          </p:contentPart>
        </mc:Choice>
        <mc:Fallback xmlns="">
          <p:pic>
            <p:nvPicPr>
              <p:cNvPr id="51" name="Ink 50">
                <a:extLst>
                  <a:ext uri="{FF2B5EF4-FFF2-40B4-BE49-F238E27FC236}">
                    <a16:creationId xmlns:a16="http://schemas.microsoft.com/office/drawing/2014/main" id="{B51CDF7C-4374-EA40-90A3-BFC0B96B820E}"/>
                  </a:ext>
                </a:extLst>
              </p:cNvPr>
              <p:cNvPicPr/>
              <p:nvPr/>
            </p:nvPicPr>
            <p:blipFill>
              <a:blip r:embed="rId9"/>
              <a:stretch>
                <a:fillRect/>
              </a:stretch>
            </p:blipFill>
            <p:spPr>
              <a:xfrm>
                <a:off x="1254626" y="4320443"/>
                <a:ext cx="24840" cy="24840"/>
              </a:xfrm>
              <a:prstGeom prst="rect">
                <a:avLst/>
              </a:prstGeom>
            </p:spPr>
          </p:pic>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15713C48-9697-774F-95AC-495470DE8F6F}"/>
                  </a:ext>
                </a:extLst>
              </p:cNvPr>
              <p:cNvSpPr txBox="1"/>
              <p:nvPr/>
            </p:nvSpPr>
            <p:spPr>
              <a:xfrm>
                <a:off x="5248497" y="3120662"/>
                <a:ext cx="5463355" cy="461665"/>
              </a:xfrm>
              <a:prstGeom prst="rect">
                <a:avLst/>
              </a:prstGeom>
              <a:noFill/>
            </p:spPr>
            <p:txBody>
              <a:bodyPr wrap="none" rtlCol="0">
                <a:spAutoFit/>
              </a:bodyPr>
              <a:lstStyle/>
              <a:p>
                <a:r>
                  <a:rPr lang="en-US" sz="2400" dirty="0">
                    <a:solidFill>
                      <a:schemeClr val="tx1"/>
                    </a:solidFill>
                  </a:rPr>
                  <a:t>8 boys can be seated in a circle in </a:t>
                </a:r>
                <a14:m>
                  <m:oMath xmlns:m="http://schemas.openxmlformats.org/officeDocument/2006/math">
                    <m:r>
                      <a:rPr lang="en-US" sz="2400" i="1" dirty="0" smtClean="0">
                        <a:solidFill>
                          <a:srgbClr val="C00000"/>
                        </a:solidFill>
                        <a:latin typeface="Cambria Math" panose="02040503050406030204" pitchFamily="18" charset="0"/>
                      </a:rPr>
                      <m:t>7!</m:t>
                    </m:r>
                  </m:oMath>
                </a14:m>
                <a:r>
                  <a:rPr lang="en-US" sz="2400" dirty="0">
                    <a:solidFill>
                      <a:schemeClr val="tx1"/>
                    </a:solidFill>
                  </a:rPr>
                  <a:t> ways.</a:t>
                </a:r>
                <a:r>
                  <a:rPr lang="en-SG" sz="2400" dirty="0">
                    <a:solidFill>
                      <a:schemeClr val="tx1"/>
                    </a:solidFill>
                  </a:rPr>
                  <a:t> </a:t>
                </a:r>
                <a:endParaRPr lang="en-US" sz="2400" dirty="0">
                  <a:solidFill>
                    <a:schemeClr val="tx1"/>
                  </a:solidFill>
                </a:endParaRPr>
              </a:p>
            </p:txBody>
          </p:sp>
        </mc:Choice>
        <mc:Fallback xmlns="">
          <p:sp>
            <p:nvSpPr>
              <p:cNvPr id="45" name="TextBox 44">
                <a:extLst>
                  <a:ext uri="{FF2B5EF4-FFF2-40B4-BE49-F238E27FC236}">
                    <a16:creationId xmlns:a16="http://schemas.microsoft.com/office/drawing/2014/main" id="{15713C48-9697-774F-95AC-495470DE8F6F}"/>
                  </a:ext>
                </a:extLst>
              </p:cNvPr>
              <p:cNvSpPr txBox="1">
                <a:spLocks noRot="1" noChangeAspect="1" noMove="1" noResize="1" noEditPoints="1" noAdjustHandles="1" noChangeArrowheads="1" noChangeShapeType="1" noTextEdit="1"/>
              </p:cNvSpPr>
              <p:nvPr/>
            </p:nvSpPr>
            <p:spPr>
              <a:xfrm>
                <a:off x="5248497" y="3120662"/>
                <a:ext cx="5463355" cy="461665"/>
              </a:xfrm>
              <a:prstGeom prst="rect">
                <a:avLst/>
              </a:prstGeom>
              <a:blipFill>
                <a:blip r:embed="rId10"/>
                <a:stretch>
                  <a:fillRect l="-1786" t="-10526" r="-335" b="-28947"/>
                </a:stretch>
              </a:blipFill>
            </p:spPr>
            <p:txBody>
              <a:bodyPr/>
              <a:lstStyle/>
              <a:p>
                <a:r>
                  <a:rPr lang="en-SG">
                    <a:noFill/>
                  </a:rPr>
                  <a:t> </a:t>
                </a:r>
              </a:p>
            </p:txBody>
          </p:sp>
        </mc:Fallback>
      </mc:AlternateContent>
      <p:grpSp>
        <p:nvGrpSpPr>
          <p:cNvPr id="5" name="Group 4"/>
          <p:cNvGrpSpPr/>
          <p:nvPr/>
        </p:nvGrpSpPr>
        <p:grpSpPr>
          <a:xfrm>
            <a:off x="3835478" y="3484578"/>
            <a:ext cx="818593" cy="725993"/>
            <a:chOff x="3835478" y="3484578"/>
            <a:chExt cx="818593" cy="725993"/>
          </a:xfrm>
        </p:grpSpPr>
        <p:grpSp>
          <p:nvGrpSpPr>
            <p:cNvPr id="59" name="Group 58">
              <a:extLst>
                <a:ext uri="{FF2B5EF4-FFF2-40B4-BE49-F238E27FC236}">
                  <a16:creationId xmlns:a16="http://schemas.microsoft.com/office/drawing/2014/main" id="{5BEE9CA3-5891-DE49-9FF4-8549491A7A48}"/>
                </a:ext>
              </a:extLst>
            </p:cNvPr>
            <p:cNvGrpSpPr/>
            <p:nvPr/>
          </p:nvGrpSpPr>
          <p:grpSpPr>
            <a:xfrm>
              <a:off x="3835478" y="3903521"/>
              <a:ext cx="329140" cy="141102"/>
              <a:chOff x="6067470" y="3810683"/>
              <a:chExt cx="590400" cy="433080"/>
            </a:xfrm>
          </p:grpSpPr>
          <mc:AlternateContent xmlns:mc="http://schemas.openxmlformats.org/markup-compatibility/2006" xmlns:p14="http://schemas.microsoft.com/office/powerpoint/2010/main">
            <mc:Choice Requires="p14">
              <p:contentPart p14:bwMode="auto" r:id="rId11">
                <p14:nvContentPartPr>
                  <p14:cNvPr id="55" name="Ink 54">
                    <a:extLst>
                      <a:ext uri="{FF2B5EF4-FFF2-40B4-BE49-F238E27FC236}">
                        <a16:creationId xmlns:a16="http://schemas.microsoft.com/office/drawing/2014/main" id="{B595978F-F33A-4447-90B6-51B2A6232A7D}"/>
                      </a:ext>
                    </a:extLst>
                  </p14:cNvPr>
                  <p14:cNvContentPartPr/>
                  <p14:nvPr/>
                </p14:nvContentPartPr>
                <p14:xfrm>
                  <a:off x="6098070" y="3810683"/>
                  <a:ext cx="559800" cy="392760"/>
                </p14:xfrm>
              </p:contentPart>
            </mc:Choice>
            <mc:Fallback xmlns="">
              <p:pic>
                <p:nvPicPr>
                  <p:cNvPr id="55" name="Ink 54">
                    <a:extLst>
                      <a:ext uri="{FF2B5EF4-FFF2-40B4-BE49-F238E27FC236}">
                        <a16:creationId xmlns:a16="http://schemas.microsoft.com/office/drawing/2014/main" id="{B595978F-F33A-4447-90B6-51B2A6232A7D}"/>
                      </a:ext>
                    </a:extLst>
                  </p:cNvPr>
                  <p:cNvPicPr/>
                  <p:nvPr/>
                </p:nvPicPr>
                <p:blipFill>
                  <a:blip r:embed="rId19"/>
                  <a:stretch>
                    <a:fillRect/>
                  </a:stretch>
                </p:blipFill>
                <p:spPr>
                  <a:xfrm>
                    <a:off x="6089430" y="3801683"/>
                    <a:ext cx="577440" cy="4104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57" name="Ink 56">
                    <a:extLst>
                      <a:ext uri="{FF2B5EF4-FFF2-40B4-BE49-F238E27FC236}">
                        <a16:creationId xmlns:a16="http://schemas.microsoft.com/office/drawing/2014/main" id="{79AB633C-F686-C74E-A57C-6DADBDB43D28}"/>
                      </a:ext>
                    </a:extLst>
                  </p14:cNvPr>
                  <p14:cNvContentPartPr/>
                  <p14:nvPr/>
                </p14:nvContentPartPr>
                <p14:xfrm>
                  <a:off x="6067470" y="4043603"/>
                  <a:ext cx="158760" cy="200160"/>
                </p14:xfrm>
              </p:contentPart>
            </mc:Choice>
            <mc:Fallback xmlns="">
              <p:pic>
                <p:nvPicPr>
                  <p:cNvPr id="57" name="Ink 56">
                    <a:extLst>
                      <a:ext uri="{FF2B5EF4-FFF2-40B4-BE49-F238E27FC236}">
                        <a16:creationId xmlns:a16="http://schemas.microsoft.com/office/drawing/2014/main" id="{79AB633C-F686-C74E-A57C-6DADBDB43D28}"/>
                      </a:ext>
                    </a:extLst>
                  </p:cNvPr>
                  <p:cNvPicPr/>
                  <p:nvPr/>
                </p:nvPicPr>
                <p:blipFill>
                  <a:blip r:embed="rId21"/>
                  <a:stretch>
                    <a:fillRect/>
                  </a:stretch>
                </p:blipFill>
                <p:spPr>
                  <a:xfrm>
                    <a:off x="6058470" y="4034963"/>
                    <a:ext cx="176400" cy="217800"/>
                  </a:xfrm>
                  <a:prstGeom prst="rect">
                    <a:avLst/>
                  </a:prstGeom>
                </p:spPr>
              </p:pic>
            </mc:Fallback>
          </mc:AlternateContent>
        </p:grpSp>
        <p:pic>
          <p:nvPicPr>
            <p:cNvPr id="46" name="Picture 45">
              <a:extLst>
                <a:ext uri="{FF2B5EF4-FFF2-40B4-BE49-F238E27FC236}">
                  <a16:creationId xmlns:a16="http://schemas.microsoft.com/office/drawing/2014/main" id="{CD6B727D-BD7F-F142-85ED-0386C0FAF1B5}"/>
                </a:ext>
              </a:extLst>
            </p:cNvPr>
            <p:cNvPicPr>
              <a:picLocks noChangeAspect="1"/>
            </p:cNvPicPr>
            <p:nvPr/>
          </p:nvPicPr>
          <p:blipFill>
            <a:blip r:embed="rId2">
              <a:duotone>
                <a:schemeClr val="bg2">
                  <a:shade val="45000"/>
                  <a:satMod val="135000"/>
                </a:schemeClr>
                <a:prstClr val="white"/>
              </a:duotone>
            </a:blip>
            <a:stretch>
              <a:fillRect/>
            </a:stretch>
          </p:blipFill>
          <p:spPr>
            <a:xfrm>
              <a:off x="4198291" y="3484578"/>
              <a:ext cx="455780" cy="725993"/>
            </a:xfrm>
            <a:prstGeom prst="rect">
              <a:avLst/>
            </a:prstGeom>
          </p:spPr>
        </p:pic>
      </p:grpSp>
      <p:grpSp>
        <p:nvGrpSpPr>
          <p:cNvPr id="6" name="Group 5"/>
          <p:cNvGrpSpPr/>
          <p:nvPr/>
        </p:nvGrpSpPr>
        <p:grpSpPr>
          <a:xfrm>
            <a:off x="1210228" y="4716857"/>
            <a:ext cx="890758" cy="725993"/>
            <a:chOff x="1210228" y="4716857"/>
            <a:chExt cx="890758" cy="725993"/>
          </a:xfrm>
        </p:grpSpPr>
        <p:grpSp>
          <p:nvGrpSpPr>
            <p:cNvPr id="44" name="Group 43">
              <a:extLst>
                <a:ext uri="{FF2B5EF4-FFF2-40B4-BE49-F238E27FC236}">
                  <a16:creationId xmlns:a16="http://schemas.microsoft.com/office/drawing/2014/main" id="{CFA434E4-030E-8640-A560-D22AE3975EA8}"/>
                </a:ext>
              </a:extLst>
            </p:cNvPr>
            <p:cNvGrpSpPr/>
            <p:nvPr/>
          </p:nvGrpSpPr>
          <p:grpSpPr>
            <a:xfrm>
              <a:off x="1709491" y="4993077"/>
              <a:ext cx="391495" cy="89215"/>
              <a:chOff x="3533984" y="6201083"/>
              <a:chExt cx="1297080" cy="223920"/>
            </a:xfrm>
          </p:grpSpPr>
          <mc:AlternateContent xmlns:mc="http://schemas.openxmlformats.org/markup-compatibility/2006" xmlns:p14="http://schemas.microsoft.com/office/powerpoint/2010/main">
            <mc:Choice Requires="p14">
              <p:contentPart p14:bwMode="auto" r:id="rId22">
                <p14:nvContentPartPr>
                  <p14:cNvPr id="42" name="Ink 41">
                    <a:extLst>
                      <a:ext uri="{FF2B5EF4-FFF2-40B4-BE49-F238E27FC236}">
                        <a16:creationId xmlns:a16="http://schemas.microsoft.com/office/drawing/2014/main" id="{103F0A0B-B3DB-FF44-84BA-0A80CD7B32D2}"/>
                      </a:ext>
                    </a:extLst>
                  </p14:cNvPr>
                  <p14:cNvContentPartPr/>
                  <p14:nvPr/>
                </p14:nvContentPartPr>
                <p14:xfrm>
                  <a:off x="3533984" y="6201083"/>
                  <a:ext cx="1238400" cy="223920"/>
                </p14:xfrm>
              </p:contentPart>
            </mc:Choice>
            <mc:Fallback xmlns="">
              <p:pic>
                <p:nvPicPr>
                  <p:cNvPr id="42" name="Ink 41">
                    <a:extLst>
                      <a:ext uri="{FF2B5EF4-FFF2-40B4-BE49-F238E27FC236}">
                        <a16:creationId xmlns:a16="http://schemas.microsoft.com/office/drawing/2014/main" id="{103F0A0B-B3DB-FF44-84BA-0A80CD7B32D2}"/>
                      </a:ext>
                    </a:extLst>
                  </p:cNvPr>
                  <p:cNvPicPr/>
                  <p:nvPr/>
                </p:nvPicPr>
                <p:blipFill>
                  <a:blip r:embed="rId23"/>
                  <a:stretch>
                    <a:fillRect/>
                  </a:stretch>
                </p:blipFill>
                <p:spPr>
                  <a:xfrm>
                    <a:off x="3524984" y="6192083"/>
                    <a:ext cx="1256040" cy="2415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43" name="Ink 42">
                    <a:extLst>
                      <a:ext uri="{FF2B5EF4-FFF2-40B4-BE49-F238E27FC236}">
                        <a16:creationId xmlns:a16="http://schemas.microsoft.com/office/drawing/2014/main" id="{1DB2D651-C4EA-4946-84A1-B8E7C05D0A21}"/>
                      </a:ext>
                    </a:extLst>
                  </p14:cNvPr>
                  <p14:cNvContentPartPr/>
                  <p14:nvPr/>
                </p14:nvContentPartPr>
                <p14:xfrm>
                  <a:off x="4589864" y="6201083"/>
                  <a:ext cx="241200" cy="217800"/>
                </p14:xfrm>
              </p:contentPart>
            </mc:Choice>
            <mc:Fallback xmlns="">
              <p:pic>
                <p:nvPicPr>
                  <p:cNvPr id="43" name="Ink 42">
                    <a:extLst>
                      <a:ext uri="{FF2B5EF4-FFF2-40B4-BE49-F238E27FC236}">
                        <a16:creationId xmlns:a16="http://schemas.microsoft.com/office/drawing/2014/main" id="{1DB2D651-C4EA-4946-84A1-B8E7C05D0A21}"/>
                      </a:ext>
                    </a:extLst>
                  </p:cNvPr>
                  <p:cNvPicPr/>
                  <p:nvPr/>
                </p:nvPicPr>
                <p:blipFill>
                  <a:blip r:embed="rId25"/>
                  <a:stretch>
                    <a:fillRect/>
                  </a:stretch>
                </p:blipFill>
                <p:spPr>
                  <a:xfrm>
                    <a:off x="4580864" y="6192083"/>
                    <a:ext cx="258840" cy="235440"/>
                  </a:xfrm>
                  <a:prstGeom prst="rect">
                    <a:avLst/>
                  </a:prstGeom>
                </p:spPr>
              </p:pic>
            </mc:Fallback>
          </mc:AlternateContent>
        </p:grpSp>
        <p:pic>
          <p:nvPicPr>
            <p:cNvPr id="50" name="Picture 49">
              <a:extLst>
                <a:ext uri="{FF2B5EF4-FFF2-40B4-BE49-F238E27FC236}">
                  <a16:creationId xmlns:a16="http://schemas.microsoft.com/office/drawing/2014/main" id="{CD6B727D-BD7F-F142-85ED-0386C0FAF1B5}"/>
                </a:ext>
              </a:extLst>
            </p:cNvPr>
            <p:cNvPicPr>
              <a:picLocks noChangeAspect="1"/>
            </p:cNvPicPr>
            <p:nvPr/>
          </p:nvPicPr>
          <p:blipFill>
            <a:blip r:embed="rId2">
              <a:duotone>
                <a:schemeClr val="bg2">
                  <a:shade val="45000"/>
                  <a:satMod val="135000"/>
                </a:schemeClr>
                <a:prstClr val="white"/>
              </a:duotone>
            </a:blip>
            <a:stretch>
              <a:fillRect/>
            </a:stretch>
          </p:blipFill>
          <p:spPr>
            <a:xfrm>
              <a:off x="1210228" y="4716857"/>
              <a:ext cx="455780" cy="725993"/>
            </a:xfrm>
            <a:prstGeom prst="rect">
              <a:avLst/>
            </a:prstGeom>
          </p:spPr>
        </p:pic>
      </p:grpSp>
      <p:grpSp>
        <p:nvGrpSpPr>
          <p:cNvPr id="9" name="Group 8"/>
          <p:cNvGrpSpPr/>
          <p:nvPr/>
        </p:nvGrpSpPr>
        <p:grpSpPr>
          <a:xfrm>
            <a:off x="3322889" y="5606985"/>
            <a:ext cx="766873" cy="725993"/>
            <a:chOff x="3322889" y="5606985"/>
            <a:chExt cx="766873" cy="725993"/>
          </a:xfrm>
        </p:grpSpPr>
        <p:grpSp>
          <p:nvGrpSpPr>
            <p:cNvPr id="49" name="Group 48">
              <a:extLst>
                <a:ext uri="{FF2B5EF4-FFF2-40B4-BE49-F238E27FC236}">
                  <a16:creationId xmlns:a16="http://schemas.microsoft.com/office/drawing/2014/main" id="{9B2E672B-1F02-AE42-81E7-5D2957458DD6}"/>
                </a:ext>
              </a:extLst>
            </p:cNvPr>
            <p:cNvGrpSpPr/>
            <p:nvPr/>
          </p:nvGrpSpPr>
          <p:grpSpPr>
            <a:xfrm>
              <a:off x="3322889" y="5656043"/>
              <a:ext cx="280080" cy="298398"/>
              <a:chOff x="6212384" y="5325923"/>
              <a:chExt cx="721080" cy="768240"/>
            </a:xfrm>
          </p:grpSpPr>
          <mc:AlternateContent xmlns:mc="http://schemas.openxmlformats.org/markup-compatibility/2006" xmlns:p14="http://schemas.microsoft.com/office/powerpoint/2010/main">
            <mc:Choice Requires="p14">
              <p:contentPart p14:bwMode="auto" r:id="rId26">
                <p14:nvContentPartPr>
                  <p14:cNvPr id="47" name="Ink 46">
                    <a:extLst>
                      <a:ext uri="{FF2B5EF4-FFF2-40B4-BE49-F238E27FC236}">
                        <a16:creationId xmlns:a16="http://schemas.microsoft.com/office/drawing/2014/main" id="{A9CDFEF9-F10A-314C-A0A9-C1256EC573DB}"/>
                      </a:ext>
                    </a:extLst>
                  </p14:cNvPr>
                  <p14:cNvContentPartPr/>
                  <p14:nvPr/>
                </p14:nvContentPartPr>
                <p14:xfrm>
                  <a:off x="6253424" y="5361203"/>
                  <a:ext cx="680040" cy="732960"/>
                </p14:xfrm>
              </p:contentPart>
            </mc:Choice>
            <mc:Fallback xmlns="">
              <p:pic>
                <p:nvPicPr>
                  <p:cNvPr id="47" name="Ink 46">
                    <a:extLst>
                      <a:ext uri="{FF2B5EF4-FFF2-40B4-BE49-F238E27FC236}">
                        <a16:creationId xmlns:a16="http://schemas.microsoft.com/office/drawing/2014/main" id="{A9CDFEF9-F10A-314C-A0A9-C1256EC573DB}"/>
                      </a:ext>
                    </a:extLst>
                  </p:cNvPr>
                  <p:cNvPicPr/>
                  <p:nvPr/>
                </p:nvPicPr>
                <p:blipFill>
                  <a:blip r:embed="rId13"/>
                  <a:stretch>
                    <a:fillRect/>
                  </a:stretch>
                </p:blipFill>
                <p:spPr>
                  <a:xfrm>
                    <a:off x="6244784" y="5352563"/>
                    <a:ext cx="697680" cy="7506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48" name="Ink 47">
                    <a:extLst>
                      <a:ext uri="{FF2B5EF4-FFF2-40B4-BE49-F238E27FC236}">
                        <a16:creationId xmlns:a16="http://schemas.microsoft.com/office/drawing/2014/main" id="{0AA7345C-C0D7-A04C-8F33-630AE354B8B0}"/>
                      </a:ext>
                    </a:extLst>
                  </p14:cNvPr>
                  <p14:cNvContentPartPr/>
                  <p14:nvPr/>
                </p14:nvContentPartPr>
                <p14:xfrm>
                  <a:off x="6212384" y="5325923"/>
                  <a:ext cx="280080" cy="330120"/>
                </p14:xfrm>
              </p:contentPart>
            </mc:Choice>
            <mc:Fallback xmlns="">
              <p:pic>
                <p:nvPicPr>
                  <p:cNvPr id="48" name="Ink 47">
                    <a:extLst>
                      <a:ext uri="{FF2B5EF4-FFF2-40B4-BE49-F238E27FC236}">
                        <a16:creationId xmlns:a16="http://schemas.microsoft.com/office/drawing/2014/main" id="{0AA7345C-C0D7-A04C-8F33-630AE354B8B0}"/>
                      </a:ext>
                    </a:extLst>
                  </p:cNvPr>
                  <p:cNvPicPr/>
                  <p:nvPr/>
                </p:nvPicPr>
                <p:blipFill>
                  <a:blip r:embed="rId15"/>
                  <a:stretch>
                    <a:fillRect/>
                  </a:stretch>
                </p:blipFill>
                <p:spPr>
                  <a:xfrm>
                    <a:off x="6203384" y="5317283"/>
                    <a:ext cx="297720" cy="347760"/>
                  </a:xfrm>
                  <a:prstGeom prst="rect">
                    <a:avLst/>
                  </a:prstGeom>
                </p:spPr>
              </p:pic>
            </mc:Fallback>
          </mc:AlternateContent>
        </p:grpSp>
        <p:pic>
          <p:nvPicPr>
            <p:cNvPr id="53" name="Picture 52">
              <a:extLst>
                <a:ext uri="{FF2B5EF4-FFF2-40B4-BE49-F238E27FC236}">
                  <a16:creationId xmlns:a16="http://schemas.microsoft.com/office/drawing/2014/main" id="{CD6B727D-BD7F-F142-85ED-0386C0FAF1B5}"/>
                </a:ext>
              </a:extLst>
            </p:cNvPr>
            <p:cNvPicPr>
              <a:picLocks noChangeAspect="1"/>
            </p:cNvPicPr>
            <p:nvPr/>
          </p:nvPicPr>
          <p:blipFill>
            <a:blip r:embed="rId2">
              <a:duotone>
                <a:schemeClr val="bg2">
                  <a:shade val="45000"/>
                  <a:satMod val="135000"/>
                </a:schemeClr>
                <a:prstClr val="white"/>
              </a:duotone>
            </a:blip>
            <a:stretch>
              <a:fillRect/>
            </a:stretch>
          </p:blipFill>
          <p:spPr>
            <a:xfrm>
              <a:off x="3633982" y="5606985"/>
              <a:ext cx="455780" cy="725993"/>
            </a:xfrm>
            <a:prstGeom prst="rect">
              <a:avLst/>
            </a:prstGeom>
          </p:spPr>
        </p:pic>
      </p:grp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847D65F6-3362-7A4A-B2B1-6CA018133EB9}"/>
                  </a:ext>
                </a:extLst>
              </p:cNvPr>
              <p:cNvSpPr txBox="1"/>
              <p:nvPr/>
            </p:nvSpPr>
            <p:spPr>
              <a:xfrm>
                <a:off x="5220907" y="3691103"/>
                <a:ext cx="5851298" cy="830997"/>
              </a:xfrm>
              <a:prstGeom prst="rect">
                <a:avLst/>
              </a:prstGeom>
              <a:noFill/>
            </p:spPr>
            <p:txBody>
              <a:bodyPr wrap="square" rtlCol="0">
                <a:spAutoFit/>
              </a:bodyPr>
              <a:lstStyle/>
              <a:p>
                <a:r>
                  <a:rPr lang="en-US" sz="2400" dirty="0">
                    <a:solidFill>
                      <a:schemeClr val="tx1"/>
                    </a:solidFill>
                  </a:rPr>
                  <a:t>There are 8 spaces between the boys, which can be occupied by 4 girls in </a:t>
                </a:r>
                <a14:m>
                  <m:oMath xmlns:m="http://schemas.openxmlformats.org/officeDocument/2006/math">
                    <m:r>
                      <a:rPr lang="en-US" sz="2400" i="1" dirty="0" smtClean="0">
                        <a:solidFill>
                          <a:srgbClr val="C00000"/>
                        </a:solidFill>
                        <a:latin typeface="Cambria Math" panose="02040503050406030204" pitchFamily="18" charset="0"/>
                      </a:rPr>
                      <m:t>𝑃</m:t>
                    </m:r>
                    <m:r>
                      <a:rPr lang="en-US" sz="2400" i="1" dirty="0" smtClean="0">
                        <a:solidFill>
                          <a:srgbClr val="C00000"/>
                        </a:solidFill>
                        <a:latin typeface="Cambria Math" panose="02040503050406030204" pitchFamily="18" charset="0"/>
                      </a:rPr>
                      <m:t>(8,4) </m:t>
                    </m:r>
                  </m:oMath>
                </a14:m>
                <a:r>
                  <a:rPr lang="en-US" sz="2400" dirty="0">
                    <a:solidFill>
                      <a:schemeClr val="tx1"/>
                    </a:solidFill>
                  </a:rPr>
                  <a:t>ways.</a:t>
                </a:r>
                <a:r>
                  <a:rPr lang="en-SG" sz="2400" dirty="0">
                    <a:solidFill>
                      <a:schemeClr val="tx1"/>
                    </a:solidFill>
                  </a:rPr>
                  <a:t> </a:t>
                </a:r>
                <a:endParaRPr lang="en-US" sz="2400" dirty="0">
                  <a:solidFill>
                    <a:schemeClr val="tx1"/>
                  </a:solidFill>
                </a:endParaRPr>
              </a:p>
            </p:txBody>
          </p:sp>
        </mc:Choice>
        <mc:Fallback xmlns="">
          <p:sp>
            <p:nvSpPr>
              <p:cNvPr id="61" name="TextBox 60">
                <a:extLst>
                  <a:ext uri="{FF2B5EF4-FFF2-40B4-BE49-F238E27FC236}">
                    <a16:creationId xmlns:a16="http://schemas.microsoft.com/office/drawing/2014/main" id="{847D65F6-3362-7A4A-B2B1-6CA018133EB9}"/>
                  </a:ext>
                </a:extLst>
              </p:cNvPr>
              <p:cNvSpPr txBox="1">
                <a:spLocks noRot="1" noChangeAspect="1" noMove="1" noResize="1" noEditPoints="1" noAdjustHandles="1" noChangeArrowheads="1" noChangeShapeType="1" noTextEdit="1"/>
              </p:cNvSpPr>
              <p:nvPr/>
            </p:nvSpPr>
            <p:spPr>
              <a:xfrm>
                <a:off x="5220907" y="3691103"/>
                <a:ext cx="5851298" cy="830997"/>
              </a:xfrm>
              <a:prstGeom prst="rect">
                <a:avLst/>
              </a:prstGeom>
              <a:blipFill>
                <a:blip r:embed="rId28"/>
                <a:stretch>
                  <a:fillRect l="-1563" t="-5839" b="-15328"/>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E02E1DD8-8B2A-8A47-B517-BCEFDAB66E35}"/>
                  </a:ext>
                </a:extLst>
              </p:cNvPr>
              <p:cNvSpPr txBox="1"/>
              <p:nvPr/>
            </p:nvSpPr>
            <p:spPr>
              <a:xfrm>
                <a:off x="5220907" y="4575613"/>
                <a:ext cx="5668520" cy="1200329"/>
              </a:xfrm>
              <a:prstGeom prst="rect">
                <a:avLst/>
              </a:prstGeom>
              <a:noFill/>
            </p:spPr>
            <p:txBody>
              <a:bodyPr wrap="square" rtlCol="0">
                <a:spAutoFit/>
              </a:bodyPr>
              <a:lstStyle/>
              <a:p>
                <a:r>
                  <a:rPr lang="en-US" sz="2400" dirty="0">
                    <a:solidFill>
                      <a:schemeClr val="tx1"/>
                    </a:solidFill>
                  </a:rPr>
                  <a:t>Hence, </a:t>
                </a:r>
              </a:p>
              <a:p>
                <a:r>
                  <a:rPr lang="en-US" sz="2400" dirty="0">
                    <a:solidFill>
                      <a:schemeClr val="tx1"/>
                    </a:solidFill>
                  </a:rPr>
                  <a:t>total number of ways = </a:t>
                </a:r>
                <a14:m>
                  <m:oMath xmlns:m="http://schemas.openxmlformats.org/officeDocument/2006/math">
                    <m:r>
                      <a:rPr lang="en-US" sz="2400" i="1" dirty="0" smtClean="0">
                        <a:solidFill>
                          <a:schemeClr val="tx1"/>
                        </a:solidFill>
                        <a:latin typeface="Cambria Math" panose="02040503050406030204" pitchFamily="18" charset="0"/>
                      </a:rPr>
                      <m:t>7! × </m:t>
                    </m:r>
                    <m:r>
                      <a:rPr lang="en-US" sz="2400" i="1" dirty="0" smtClean="0">
                        <a:solidFill>
                          <a:schemeClr val="tx1"/>
                        </a:solidFill>
                        <a:latin typeface="Cambria Math" panose="02040503050406030204" pitchFamily="18" charset="0"/>
                      </a:rPr>
                      <m:t>𝑃</m:t>
                    </m:r>
                    <m:r>
                      <a:rPr lang="en-US" sz="2400" i="1" dirty="0" smtClean="0">
                        <a:solidFill>
                          <a:schemeClr val="tx1"/>
                        </a:solidFill>
                        <a:latin typeface="Cambria Math" panose="02040503050406030204" pitchFamily="18" charset="0"/>
                      </a:rPr>
                      <m:t>(8,4) = 5040 × 1680 = </m:t>
                    </m:r>
                    <m:r>
                      <a:rPr lang="en-US" sz="2400" b="1" i="1" dirty="0" smtClean="0">
                        <a:solidFill>
                          <a:srgbClr val="C00000"/>
                        </a:solidFill>
                        <a:latin typeface="Cambria Math" panose="02040503050406030204" pitchFamily="18" charset="0"/>
                      </a:rPr>
                      <m:t>𝟖𝟒𝟔𝟕𝟐𝟎𝟎</m:t>
                    </m:r>
                    <m:r>
                      <a:rPr lang="en-US" sz="2400" i="1" dirty="0" smtClean="0">
                        <a:solidFill>
                          <a:srgbClr val="C00000"/>
                        </a:solidFill>
                        <a:latin typeface="Cambria Math" panose="02040503050406030204" pitchFamily="18" charset="0"/>
                      </a:rPr>
                      <m:t>.</m:t>
                    </m:r>
                    <m:r>
                      <a:rPr lang="en-SG" sz="2400" i="1" dirty="0">
                        <a:solidFill>
                          <a:schemeClr val="tx1"/>
                        </a:solidFill>
                        <a:latin typeface="Cambria Math" panose="02040503050406030204" pitchFamily="18" charset="0"/>
                      </a:rPr>
                      <m:t> </m:t>
                    </m:r>
                  </m:oMath>
                </a14:m>
                <a:endParaRPr lang="en-US" sz="2400" dirty="0">
                  <a:solidFill>
                    <a:schemeClr val="tx1"/>
                  </a:solidFill>
                </a:endParaRPr>
              </a:p>
            </p:txBody>
          </p:sp>
        </mc:Choice>
        <mc:Fallback xmlns="">
          <p:sp>
            <p:nvSpPr>
              <p:cNvPr id="63" name="TextBox 62">
                <a:extLst>
                  <a:ext uri="{FF2B5EF4-FFF2-40B4-BE49-F238E27FC236}">
                    <a16:creationId xmlns:a16="http://schemas.microsoft.com/office/drawing/2014/main" id="{E02E1DD8-8B2A-8A47-B517-BCEFDAB66E35}"/>
                  </a:ext>
                </a:extLst>
              </p:cNvPr>
              <p:cNvSpPr txBox="1">
                <a:spLocks noRot="1" noChangeAspect="1" noMove="1" noResize="1" noEditPoints="1" noAdjustHandles="1" noChangeArrowheads="1" noChangeShapeType="1" noTextEdit="1"/>
              </p:cNvSpPr>
              <p:nvPr/>
            </p:nvSpPr>
            <p:spPr>
              <a:xfrm>
                <a:off x="5220907" y="4575613"/>
                <a:ext cx="5668520" cy="1200329"/>
              </a:xfrm>
              <a:prstGeom prst="rect">
                <a:avLst/>
              </a:prstGeom>
              <a:blipFill>
                <a:blip r:embed="rId29"/>
                <a:stretch>
                  <a:fillRect l="-1613" t="-4082"/>
                </a:stretch>
              </a:blipFill>
            </p:spPr>
            <p:txBody>
              <a:bodyPr/>
              <a:lstStyle/>
              <a:p>
                <a:r>
                  <a:rPr lang="en-US">
                    <a:noFill/>
                  </a:rPr>
                  <a:t> </a:t>
                </a:r>
              </a:p>
            </p:txBody>
          </p:sp>
        </mc:Fallback>
      </mc:AlternateContent>
    </p:spTree>
    <p:extLst>
      <p:ext uri="{BB962C8B-B14F-4D97-AF65-F5344CB8AC3E}">
        <p14:creationId xmlns:p14="http://schemas.microsoft.com/office/powerpoint/2010/main" val="3207476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dissolve">
                                      <p:cBhvr>
                                        <p:cTn id="17" dur="5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61"/>
                                        </p:tgtEl>
                                        <p:attrNameLst>
                                          <p:attrName>style.visibility</p:attrName>
                                        </p:attrNameLst>
                                      </p:cBhvr>
                                      <p:to>
                                        <p:strVal val="visible"/>
                                      </p:to>
                                    </p:set>
                                    <p:animEffect transition="in" filter="dissolve">
                                      <p:cBhvr>
                                        <p:cTn id="22" dur="500"/>
                                        <p:tgtEl>
                                          <p:spTgt spid="61"/>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dissolve">
                                      <p:cBhvr>
                                        <p:cTn id="27" dur="500"/>
                                        <p:tgtEl>
                                          <p:spTgt spid="4"/>
                                        </p:tgtEl>
                                      </p:cBhvr>
                                    </p:animEffect>
                                  </p:childTnLst>
                                </p:cTn>
                              </p:par>
                            </p:childTnLst>
                          </p:cTn>
                        </p:par>
                        <p:par>
                          <p:cTn id="28" fill="hold">
                            <p:stCondLst>
                              <p:cond delay="500"/>
                            </p:stCondLst>
                            <p:childTnLst>
                              <p:par>
                                <p:cTn id="29" presetID="9" presetClass="entr" presetSubtype="0" fill="hold" nodeType="after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dissolve">
                                      <p:cBhvr>
                                        <p:cTn id="31" dur="500"/>
                                        <p:tgtEl>
                                          <p:spTgt spid="6"/>
                                        </p:tgtEl>
                                      </p:cBhvr>
                                    </p:animEffect>
                                  </p:childTnLst>
                                </p:cTn>
                              </p:par>
                            </p:childTnLst>
                          </p:cTn>
                        </p:par>
                        <p:par>
                          <p:cTn id="32" fill="hold">
                            <p:stCondLst>
                              <p:cond delay="1000"/>
                            </p:stCondLst>
                            <p:childTnLst>
                              <p:par>
                                <p:cTn id="33" presetID="9" presetClass="entr" presetSubtype="0" fill="hold" nodeType="after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dissolve">
                                      <p:cBhvr>
                                        <p:cTn id="35" dur="500"/>
                                        <p:tgtEl>
                                          <p:spTgt spid="5"/>
                                        </p:tgtEl>
                                      </p:cBhvr>
                                    </p:animEffect>
                                  </p:childTnLst>
                                </p:cTn>
                              </p:par>
                            </p:childTnLst>
                          </p:cTn>
                        </p:par>
                        <p:par>
                          <p:cTn id="36" fill="hold">
                            <p:stCondLst>
                              <p:cond delay="1500"/>
                            </p:stCondLst>
                            <p:childTnLst>
                              <p:par>
                                <p:cTn id="37" presetID="9" presetClass="entr" presetSubtype="0" fill="hold" nodeType="after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dissolve">
                                      <p:cBhvr>
                                        <p:cTn id="39" dur="500"/>
                                        <p:tgtEl>
                                          <p:spTgt spid="9"/>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63"/>
                                        </p:tgtEl>
                                        <p:attrNameLst>
                                          <p:attrName>style.visibility</p:attrName>
                                        </p:attrNameLst>
                                      </p:cBhvr>
                                      <p:to>
                                        <p:strVal val="visible"/>
                                      </p:to>
                                    </p:set>
                                    <p:animEffect transition="in" filter="dissolve">
                                      <p:cBhvr>
                                        <p:cTn id="44"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45" grpId="0"/>
      <p:bldP spid="61" grpId="0"/>
      <p:bldP spid="6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9532D-7B1D-4496-906D-F1887FE508D2}"/>
              </a:ext>
            </a:extLst>
          </p:cNvPr>
          <p:cNvSpPr>
            <a:spLocks noGrp="1"/>
          </p:cNvSpPr>
          <p:nvPr>
            <p:ph type="title"/>
          </p:nvPr>
        </p:nvSpPr>
        <p:spPr>
          <a:xfrm>
            <a:off x="314662" y="226852"/>
            <a:ext cx="1097585" cy="895927"/>
          </a:xfrm>
        </p:spPr>
        <p:txBody>
          <a:bodyPr>
            <a:normAutofit/>
          </a:bodyPr>
          <a:lstStyle/>
          <a:p>
            <a:pPr>
              <a:lnSpc>
                <a:spcPct val="100000"/>
              </a:lnSpc>
            </a:pPr>
            <a:r>
              <a:rPr lang="en-SG" dirty="0" err="1">
                <a:solidFill>
                  <a:schemeClr val="bg2">
                    <a:lumMod val="50000"/>
                  </a:schemeClr>
                </a:solidFill>
              </a:rPr>
              <a:t>Q5</a:t>
            </a:r>
            <a:r>
              <a:rPr lang="en-SG" dirty="0">
                <a:solidFill>
                  <a:schemeClr val="bg2">
                    <a:lumMod val="50000"/>
                  </a:schemeClr>
                </a:solidFill>
              </a:rPr>
              <a:t>.</a:t>
            </a:r>
            <a:endParaRPr lang="en-SG" dirty="0">
              <a:solidFill>
                <a:schemeClr val="bg2">
                  <a:lumMod val="50000"/>
                </a:schemeClr>
              </a:solidFill>
              <a:latin typeface="Cambria Math" panose="02040503050406030204" pitchFamily="18" charset="0"/>
              <a:ea typeface="Cambria Math" panose="02040503050406030204" pitchFamily="18" charset="0"/>
            </a:endParaRPr>
          </a:p>
        </p:txBody>
      </p:sp>
      <p:sp>
        <p:nvSpPr>
          <p:cNvPr id="10" name="Slide Number Placeholder 1"/>
          <p:cNvSpPr>
            <a:spLocks noGrp="1"/>
          </p:cNvSpPr>
          <p:nvPr>
            <p:ph type="sldNum" sz="quarter" idx="12"/>
          </p:nvPr>
        </p:nvSpPr>
        <p:spPr>
          <a:xfrm>
            <a:off x="10485783" y="6492875"/>
            <a:ext cx="1706217" cy="365125"/>
          </a:xfrm>
        </p:spPr>
        <p:txBody>
          <a:bodyPr/>
          <a:lstStyle/>
          <a:p>
            <a:fld id="{576A5E36-E009-4840-A577-F8CF29116582}" type="slidenum">
              <a:rPr lang="en-US" sz="1600" smtClean="0">
                <a:solidFill>
                  <a:schemeClr val="bg1"/>
                </a:solidFill>
              </a:rPr>
              <a:t>9</a:t>
            </a:fld>
            <a:endParaRPr lang="en-US" sz="1600" dirty="0">
              <a:solidFill>
                <a:schemeClr val="bg1"/>
              </a:solidFill>
            </a:endParaRPr>
          </a:p>
        </p:txBody>
      </p:sp>
      <p:sp>
        <p:nvSpPr>
          <p:cNvPr id="14" name="TextBox 13">
            <a:extLst>
              <a:ext uri="{FF2B5EF4-FFF2-40B4-BE49-F238E27FC236}">
                <a16:creationId xmlns:a16="http://schemas.microsoft.com/office/drawing/2014/main" id="{59FB7879-BCF9-4B1A-A2CC-BB0778FBDB53}"/>
              </a:ext>
            </a:extLst>
          </p:cNvPr>
          <p:cNvSpPr txBox="1"/>
          <p:nvPr/>
        </p:nvSpPr>
        <p:spPr>
          <a:xfrm>
            <a:off x="1412247" y="555798"/>
            <a:ext cx="9756392" cy="954107"/>
          </a:xfrm>
          <a:prstGeom prst="rect">
            <a:avLst/>
          </a:prstGeom>
          <a:solidFill>
            <a:srgbClr val="CCECFF"/>
          </a:solidFill>
        </p:spPr>
        <p:txBody>
          <a:bodyPr wrap="square" rtlCol="0">
            <a:spAutoFit/>
          </a:bodyPr>
          <a:lstStyle/>
          <a:p>
            <a:pPr marL="623888" indent="-623888"/>
            <a:r>
              <a:rPr lang="en-SG" sz="2800" dirty="0">
                <a:solidFill>
                  <a:srgbClr val="0000FF"/>
                </a:solidFill>
              </a:rPr>
              <a:t>(b)	In how many ways can 6 people sit around a circular table, but Eric would not sit next to Freddy?</a:t>
            </a:r>
          </a:p>
        </p:txBody>
      </p:sp>
      <p:grpSp>
        <p:nvGrpSpPr>
          <p:cNvPr id="5" name="Group 4">
            <a:extLst>
              <a:ext uri="{FF2B5EF4-FFF2-40B4-BE49-F238E27FC236}">
                <a16:creationId xmlns:a16="http://schemas.microsoft.com/office/drawing/2014/main" id="{FF62FBFF-FEF7-42FF-8D2A-ED0BA72C5D7D}"/>
              </a:ext>
            </a:extLst>
          </p:cNvPr>
          <p:cNvGrpSpPr/>
          <p:nvPr/>
        </p:nvGrpSpPr>
        <p:grpSpPr>
          <a:xfrm>
            <a:off x="1378284" y="2330471"/>
            <a:ext cx="3008857" cy="3542701"/>
            <a:chOff x="1378284" y="2330471"/>
            <a:chExt cx="3008857" cy="3542701"/>
          </a:xfrm>
        </p:grpSpPr>
        <p:pic>
          <p:nvPicPr>
            <p:cNvPr id="8" name="Picture 7">
              <a:extLst>
                <a:ext uri="{FF2B5EF4-FFF2-40B4-BE49-F238E27FC236}">
                  <a16:creationId xmlns:a16="http://schemas.microsoft.com/office/drawing/2014/main" id="{4FFA56A2-0C16-4C8D-8E37-46CB91BD81E6}"/>
                </a:ext>
              </a:extLst>
            </p:cNvPr>
            <p:cNvPicPr>
              <a:picLocks noChangeAspect="1"/>
            </p:cNvPicPr>
            <p:nvPr/>
          </p:nvPicPr>
          <p:blipFill>
            <a:blip r:embed="rId2"/>
            <a:stretch>
              <a:fillRect/>
            </a:stretch>
          </p:blipFill>
          <p:spPr>
            <a:xfrm>
              <a:off x="3103474" y="4474425"/>
              <a:ext cx="588303" cy="937082"/>
            </a:xfrm>
            <a:prstGeom prst="rect">
              <a:avLst/>
            </a:prstGeom>
          </p:spPr>
        </p:pic>
        <p:pic>
          <p:nvPicPr>
            <p:cNvPr id="12" name="Picture 11">
              <a:extLst>
                <a:ext uri="{FF2B5EF4-FFF2-40B4-BE49-F238E27FC236}">
                  <a16:creationId xmlns:a16="http://schemas.microsoft.com/office/drawing/2014/main" id="{53A518C9-D2FA-4ACD-883A-E2228CD2A71A}"/>
                </a:ext>
              </a:extLst>
            </p:cNvPr>
            <p:cNvPicPr>
              <a:picLocks noChangeAspect="1"/>
            </p:cNvPicPr>
            <p:nvPr/>
          </p:nvPicPr>
          <p:blipFill>
            <a:blip r:embed="rId3"/>
            <a:stretch>
              <a:fillRect/>
            </a:stretch>
          </p:blipFill>
          <p:spPr>
            <a:xfrm>
              <a:off x="1378284" y="3612702"/>
              <a:ext cx="506896" cy="861723"/>
            </a:xfrm>
            <a:prstGeom prst="rect">
              <a:avLst/>
            </a:prstGeom>
          </p:spPr>
        </p:pic>
        <p:pic>
          <p:nvPicPr>
            <p:cNvPr id="56" name="Picture 55">
              <a:extLst>
                <a:ext uri="{FF2B5EF4-FFF2-40B4-BE49-F238E27FC236}">
                  <a16:creationId xmlns:a16="http://schemas.microsoft.com/office/drawing/2014/main" id="{FDE05404-6800-4360-A552-56AD1AB31843}"/>
                </a:ext>
              </a:extLst>
            </p:cNvPr>
            <p:cNvPicPr>
              <a:picLocks noChangeAspect="1"/>
            </p:cNvPicPr>
            <p:nvPr/>
          </p:nvPicPr>
          <p:blipFill>
            <a:blip r:embed="rId3">
              <a:duotone>
                <a:prstClr val="black"/>
                <a:schemeClr val="accent5">
                  <a:tint val="45000"/>
                  <a:satMod val="400000"/>
                </a:schemeClr>
              </a:duotone>
            </a:blip>
            <a:stretch>
              <a:fillRect/>
            </a:stretch>
          </p:blipFill>
          <p:spPr>
            <a:xfrm>
              <a:off x="2122753" y="4549784"/>
              <a:ext cx="506896" cy="861723"/>
            </a:xfrm>
            <a:prstGeom prst="rect">
              <a:avLst/>
            </a:prstGeom>
          </p:spPr>
        </p:pic>
        <p:pic>
          <p:nvPicPr>
            <p:cNvPr id="58" name="Picture 57">
              <a:extLst>
                <a:ext uri="{FF2B5EF4-FFF2-40B4-BE49-F238E27FC236}">
                  <a16:creationId xmlns:a16="http://schemas.microsoft.com/office/drawing/2014/main" id="{3D06D891-C888-47F9-8260-BF3CA86977EA}"/>
                </a:ext>
              </a:extLst>
            </p:cNvPr>
            <p:cNvPicPr>
              <a:picLocks noChangeAspect="1"/>
            </p:cNvPicPr>
            <p:nvPr/>
          </p:nvPicPr>
          <p:blipFill>
            <a:blip r:embed="rId3">
              <a:duotone>
                <a:prstClr val="black"/>
                <a:srgbClr val="D9C3A5">
                  <a:tint val="50000"/>
                  <a:satMod val="180000"/>
                </a:srgbClr>
              </a:duotone>
            </a:blip>
            <a:stretch>
              <a:fillRect/>
            </a:stretch>
          </p:blipFill>
          <p:spPr>
            <a:xfrm>
              <a:off x="3115368" y="2750979"/>
              <a:ext cx="506896" cy="861723"/>
            </a:xfrm>
            <a:prstGeom prst="rect">
              <a:avLst/>
            </a:prstGeom>
          </p:spPr>
        </p:pic>
        <p:pic>
          <p:nvPicPr>
            <p:cNvPr id="60" name="Picture 59">
              <a:extLst>
                <a:ext uri="{FF2B5EF4-FFF2-40B4-BE49-F238E27FC236}">
                  <a16:creationId xmlns:a16="http://schemas.microsoft.com/office/drawing/2014/main" id="{5417652E-2702-4835-9D79-A8EC0E3B2D13}"/>
                </a:ext>
              </a:extLst>
            </p:cNvPr>
            <p:cNvPicPr>
              <a:picLocks noChangeAspect="1"/>
            </p:cNvPicPr>
            <p:nvPr/>
          </p:nvPicPr>
          <p:blipFill>
            <a:blip r:embed="rId3"/>
            <a:stretch>
              <a:fillRect/>
            </a:stretch>
          </p:blipFill>
          <p:spPr>
            <a:xfrm>
              <a:off x="3880245" y="3444615"/>
              <a:ext cx="506896" cy="861723"/>
            </a:xfrm>
            <a:prstGeom prst="rect">
              <a:avLst/>
            </a:prstGeom>
          </p:spPr>
        </p:pic>
        <p:pic>
          <p:nvPicPr>
            <p:cNvPr id="66" name="Picture 65">
              <a:extLst>
                <a:ext uri="{FF2B5EF4-FFF2-40B4-BE49-F238E27FC236}">
                  <a16:creationId xmlns:a16="http://schemas.microsoft.com/office/drawing/2014/main" id="{6714DC57-799C-47BB-A36A-C87D3D9FB9DE}"/>
                </a:ext>
              </a:extLst>
            </p:cNvPr>
            <p:cNvPicPr>
              <a:picLocks noChangeAspect="1"/>
            </p:cNvPicPr>
            <p:nvPr/>
          </p:nvPicPr>
          <p:blipFill>
            <a:blip r:embed="rId2"/>
            <a:stretch>
              <a:fillRect/>
            </a:stretch>
          </p:blipFill>
          <p:spPr>
            <a:xfrm>
              <a:off x="2114345" y="2713299"/>
              <a:ext cx="588303" cy="937082"/>
            </a:xfrm>
            <a:prstGeom prst="rect">
              <a:avLst/>
            </a:prstGeom>
          </p:spPr>
        </p:pic>
        <p:sp>
          <p:nvSpPr>
            <p:cNvPr id="3" name="TextBox 2">
              <a:extLst>
                <a:ext uri="{FF2B5EF4-FFF2-40B4-BE49-F238E27FC236}">
                  <a16:creationId xmlns:a16="http://schemas.microsoft.com/office/drawing/2014/main" id="{8F27E5C6-54AC-4DFA-A989-138AF6BD7759}"/>
                </a:ext>
              </a:extLst>
            </p:cNvPr>
            <p:cNvSpPr txBox="1"/>
            <p:nvPr/>
          </p:nvSpPr>
          <p:spPr>
            <a:xfrm>
              <a:off x="2980430" y="2330471"/>
              <a:ext cx="776771" cy="461665"/>
            </a:xfrm>
            <a:prstGeom prst="rect">
              <a:avLst/>
            </a:prstGeom>
            <a:noFill/>
          </p:spPr>
          <p:txBody>
            <a:bodyPr wrap="square" rtlCol="0">
              <a:spAutoFit/>
            </a:bodyPr>
            <a:lstStyle/>
            <a:p>
              <a:pPr algn="ctr"/>
              <a:r>
                <a:rPr lang="en-SG" sz="2400" dirty="0"/>
                <a:t>Eric</a:t>
              </a:r>
            </a:p>
          </p:txBody>
        </p:sp>
        <p:sp>
          <p:nvSpPr>
            <p:cNvPr id="4" name="TextBox 3">
              <a:extLst>
                <a:ext uri="{FF2B5EF4-FFF2-40B4-BE49-F238E27FC236}">
                  <a16:creationId xmlns:a16="http://schemas.microsoft.com/office/drawing/2014/main" id="{4B0077FD-B388-466F-A52B-72824A0934C4}"/>
                </a:ext>
              </a:extLst>
            </p:cNvPr>
            <p:cNvSpPr txBox="1"/>
            <p:nvPr/>
          </p:nvSpPr>
          <p:spPr>
            <a:xfrm>
              <a:off x="1697300" y="5411507"/>
              <a:ext cx="1357801" cy="461665"/>
            </a:xfrm>
            <a:prstGeom prst="rect">
              <a:avLst/>
            </a:prstGeom>
            <a:noFill/>
          </p:spPr>
          <p:txBody>
            <a:bodyPr wrap="square" rtlCol="0">
              <a:spAutoFit/>
            </a:bodyPr>
            <a:lstStyle/>
            <a:p>
              <a:pPr algn="ctr"/>
              <a:r>
                <a:rPr lang="en-SG" sz="2400" dirty="0"/>
                <a:t>Freddy</a:t>
              </a:r>
            </a:p>
          </p:txBody>
        </p:sp>
      </p:grpSp>
      <p:sp>
        <p:nvSpPr>
          <p:cNvPr id="6" name="TextBox 5">
            <a:extLst>
              <a:ext uri="{FF2B5EF4-FFF2-40B4-BE49-F238E27FC236}">
                <a16:creationId xmlns:a16="http://schemas.microsoft.com/office/drawing/2014/main" id="{9C8AD121-EE56-2F47-B353-462B5A0220E8}"/>
              </a:ext>
            </a:extLst>
          </p:cNvPr>
          <p:cNvSpPr txBox="1"/>
          <p:nvPr/>
        </p:nvSpPr>
        <p:spPr>
          <a:xfrm>
            <a:off x="4646951" y="2190079"/>
            <a:ext cx="6685613" cy="954107"/>
          </a:xfrm>
          <a:prstGeom prst="rect">
            <a:avLst/>
          </a:prstGeom>
          <a:noFill/>
        </p:spPr>
        <p:txBody>
          <a:bodyPr wrap="square" rtlCol="0">
            <a:spAutoFit/>
          </a:bodyPr>
          <a:lstStyle/>
          <a:p>
            <a:r>
              <a:rPr lang="en-US" sz="2800" dirty="0"/>
              <a:t>There are 5! = 120 ways for 6 people to sit around a circular table.</a:t>
            </a:r>
            <a:r>
              <a:rPr lang="en-SG" sz="2800" dirty="0"/>
              <a:t> </a:t>
            </a:r>
            <a:endParaRPr lang="en-US" sz="2800" dirty="0"/>
          </a:p>
        </p:txBody>
      </p:sp>
      <p:sp>
        <p:nvSpPr>
          <p:cNvPr id="7" name="TextBox 6">
            <a:extLst>
              <a:ext uri="{FF2B5EF4-FFF2-40B4-BE49-F238E27FC236}">
                <a16:creationId xmlns:a16="http://schemas.microsoft.com/office/drawing/2014/main" id="{D02DEBDD-FF69-E64C-80F7-F0D932A5A154}"/>
              </a:ext>
            </a:extLst>
          </p:cNvPr>
          <p:cNvSpPr txBox="1"/>
          <p:nvPr/>
        </p:nvSpPr>
        <p:spPr>
          <a:xfrm>
            <a:off x="4645122" y="3520343"/>
            <a:ext cx="6523517" cy="954107"/>
          </a:xfrm>
          <a:prstGeom prst="rect">
            <a:avLst/>
          </a:prstGeom>
          <a:noFill/>
        </p:spPr>
        <p:txBody>
          <a:bodyPr wrap="square" rtlCol="0">
            <a:spAutoFit/>
          </a:bodyPr>
          <a:lstStyle/>
          <a:p>
            <a:r>
              <a:rPr lang="en-US" sz="2800" dirty="0"/>
              <a:t>There are 2 × 4! = 48 ways for Eric and Freddy to sit together.</a:t>
            </a:r>
            <a:r>
              <a:rPr lang="en-SG" sz="2800" dirty="0"/>
              <a:t> </a:t>
            </a:r>
            <a:endParaRPr lang="en-US" sz="2800" dirty="0"/>
          </a:p>
        </p:txBody>
      </p:sp>
      <p:sp>
        <p:nvSpPr>
          <p:cNvPr id="9" name="TextBox 8">
            <a:extLst>
              <a:ext uri="{FF2B5EF4-FFF2-40B4-BE49-F238E27FC236}">
                <a16:creationId xmlns:a16="http://schemas.microsoft.com/office/drawing/2014/main" id="{7AB413EB-626B-0C41-B9F5-6DB9781FCD29}"/>
              </a:ext>
            </a:extLst>
          </p:cNvPr>
          <p:cNvSpPr txBox="1"/>
          <p:nvPr/>
        </p:nvSpPr>
        <p:spPr>
          <a:xfrm>
            <a:off x="4653684" y="4888287"/>
            <a:ext cx="6678880" cy="523220"/>
          </a:xfrm>
          <a:prstGeom prst="rect">
            <a:avLst/>
          </a:prstGeom>
          <a:noFill/>
        </p:spPr>
        <p:txBody>
          <a:bodyPr wrap="none" rtlCol="0">
            <a:spAutoFit/>
          </a:bodyPr>
          <a:lstStyle/>
          <a:p>
            <a:r>
              <a:rPr lang="en-US" sz="2800" dirty="0"/>
              <a:t>Therefore, the answer is 120 – 48 = </a:t>
            </a:r>
            <a:r>
              <a:rPr lang="en-US" sz="2800" b="1" dirty="0">
                <a:solidFill>
                  <a:srgbClr val="C00000"/>
                </a:solidFill>
              </a:rPr>
              <a:t>72</a:t>
            </a:r>
            <a:r>
              <a:rPr lang="en-US" sz="2800" dirty="0"/>
              <a:t> ways.</a:t>
            </a:r>
            <a:r>
              <a:rPr lang="en-SG" sz="2800" dirty="0"/>
              <a:t> </a:t>
            </a:r>
            <a:endParaRPr lang="en-US" sz="2800" dirty="0"/>
          </a:p>
        </p:txBody>
      </p:sp>
    </p:spTree>
    <p:extLst>
      <p:ext uri="{BB962C8B-B14F-4D97-AF65-F5344CB8AC3E}">
        <p14:creationId xmlns:p14="http://schemas.microsoft.com/office/powerpoint/2010/main" val="2835244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9532D-7B1D-4496-906D-F1887FE508D2}"/>
              </a:ext>
            </a:extLst>
          </p:cNvPr>
          <p:cNvSpPr>
            <a:spLocks noGrp="1"/>
          </p:cNvSpPr>
          <p:nvPr>
            <p:ph type="title"/>
          </p:nvPr>
        </p:nvSpPr>
        <p:spPr>
          <a:xfrm>
            <a:off x="314662" y="226852"/>
            <a:ext cx="1097585" cy="895927"/>
          </a:xfrm>
        </p:spPr>
        <p:txBody>
          <a:bodyPr>
            <a:normAutofit/>
          </a:bodyPr>
          <a:lstStyle/>
          <a:p>
            <a:pPr>
              <a:lnSpc>
                <a:spcPct val="100000"/>
              </a:lnSpc>
            </a:pPr>
            <a:r>
              <a:rPr lang="en-SG" dirty="0" err="1">
                <a:solidFill>
                  <a:schemeClr val="bg2">
                    <a:lumMod val="50000"/>
                  </a:schemeClr>
                </a:solidFill>
              </a:rPr>
              <a:t>Q5</a:t>
            </a:r>
            <a:r>
              <a:rPr lang="en-SG" dirty="0">
                <a:solidFill>
                  <a:schemeClr val="bg2">
                    <a:lumMod val="50000"/>
                  </a:schemeClr>
                </a:solidFill>
              </a:rPr>
              <a:t>.</a:t>
            </a:r>
            <a:endParaRPr lang="en-SG" dirty="0">
              <a:solidFill>
                <a:schemeClr val="bg2">
                  <a:lumMod val="50000"/>
                </a:schemeClr>
              </a:solidFill>
              <a:latin typeface="Cambria Math" panose="02040503050406030204" pitchFamily="18" charset="0"/>
              <a:ea typeface="Cambria Math" panose="02040503050406030204" pitchFamily="18" charset="0"/>
            </a:endParaRPr>
          </a:p>
        </p:txBody>
      </p:sp>
      <p:sp>
        <p:nvSpPr>
          <p:cNvPr id="10" name="Slide Number Placeholder 1"/>
          <p:cNvSpPr>
            <a:spLocks noGrp="1"/>
          </p:cNvSpPr>
          <p:nvPr>
            <p:ph type="sldNum" sz="quarter" idx="12"/>
          </p:nvPr>
        </p:nvSpPr>
        <p:spPr>
          <a:xfrm>
            <a:off x="10485783" y="6492875"/>
            <a:ext cx="1706217" cy="365125"/>
          </a:xfrm>
        </p:spPr>
        <p:txBody>
          <a:bodyPr/>
          <a:lstStyle/>
          <a:p>
            <a:fld id="{576A5E36-E009-4840-A577-F8CF29116582}" type="slidenum">
              <a:rPr lang="en-US" sz="1600" smtClean="0">
                <a:solidFill>
                  <a:schemeClr val="bg1"/>
                </a:solidFill>
              </a:rPr>
              <a:t>10</a:t>
            </a:fld>
            <a:endParaRPr lang="en-US" sz="1600" dirty="0">
              <a:solidFill>
                <a:schemeClr val="bg1"/>
              </a:solidFill>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9FB7879-BCF9-4B1A-A2CC-BB0778FBDB53}"/>
                  </a:ext>
                </a:extLst>
              </p:cNvPr>
              <p:cNvSpPr txBox="1"/>
              <p:nvPr/>
            </p:nvSpPr>
            <p:spPr>
              <a:xfrm>
                <a:off x="1412247" y="555798"/>
                <a:ext cx="9756392" cy="954107"/>
              </a:xfrm>
              <a:prstGeom prst="rect">
                <a:avLst/>
              </a:prstGeom>
              <a:solidFill>
                <a:srgbClr val="CCECFF"/>
              </a:solidFill>
            </p:spPr>
            <p:txBody>
              <a:bodyPr wrap="square" rtlCol="0">
                <a:spAutoFit/>
              </a:bodyPr>
              <a:lstStyle/>
              <a:p>
                <a:pPr marL="623888" indent="-623888"/>
                <a:r>
                  <a:rPr lang="en-SG" sz="2800" dirty="0">
                    <a:solidFill>
                      <a:srgbClr val="0000FF"/>
                    </a:solidFill>
                  </a:rPr>
                  <a:t>(c)	In how many ways can </a:t>
                </a:r>
                <a14:m>
                  <m:oMath xmlns:m="http://schemas.openxmlformats.org/officeDocument/2006/math">
                    <m:r>
                      <a:rPr lang="en-SG" sz="2800" i="1" dirty="0" smtClean="0">
                        <a:solidFill>
                          <a:srgbClr val="0000FF"/>
                        </a:solidFill>
                        <a:latin typeface="Cambria Math" panose="02040503050406030204" pitchFamily="18" charset="0"/>
                      </a:rPr>
                      <m:t>𝑛</m:t>
                    </m:r>
                    <m:r>
                      <a:rPr lang="en-SG" sz="2800" i="1" dirty="0" smtClean="0">
                        <a:solidFill>
                          <a:srgbClr val="0000FF"/>
                        </a:solidFill>
                        <a:latin typeface="Cambria Math" panose="02040503050406030204" pitchFamily="18" charset="0"/>
                      </a:rPr>
                      <m:t>−1</m:t>
                    </m:r>
                  </m:oMath>
                </a14:m>
                <a:r>
                  <a:rPr lang="en-SG" sz="2800" dirty="0">
                    <a:solidFill>
                      <a:srgbClr val="0000FF"/>
                    </a:solidFill>
                  </a:rPr>
                  <a:t> people sit around a circular table with </a:t>
                </a:r>
                <a14:m>
                  <m:oMath xmlns:m="http://schemas.openxmlformats.org/officeDocument/2006/math">
                    <m:r>
                      <a:rPr lang="en-SG" sz="2800" i="1" dirty="0" smtClean="0">
                        <a:solidFill>
                          <a:srgbClr val="0000FF"/>
                        </a:solidFill>
                        <a:latin typeface="Cambria Math" panose="02040503050406030204" pitchFamily="18" charset="0"/>
                      </a:rPr>
                      <m:t>𝑛</m:t>
                    </m:r>
                  </m:oMath>
                </a14:m>
                <a:r>
                  <a:rPr lang="en-SG" sz="2800" dirty="0">
                    <a:solidFill>
                      <a:srgbClr val="0000FF"/>
                    </a:solidFill>
                  </a:rPr>
                  <a:t> chairs?</a:t>
                </a:r>
              </a:p>
            </p:txBody>
          </p:sp>
        </mc:Choice>
        <mc:Fallback xmlns="">
          <p:sp>
            <p:nvSpPr>
              <p:cNvPr id="14" name="TextBox 13">
                <a:extLst>
                  <a:ext uri="{FF2B5EF4-FFF2-40B4-BE49-F238E27FC236}">
                    <a16:creationId xmlns:a16="http://schemas.microsoft.com/office/drawing/2014/main" id="{59FB7879-BCF9-4B1A-A2CC-BB0778FBDB53}"/>
                  </a:ext>
                </a:extLst>
              </p:cNvPr>
              <p:cNvSpPr txBox="1">
                <a:spLocks noRot="1" noChangeAspect="1" noMove="1" noResize="1" noEditPoints="1" noAdjustHandles="1" noChangeArrowheads="1" noChangeShapeType="1" noTextEdit="1"/>
              </p:cNvSpPr>
              <p:nvPr/>
            </p:nvSpPr>
            <p:spPr>
              <a:xfrm>
                <a:off x="1412247" y="555798"/>
                <a:ext cx="9756392" cy="954107"/>
              </a:xfrm>
              <a:prstGeom prst="rect">
                <a:avLst/>
              </a:prstGeom>
              <a:blipFill>
                <a:blip r:embed="rId2"/>
                <a:stretch>
                  <a:fillRect l="-1313" t="-5732" b="-17197"/>
                </a:stretch>
              </a:blipFill>
            </p:spPr>
            <p:txBody>
              <a:bodyPr/>
              <a:lstStyle/>
              <a:p>
                <a:r>
                  <a:rPr lang="en-SG">
                    <a:noFill/>
                  </a:rPr>
                  <a:t> </a:t>
                </a:r>
              </a:p>
            </p:txBody>
          </p:sp>
        </mc:Fallback>
      </mc:AlternateContent>
      <p:sp>
        <p:nvSpPr>
          <p:cNvPr id="6" name="Oval 5">
            <a:extLst>
              <a:ext uri="{FF2B5EF4-FFF2-40B4-BE49-F238E27FC236}">
                <a16:creationId xmlns:a16="http://schemas.microsoft.com/office/drawing/2014/main" id="{3F151376-98E3-4E74-9C3B-468AE0C6B51E}"/>
              </a:ext>
            </a:extLst>
          </p:cNvPr>
          <p:cNvSpPr/>
          <p:nvPr/>
        </p:nvSpPr>
        <p:spPr>
          <a:xfrm>
            <a:off x="1911927" y="2563091"/>
            <a:ext cx="2438400" cy="2258291"/>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7" name="Rectangle: Rounded Corners 6">
            <a:extLst>
              <a:ext uri="{FF2B5EF4-FFF2-40B4-BE49-F238E27FC236}">
                <a16:creationId xmlns:a16="http://schemas.microsoft.com/office/drawing/2014/main" id="{FDBD8B43-3886-41F5-A900-7A9EA89694BA}"/>
              </a:ext>
            </a:extLst>
          </p:cNvPr>
          <p:cNvSpPr/>
          <p:nvPr/>
        </p:nvSpPr>
        <p:spPr>
          <a:xfrm>
            <a:off x="2105893" y="2161310"/>
            <a:ext cx="471054" cy="401781"/>
          </a:xfrm>
          <a:prstGeom prst="roundRect">
            <a:avLst/>
          </a:prstGeom>
          <a:solidFill>
            <a:srgbClr val="FF505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9" name="Rectangle: Rounded Corners 8">
            <a:extLst>
              <a:ext uri="{FF2B5EF4-FFF2-40B4-BE49-F238E27FC236}">
                <a16:creationId xmlns:a16="http://schemas.microsoft.com/office/drawing/2014/main" id="{0A38AC06-F92A-41F1-8B93-284F06ED39DD}"/>
              </a:ext>
            </a:extLst>
          </p:cNvPr>
          <p:cNvSpPr/>
          <p:nvPr/>
        </p:nvSpPr>
        <p:spPr>
          <a:xfrm>
            <a:off x="2992583" y="1988128"/>
            <a:ext cx="471054" cy="401781"/>
          </a:xfrm>
          <a:prstGeom prst="roundRect">
            <a:avLst/>
          </a:prstGeom>
          <a:solidFill>
            <a:srgbClr val="FF505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1" name="Rectangle: Rounded Corners 10">
            <a:extLst>
              <a:ext uri="{FF2B5EF4-FFF2-40B4-BE49-F238E27FC236}">
                <a16:creationId xmlns:a16="http://schemas.microsoft.com/office/drawing/2014/main" id="{876CAB55-A543-47CF-AC9E-BFB279CC4631}"/>
              </a:ext>
            </a:extLst>
          </p:cNvPr>
          <p:cNvSpPr/>
          <p:nvPr/>
        </p:nvSpPr>
        <p:spPr>
          <a:xfrm>
            <a:off x="3879275" y="2271906"/>
            <a:ext cx="471054" cy="401781"/>
          </a:xfrm>
          <a:prstGeom prst="roundRect">
            <a:avLst/>
          </a:prstGeom>
          <a:solidFill>
            <a:srgbClr val="FF505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3" name="Rectangle: Rounded Corners 12">
            <a:extLst>
              <a:ext uri="{FF2B5EF4-FFF2-40B4-BE49-F238E27FC236}">
                <a16:creationId xmlns:a16="http://schemas.microsoft.com/office/drawing/2014/main" id="{2C765756-41DE-4EBA-B7EB-64B41F59683F}"/>
              </a:ext>
            </a:extLst>
          </p:cNvPr>
          <p:cNvSpPr/>
          <p:nvPr/>
        </p:nvSpPr>
        <p:spPr>
          <a:xfrm>
            <a:off x="1454725" y="2812715"/>
            <a:ext cx="471054" cy="401781"/>
          </a:xfrm>
          <a:prstGeom prst="roundRect">
            <a:avLst/>
          </a:prstGeom>
          <a:solidFill>
            <a:srgbClr val="FF505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5" name="Rectangle: Rounded Corners 14">
            <a:extLst>
              <a:ext uri="{FF2B5EF4-FFF2-40B4-BE49-F238E27FC236}">
                <a16:creationId xmlns:a16="http://schemas.microsoft.com/office/drawing/2014/main" id="{3F3E441B-B914-4CE0-9A1A-E74BEE03B880}"/>
              </a:ext>
            </a:extLst>
          </p:cNvPr>
          <p:cNvSpPr/>
          <p:nvPr/>
        </p:nvSpPr>
        <p:spPr>
          <a:xfrm>
            <a:off x="4447315" y="2920773"/>
            <a:ext cx="471054" cy="401781"/>
          </a:xfrm>
          <a:prstGeom prst="roundRect">
            <a:avLst/>
          </a:prstGeom>
          <a:solidFill>
            <a:srgbClr val="FF505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17" name="Rectangle: Rounded Corners 16">
            <a:extLst>
              <a:ext uri="{FF2B5EF4-FFF2-40B4-BE49-F238E27FC236}">
                <a16:creationId xmlns:a16="http://schemas.microsoft.com/office/drawing/2014/main" id="{92858956-2C13-45FE-A567-4821DF8B7AE4}"/>
              </a:ext>
            </a:extLst>
          </p:cNvPr>
          <p:cNvSpPr/>
          <p:nvPr/>
        </p:nvSpPr>
        <p:spPr>
          <a:xfrm>
            <a:off x="4572002" y="3692236"/>
            <a:ext cx="471054" cy="401781"/>
          </a:xfrm>
          <a:prstGeom prst="roundRect">
            <a:avLst/>
          </a:prstGeom>
          <a:solidFill>
            <a:srgbClr val="FF505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9" name="Rectangle: Rounded Corners 18">
            <a:extLst>
              <a:ext uri="{FF2B5EF4-FFF2-40B4-BE49-F238E27FC236}">
                <a16:creationId xmlns:a16="http://schemas.microsoft.com/office/drawing/2014/main" id="{E3BBC274-6393-4913-801C-525CC39C31DB}"/>
              </a:ext>
            </a:extLst>
          </p:cNvPr>
          <p:cNvSpPr/>
          <p:nvPr/>
        </p:nvSpPr>
        <p:spPr>
          <a:xfrm>
            <a:off x="1330028" y="3744598"/>
            <a:ext cx="471054" cy="401781"/>
          </a:xfrm>
          <a:prstGeom prst="roundRect">
            <a:avLst/>
          </a:prstGeom>
          <a:solidFill>
            <a:srgbClr val="FF505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1" name="Rectangle: Rounded Corners 20">
            <a:extLst>
              <a:ext uri="{FF2B5EF4-FFF2-40B4-BE49-F238E27FC236}">
                <a16:creationId xmlns:a16="http://schemas.microsoft.com/office/drawing/2014/main" id="{9FC5C1D4-4C28-4642-8C5F-B39A12EA3DEA}"/>
              </a:ext>
            </a:extLst>
          </p:cNvPr>
          <p:cNvSpPr/>
          <p:nvPr/>
        </p:nvSpPr>
        <p:spPr>
          <a:xfrm>
            <a:off x="1690252" y="4506191"/>
            <a:ext cx="471054" cy="401781"/>
          </a:xfrm>
          <a:prstGeom prst="roundRect">
            <a:avLst/>
          </a:prstGeom>
          <a:solidFill>
            <a:srgbClr val="FF505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5" name="Rectangle: Rounded Corners 24">
            <a:extLst>
              <a:ext uri="{FF2B5EF4-FFF2-40B4-BE49-F238E27FC236}">
                <a16:creationId xmlns:a16="http://schemas.microsoft.com/office/drawing/2014/main" id="{1DB369AA-C7A7-441C-A719-C0E57F3617D1}"/>
              </a:ext>
            </a:extLst>
          </p:cNvPr>
          <p:cNvSpPr/>
          <p:nvPr/>
        </p:nvSpPr>
        <p:spPr>
          <a:xfrm>
            <a:off x="3463637" y="4994564"/>
            <a:ext cx="471054" cy="401781"/>
          </a:xfrm>
          <a:prstGeom prst="roundRect">
            <a:avLst/>
          </a:prstGeom>
          <a:solidFill>
            <a:srgbClr val="FF505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7" name="Rectangle: Rounded Corners 26">
            <a:extLst>
              <a:ext uri="{FF2B5EF4-FFF2-40B4-BE49-F238E27FC236}">
                <a16:creationId xmlns:a16="http://schemas.microsoft.com/office/drawing/2014/main" id="{EC102F7C-AAF6-473C-AEBC-D3E16A16D388}"/>
              </a:ext>
            </a:extLst>
          </p:cNvPr>
          <p:cNvSpPr/>
          <p:nvPr/>
        </p:nvSpPr>
        <p:spPr>
          <a:xfrm>
            <a:off x="4163294" y="4462896"/>
            <a:ext cx="471054" cy="401781"/>
          </a:xfrm>
          <a:prstGeom prst="roundRect">
            <a:avLst/>
          </a:prstGeom>
          <a:solidFill>
            <a:srgbClr val="FF505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29" name="Rectangle: Rounded Corners 28">
            <a:extLst>
              <a:ext uri="{FF2B5EF4-FFF2-40B4-BE49-F238E27FC236}">
                <a16:creationId xmlns:a16="http://schemas.microsoft.com/office/drawing/2014/main" id="{DB3E112D-EB8F-4CD2-AC03-FC7175A9FDEB}"/>
              </a:ext>
            </a:extLst>
          </p:cNvPr>
          <p:cNvSpPr/>
          <p:nvPr/>
        </p:nvSpPr>
        <p:spPr>
          <a:xfrm>
            <a:off x="2549239" y="4994562"/>
            <a:ext cx="471054" cy="401781"/>
          </a:xfrm>
          <a:prstGeom prst="roundRect">
            <a:avLst/>
          </a:prstGeom>
          <a:solidFill>
            <a:srgbClr val="FF505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3" name="TextBox 2">
            <a:extLst>
              <a:ext uri="{FF2B5EF4-FFF2-40B4-BE49-F238E27FC236}">
                <a16:creationId xmlns:a16="http://schemas.microsoft.com/office/drawing/2014/main" id="{C997BE16-C25C-3D4C-8571-3C16D4D0AA59}"/>
              </a:ext>
            </a:extLst>
          </p:cNvPr>
          <p:cNvSpPr txBox="1"/>
          <p:nvPr/>
        </p:nvSpPr>
        <p:spPr>
          <a:xfrm>
            <a:off x="5702954" y="2271906"/>
            <a:ext cx="4782829" cy="954107"/>
          </a:xfrm>
          <a:prstGeom prst="rect">
            <a:avLst/>
          </a:prstGeom>
          <a:noFill/>
        </p:spPr>
        <p:txBody>
          <a:bodyPr wrap="square" rtlCol="0">
            <a:spAutoFit/>
          </a:bodyPr>
          <a:lstStyle/>
          <a:p>
            <a:r>
              <a:rPr lang="en-US" sz="2800" dirty="0"/>
              <a:t>Treat the empty chair as just another person. </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47EA252-D1D7-D245-AF15-B4E1A4F201B0}"/>
                  </a:ext>
                </a:extLst>
              </p:cNvPr>
              <p:cNvSpPr txBox="1"/>
              <p:nvPr/>
            </p:nvSpPr>
            <p:spPr>
              <a:xfrm>
                <a:off x="5702953" y="3692236"/>
                <a:ext cx="4782830" cy="1384995"/>
              </a:xfrm>
              <a:prstGeom prst="rect">
                <a:avLst/>
              </a:prstGeom>
              <a:noFill/>
            </p:spPr>
            <p:txBody>
              <a:bodyPr wrap="square" rtlCol="0">
                <a:spAutoFit/>
              </a:bodyPr>
              <a:lstStyle/>
              <a:p>
                <a:r>
                  <a:rPr lang="en-US" sz="2800" dirty="0">
                    <a:solidFill>
                      <a:schemeClr val="tx1"/>
                    </a:solidFill>
                  </a:rPr>
                  <a:t>Therefore, there are </a:t>
                </a:r>
                <a14:m>
                  <m:oMath xmlns:m="http://schemas.openxmlformats.org/officeDocument/2006/math">
                    <m:d>
                      <m:dPr>
                        <m:ctrlPr>
                          <a:rPr lang="en-SG" sz="2800" b="1" i="1" smtClean="0">
                            <a:solidFill>
                              <a:srgbClr val="C00000"/>
                            </a:solidFill>
                            <a:latin typeface="Cambria Math" panose="02040503050406030204" pitchFamily="18" charset="0"/>
                          </a:rPr>
                        </m:ctrlPr>
                      </m:dPr>
                      <m:e>
                        <m:r>
                          <a:rPr lang="en-US" sz="2800" b="1" i="1">
                            <a:solidFill>
                              <a:srgbClr val="C00000"/>
                            </a:solidFill>
                            <a:latin typeface="Cambria Math" panose="02040503050406030204" pitchFamily="18" charset="0"/>
                          </a:rPr>
                          <m:t>𝒏</m:t>
                        </m:r>
                        <m:r>
                          <a:rPr lang="en-US" sz="2800" b="1" i="1">
                            <a:solidFill>
                              <a:srgbClr val="C00000"/>
                            </a:solidFill>
                            <a:latin typeface="Cambria Math" panose="02040503050406030204" pitchFamily="18" charset="0"/>
                          </a:rPr>
                          <m:t>−</m:t>
                        </m:r>
                        <m:r>
                          <a:rPr lang="en-US" sz="2800" b="1" i="1">
                            <a:solidFill>
                              <a:srgbClr val="C00000"/>
                            </a:solidFill>
                            <a:latin typeface="Cambria Math" panose="02040503050406030204" pitchFamily="18" charset="0"/>
                          </a:rPr>
                          <m:t>𝟏</m:t>
                        </m:r>
                      </m:e>
                    </m:d>
                    <m:r>
                      <a:rPr lang="en-US" sz="2800" b="1" i="1">
                        <a:solidFill>
                          <a:srgbClr val="C00000"/>
                        </a:solidFill>
                        <a:latin typeface="Cambria Math" panose="02040503050406030204" pitchFamily="18" charset="0"/>
                      </a:rPr>
                      <m:t>!</m:t>
                    </m:r>
                  </m:oMath>
                </a14:m>
                <a:r>
                  <a:rPr lang="en-US" sz="2800" b="1" dirty="0">
                    <a:solidFill>
                      <a:srgbClr val="C00000"/>
                    </a:solidFill>
                  </a:rPr>
                  <a:t> </a:t>
                </a:r>
                <a:r>
                  <a:rPr lang="en-US" sz="2800" dirty="0">
                    <a:solidFill>
                      <a:schemeClr val="tx1"/>
                    </a:solidFill>
                  </a:rPr>
                  <a:t>ways to seat </a:t>
                </a:r>
                <a14:m>
                  <m:oMath xmlns:m="http://schemas.openxmlformats.org/officeDocument/2006/math">
                    <m:r>
                      <a:rPr lang="en-US" sz="2800" i="1">
                        <a:solidFill>
                          <a:schemeClr val="tx1"/>
                        </a:solidFill>
                        <a:latin typeface="Cambria Math" panose="02040503050406030204" pitchFamily="18" charset="0"/>
                      </a:rPr>
                      <m:t>𝑛</m:t>
                    </m:r>
                    <m:r>
                      <a:rPr lang="en-US" sz="2800" i="1">
                        <a:solidFill>
                          <a:schemeClr val="tx1"/>
                        </a:solidFill>
                        <a:latin typeface="Cambria Math" panose="02040503050406030204" pitchFamily="18" charset="0"/>
                      </a:rPr>
                      <m:t>−1</m:t>
                    </m:r>
                  </m:oMath>
                </a14:m>
                <a:r>
                  <a:rPr lang="en-US" sz="2800" dirty="0">
                    <a:solidFill>
                      <a:schemeClr val="tx1"/>
                    </a:solidFill>
                  </a:rPr>
                  <a:t> people around a table with </a:t>
                </a:r>
                <a14:m>
                  <m:oMath xmlns:m="http://schemas.openxmlformats.org/officeDocument/2006/math">
                    <m:r>
                      <a:rPr lang="en-US" sz="2800" i="1">
                        <a:solidFill>
                          <a:schemeClr val="tx1"/>
                        </a:solidFill>
                        <a:latin typeface="Cambria Math" panose="02040503050406030204" pitchFamily="18" charset="0"/>
                      </a:rPr>
                      <m:t>𝑛</m:t>
                    </m:r>
                  </m:oMath>
                </a14:m>
                <a:r>
                  <a:rPr lang="en-US" sz="2800" dirty="0">
                    <a:solidFill>
                      <a:schemeClr val="tx1"/>
                    </a:solidFill>
                  </a:rPr>
                  <a:t> chairs.</a:t>
                </a:r>
                <a:endParaRPr lang="en-SG" sz="2800" dirty="0">
                  <a:solidFill>
                    <a:schemeClr val="tx1"/>
                  </a:solidFill>
                </a:endParaRPr>
              </a:p>
            </p:txBody>
          </p:sp>
        </mc:Choice>
        <mc:Fallback xmlns="">
          <p:sp>
            <p:nvSpPr>
              <p:cNvPr id="4" name="TextBox 3">
                <a:extLst>
                  <a:ext uri="{FF2B5EF4-FFF2-40B4-BE49-F238E27FC236}">
                    <a16:creationId xmlns:a16="http://schemas.microsoft.com/office/drawing/2014/main" id="{847EA252-D1D7-D245-AF15-B4E1A4F201B0}"/>
                  </a:ext>
                </a:extLst>
              </p:cNvPr>
              <p:cNvSpPr txBox="1">
                <a:spLocks noRot="1" noChangeAspect="1" noMove="1" noResize="1" noEditPoints="1" noAdjustHandles="1" noChangeArrowheads="1" noChangeShapeType="1" noTextEdit="1"/>
              </p:cNvSpPr>
              <p:nvPr/>
            </p:nvSpPr>
            <p:spPr>
              <a:xfrm>
                <a:off x="5702953" y="3692236"/>
                <a:ext cx="4782830" cy="1384995"/>
              </a:xfrm>
              <a:prstGeom prst="rect">
                <a:avLst/>
              </a:prstGeom>
              <a:blipFill>
                <a:blip r:embed="rId3"/>
                <a:stretch>
                  <a:fillRect l="-2679" t="-4405" b="-11894"/>
                </a:stretch>
              </a:blipFill>
            </p:spPr>
            <p:txBody>
              <a:bodyPr/>
              <a:lstStyle/>
              <a:p>
                <a:r>
                  <a:rPr lang="en-SG">
                    <a:noFill/>
                  </a:rPr>
                  <a:t> </a:t>
                </a:r>
              </a:p>
            </p:txBody>
          </p:sp>
        </mc:Fallback>
      </mc:AlternateContent>
    </p:spTree>
    <p:extLst>
      <p:ext uri="{BB962C8B-B14F-4D97-AF65-F5344CB8AC3E}">
        <p14:creationId xmlns:p14="http://schemas.microsoft.com/office/powerpoint/2010/main" val="2385547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9532D-7B1D-4496-906D-F1887FE508D2}"/>
              </a:ext>
            </a:extLst>
          </p:cNvPr>
          <p:cNvSpPr>
            <a:spLocks noGrp="1"/>
          </p:cNvSpPr>
          <p:nvPr>
            <p:ph type="title"/>
          </p:nvPr>
        </p:nvSpPr>
        <p:spPr>
          <a:xfrm>
            <a:off x="314662" y="226852"/>
            <a:ext cx="1097585" cy="895927"/>
          </a:xfrm>
        </p:spPr>
        <p:txBody>
          <a:bodyPr>
            <a:normAutofit/>
          </a:bodyPr>
          <a:lstStyle/>
          <a:p>
            <a:pPr>
              <a:lnSpc>
                <a:spcPct val="100000"/>
              </a:lnSpc>
            </a:pPr>
            <a:r>
              <a:rPr lang="en-SG" dirty="0" err="1">
                <a:solidFill>
                  <a:schemeClr val="bg2">
                    <a:lumMod val="50000"/>
                  </a:schemeClr>
                </a:solidFill>
              </a:rPr>
              <a:t>Q6</a:t>
            </a:r>
            <a:r>
              <a:rPr lang="en-SG" dirty="0">
                <a:solidFill>
                  <a:schemeClr val="bg2">
                    <a:lumMod val="50000"/>
                  </a:schemeClr>
                </a:solidFill>
              </a:rPr>
              <a:t>.</a:t>
            </a:r>
            <a:endParaRPr lang="en-SG" dirty="0">
              <a:solidFill>
                <a:schemeClr val="bg2">
                  <a:lumMod val="50000"/>
                </a:schemeClr>
              </a:solidFill>
              <a:latin typeface="Cambria Math" panose="02040503050406030204" pitchFamily="18" charset="0"/>
              <a:ea typeface="Cambria Math" panose="02040503050406030204" pitchFamily="18" charset="0"/>
            </a:endParaRPr>
          </a:p>
        </p:txBody>
      </p:sp>
      <p:sp>
        <p:nvSpPr>
          <p:cNvPr id="10" name="Slide Number Placeholder 1"/>
          <p:cNvSpPr>
            <a:spLocks noGrp="1"/>
          </p:cNvSpPr>
          <p:nvPr>
            <p:ph type="sldNum" sz="quarter" idx="12"/>
          </p:nvPr>
        </p:nvSpPr>
        <p:spPr>
          <a:xfrm>
            <a:off x="10485783" y="6492875"/>
            <a:ext cx="1706217" cy="365125"/>
          </a:xfrm>
        </p:spPr>
        <p:txBody>
          <a:bodyPr/>
          <a:lstStyle/>
          <a:p>
            <a:fld id="{576A5E36-E009-4840-A577-F8CF29116582}" type="slidenum">
              <a:rPr lang="en-US" sz="1600" smtClean="0">
                <a:solidFill>
                  <a:schemeClr val="bg1"/>
                </a:solidFill>
              </a:rPr>
              <a:t>11</a:t>
            </a:fld>
            <a:endParaRPr lang="en-US" sz="1600" dirty="0">
              <a:solidFill>
                <a:schemeClr val="bg1"/>
              </a:solidFill>
            </a:endParaRPr>
          </a:p>
        </p:txBody>
      </p:sp>
      <p:sp>
        <p:nvSpPr>
          <p:cNvPr id="14" name="TextBox 13">
            <a:extLst>
              <a:ext uri="{FF2B5EF4-FFF2-40B4-BE49-F238E27FC236}">
                <a16:creationId xmlns:a16="http://schemas.microsoft.com/office/drawing/2014/main" id="{59FB7879-BCF9-4B1A-A2CC-BB0778FBDB53}"/>
              </a:ext>
            </a:extLst>
          </p:cNvPr>
          <p:cNvSpPr txBox="1"/>
          <p:nvPr/>
        </p:nvSpPr>
        <p:spPr>
          <a:xfrm>
            <a:off x="1412247" y="418012"/>
            <a:ext cx="9756392" cy="1200329"/>
          </a:xfrm>
          <a:prstGeom prst="rect">
            <a:avLst/>
          </a:prstGeom>
          <a:solidFill>
            <a:srgbClr val="CCECFF"/>
          </a:solidFill>
        </p:spPr>
        <p:txBody>
          <a:bodyPr wrap="square" rtlCol="0">
            <a:spAutoFit/>
          </a:bodyPr>
          <a:lstStyle/>
          <a:p>
            <a:r>
              <a:rPr lang="en-US" dirty="0"/>
              <a:t>You want to lay the letter tiles of these four words “I”, “CAN”, “DO”, “IT” in a circular arrangement. The letters in the groups “CAN”, “DO” and “IT” must be kept together in each group, but the letters within each group may be arranged in any order within that group. Also, no two similar letters should be placed next to each other. In how many ways can this be done? </a:t>
            </a:r>
            <a:endParaRPr lang="en-SG" sz="2800" dirty="0">
              <a:solidFill>
                <a:srgbClr val="0000FF"/>
              </a:solidFill>
            </a:endParaRPr>
          </a:p>
        </p:txBody>
      </p:sp>
      <p:grpSp>
        <p:nvGrpSpPr>
          <p:cNvPr id="22" name="Group 21"/>
          <p:cNvGrpSpPr/>
          <p:nvPr/>
        </p:nvGrpSpPr>
        <p:grpSpPr>
          <a:xfrm>
            <a:off x="1150475" y="1955450"/>
            <a:ext cx="2030605" cy="1800139"/>
            <a:chOff x="0" y="0"/>
            <a:chExt cx="1524000" cy="1298301"/>
          </a:xfrm>
        </p:grpSpPr>
        <p:sp>
          <p:nvSpPr>
            <p:cNvPr id="36" name="Oval 35"/>
            <p:cNvSpPr/>
            <p:nvPr/>
          </p:nvSpPr>
          <p:spPr>
            <a:xfrm>
              <a:off x="219075" y="161925"/>
              <a:ext cx="1076325" cy="102870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37" name="Text Box 2"/>
            <p:cNvSpPr txBox="1">
              <a:spLocks noChangeArrowheads="1"/>
            </p:cNvSpPr>
            <p:nvPr/>
          </p:nvSpPr>
          <p:spPr bwMode="auto">
            <a:xfrm>
              <a:off x="828675" y="0"/>
              <a:ext cx="304800" cy="221976"/>
            </a:xfrm>
            <a:prstGeom prst="rect">
              <a:avLst/>
            </a:prstGeom>
            <a:solidFill>
              <a:schemeClr val="bg1"/>
            </a:solidFill>
            <a:ln w="9525">
              <a:solidFill>
                <a:schemeClr val="tx1"/>
              </a:solidFill>
              <a:miter lim="800000"/>
              <a:headEnd/>
              <a:tailEnd/>
            </a:ln>
          </p:spPr>
          <p:txBody>
            <a:bodyPr rot="0" vert="horz" wrap="square" lIns="91440" tIns="45720" rIns="91440" bIns="45720" anchor="t" anchorCtr="0">
              <a:spAutoFit/>
            </a:bodyPr>
            <a:lstStyle/>
            <a:p>
              <a:pPr marL="0" marR="0" algn="ctr">
                <a:spcBef>
                  <a:spcPts val="0"/>
                </a:spcBef>
                <a:spcAft>
                  <a:spcPts val="0"/>
                </a:spcAft>
              </a:pPr>
              <a:r>
                <a:rPr lang="en-US" sz="1400" dirty="0">
                  <a:effectLst/>
                  <a:latin typeface="Times New Roman" panose="02020603050405020304" pitchFamily="18" charset="0"/>
                  <a:ea typeface="Times New Roman" panose="02020603050405020304" pitchFamily="18" charset="0"/>
                </a:rPr>
                <a:t>I</a:t>
              </a:r>
              <a:endParaRPr lang="en-US" sz="1600" dirty="0">
                <a:effectLst/>
                <a:latin typeface="Times New Roman" panose="02020603050405020304" pitchFamily="18" charset="0"/>
                <a:ea typeface="Times New Roman" panose="02020603050405020304" pitchFamily="18" charset="0"/>
              </a:endParaRPr>
            </a:p>
          </p:txBody>
        </p:sp>
        <p:sp>
          <p:nvSpPr>
            <p:cNvPr id="38" name="Text Box 2"/>
            <p:cNvSpPr txBox="1">
              <a:spLocks noChangeArrowheads="1"/>
            </p:cNvSpPr>
            <p:nvPr/>
          </p:nvSpPr>
          <p:spPr bwMode="auto">
            <a:xfrm>
              <a:off x="1219200" y="333375"/>
              <a:ext cx="304800" cy="221976"/>
            </a:xfrm>
            <a:prstGeom prst="rect">
              <a:avLst/>
            </a:prstGeom>
            <a:solidFill>
              <a:schemeClr val="bg1"/>
            </a:solidFill>
            <a:ln w="9525">
              <a:solidFill>
                <a:schemeClr val="tx1"/>
              </a:solidFill>
              <a:miter lim="800000"/>
              <a:headEnd/>
              <a:tailEnd/>
            </a:ln>
          </p:spPr>
          <p:txBody>
            <a:bodyPr rot="0" vert="horz" wrap="square" lIns="91440" tIns="45720" rIns="91440" bIns="45720" anchor="t" anchorCtr="0">
              <a:spAutoFit/>
            </a:bodyPr>
            <a:lstStyle/>
            <a:p>
              <a:pPr marL="0" marR="0" algn="ctr">
                <a:spcBef>
                  <a:spcPts val="0"/>
                </a:spcBef>
                <a:spcAft>
                  <a:spcPts val="0"/>
                </a:spcAft>
              </a:pPr>
              <a:r>
                <a:rPr lang="en-US" sz="1400" dirty="0">
                  <a:effectLst/>
                  <a:latin typeface="Times New Roman" panose="02020603050405020304" pitchFamily="18" charset="0"/>
                  <a:ea typeface="Times New Roman" panose="02020603050405020304" pitchFamily="18" charset="0"/>
                </a:rPr>
                <a:t>C</a:t>
              </a:r>
              <a:endParaRPr lang="en-US" sz="1600" dirty="0">
                <a:effectLst/>
                <a:latin typeface="Times New Roman" panose="02020603050405020304" pitchFamily="18" charset="0"/>
                <a:ea typeface="Times New Roman" panose="02020603050405020304" pitchFamily="18" charset="0"/>
              </a:endParaRPr>
            </a:p>
          </p:txBody>
        </p:sp>
        <p:sp>
          <p:nvSpPr>
            <p:cNvPr id="39" name="Text Box 2"/>
            <p:cNvSpPr txBox="1">
              <a:spLocks noChangeArrowheads="1"/>
            </p:cNvSpPr>
            <p:nvPr/>
          </p:nvSpPr>
          <p:spPr bwMode="auto">
            <a:xfrm>
              <a:off x="1219200" y="742950"/>
              <a:ext cx="304800" cy="221976"/>
            </a:xfrm>
            <a:prstGeom prst="rect">
              <a:avLst/>
            </a:prstGeom>
            <a:solidFill>
              <a:schemeClr val="bg1"/>
            </a:solidFill>
            <a:ln w="9525">
              <a:solidFill>
                <a:schemeClr val="tx1"/>
              </a:solidFill>
              <a:miter lim="800000"/>
              <a:headEnd/>
              <a:tailEnd/>
            </a:ln>
          </p:spPr>
          <p:txBody>
            <a:bodyPr rot="0" vert="horz" wrap="square" lIns="91440" tIns="45720" rIns="91440" bIns="45720" anchor="t" anchorCtr="0">
              <a:spAutoFit/>
            </a:bodyPr>
            <a:lstStyle/>
            <a:p>
              <a:pPr marL="0" marR="0" algn="ctr">
                <a:spcBef>
                  <a:spcPts val="0"/>
                </a:spcBef>
                <a:spcAft>
                  <a:spcPts val="0"/>
                </a:spcAft>
              </a:pPr>
              <a:r>
                <a:rPr lang="en-US" sz="1400" dirty="0">
                  <a:effectLst/>
                  <a:latin typeface="Times New Roman" panose="02020603050405020304" pitchFamily="18" charset="0"/>
                  <a:ea typeface="Times New Roman" panose="02020603050405020304" pitchFamily="18" charset="0"/>
                </a:rPr>
                <a:t>A</a:t>
              </a:r>
              <a:endParaRPr lang="en-US" sz="1600" dirty="0">
                <a:effectLst/>
                <a:latin typeface="Times New Roman" panose="02020603050405020304" pitchFamily="18" charset="0"/>
                <a:ea typeface="Times New Roman" panose="02020603050405020304" pitchFamily="18" charset="0"/>
              </a:endParaRPr>
            </a:p>
          </p:txBody>
        </p:sp>
        <p:sp>
          <p:nvSpPr>
            <p:cNvPr id="40" name="Text Box 2"/>
            <p:cNvSpPr txBox="1">
              <a:spLocks noChangeArrowheads="1"/>
            </p:cNvSpPr>
            <p:nvPr/>
          </p:nvSpPr>
          <p:spPr bwMode="auto">
            <a:xfrm>
              <a:off x="828675" y="1076325"/>
              <a:ext cx="304800" cy="221976"/>
            </a:xfrm>
            <a:prstGeom prst="rect">
              <a:avLst/>
            </a:prstGeom>
            <a:solidFill>
              <a:schemeClr val="bg1"/>
            </a:solidFill>
            <a:ln w="9525">
              <a:solidFill>
                <a:schemeClr val="tx1"/>
              </a:solidFill>
              <a:miter lim="800000"/>
              <a:headEnd/>
              <a:tailEnd/>
            </a:ln>
          </p:spPr>
          <p:txBody>
            <a:bodyPr rot="0" vert="horz" wrap="square" lIns="91440" tIns="45720" rIns="91440" bIns="45720" anchor="t" anchorCtr="0">
              <a:spAutoFit/>
            </a:bodyPr>
            <a:lstStyle/>
            <a:p>
              <a:pPr marL="0" marR="0" algn="ctr">
                <a:spcBef>
                  <a:spcPts val="0"/>
                </a:spcBef>
                <a:spcAft>
                  <a:spcPts val="0"/>
                </a:spcAft>
              </a:pPr>
              <a:r>
                <a:rPr lang="en-US" sz="1400" dirty="0">
                  <a:effectLst/>
                  <a:latin typeface="Times New Roman" panose="02020603050405020304" pitchFamily="18" charset="0"/>
                  <a:ea typeface="Times New Roman" panose="02020603050405020304" pitchFamily="18" charset="0"/>
                </a:rPr>
                <a:t>N</a:t>
              </a:r>
              <a:endParaRPr lang="en-US" sz="1600" dirty="0">
                <a:effectLst/>
                <a:latin typeface="Times New Roman" panose="02020603050405020304" pitchFamily="18" charset="0"/>
                <a:ea typeface="Times New Roman" panose="02020603050405020304" pitchFamily="18" charset="0"/>
              </a:endParaRPr>
            </a:p>
          </p:txBody>
        </p:sp>
        <p:sp>
          <p:nvSpPr>
            <p:cNvPr id="41" name="Text Box 2"/>
            <p:cNvSpPr txBox="1">
              <a:spLocks noChangeArrowheads="1"/>
            </p:cNvSpPr>
            <p:nvPr/>
          </p:nvSpPr>
          <p:spPr bwMode="auto">
            <a:xfrm>
              <a:off x="381000" y="1076325"/>
              <a:ext cx="304800" cy="221976"/>
            </a:xfrm>
            <a:prstGeom prst="rect">
              <a:avLst/>
            </a:prstGeom>
            <a:solidFill>
              <a:schemeClr val="bg1"/>
            </a:solidFill>
            <a:ln w="9525">
              <a:solidFill>
                <a:schemeClr val="tx1"/>
              </a:solidFill>
              <a:miter lim="800000"/>
              <a:headEnd/>
              <a:tailEnd/>
            </a:ln>
          </p:spPr>
          <p:txBody>
            <a:bodyPr rot="0" vert="horz" wrap="square" lIns="91440" tIns="45720" rIns="91440" bIns="45720" anchor="t" anchorCtr="0">
              <a:spAutoFit/>
            </a:bodyPr>
            <a:lstStyle/>
            <a:p>
              <a:pPr marL="0" marR="0" algn="ctr">
                <a:spcBef>
                  <a:spcPts val="0"/>
                </a:spcBef>
                <a:spcAft>
                  <a:spcPts val="0"/>
                </a:spcAft>
              </a:pPr>
              <a:r>
                <a:rPr lang="en-US" sz="1400" dirty="0">
                  <a:effectLst/>
                  <a:latin typeface="Times New Roman" panose="02020603050405020304" pitchFamily="18" charset="0"/>
                  <a:ea typeface="Times New Roman" panose="02020603050405020304" pitchFamily="18" charset="0"/>
                </a:rPr>
                <a:t>D</a:t>
              </a:r>
              <a:endParaRPr lang="en-US" sz="1600" dirty="0">
                <a:effectLst/>
                <a:latin typeface="Times New Roman" panose="02020603050405020304" pitchFamily="18" charset="0"/>
                <a:ea typeface="Times New Roman" panose="02020603050405020304" pitchFamily="18" charset="0"/>
              </a:endParaRPr>
            </a:p>
          </p:txBody>
        </p:sp>
        <p:sp>
          <p:nvSpPr>
            <p:cNvPr id="42" name="Text Box 2"/>
            <p:cNvSpPr txBox="1">
              <a:spLocks noChangeArrowheads="1"/>
            </p:cNvSpPr>
            <p:nvPr/>
          </p:nvSpPr>
          <p:spPr bwMode="auto">
            <a:xfrm>
              <a:off x="0" y="723900"/>
              <a:ext cx="304800" cy="221976"/>
            </a:xfrm>
            <a:prstGeom prst="rect">
              <a:avLst/>
            </a:prstGeom>
            <a:solidFill>
              <a:schemeClr val="bg1"/>
            </a:solidFill>
            <a:ln w="9525">
              <a:solidFill>
                <a:schemeClr val="tx1"/>
              </a:solidFill>
              <a:miter lim="800000"/>
              <a:headEnd/>
              <a:tailEnd/>
            </a:ln>
          </p:spPr>
          <p:txBody>
            <a:bodyPr rot="0" vert="horz" wrap="square" lIns="91440" tIns="45720" rIns="91440" bIns="45720" anchor="t" anchorCtr="0">
              <a:spAutoFit/>
            </a:bodyPr>
            <a:lstStyle/>
            <a:p>
              <a:pPr marL="0" marR="0" algn="ctr">
                <a:spcBef>
                  <a:spcPts val="0"/>
                </a:spcBef>
                <a:spcAft>
                  <a:spcPts val="0"/>
                </a:spcAft>
              </a:pPr>
              <a:r>
                <a:rPr lang="en-US" sz="1400" dirty="0">
                  <a:effectLst/>
                  <a:latin typeface="Times New Roman" panose="02020603050405020304" pitchFamily="18" charset="0"/>
                  <a:ea typeface="Times New Roman" panose="02020603050405020304" pitchFamily="18" charset="0"/>
                </a:rPr>
                <a:t>O</a:t>
              </a:r>
              <a:endParaRPr lang="en-US" sz="1600" dirty="0">
                <a:effectLst/>
                <a:latin typeface="Times New Roman" panose="02020603050405020304" pitchFamily="18" charset="0"/>
                <a:ea typeface="Times New Roman" panose="02020603050405020304" pitchFamily="18" charset="0"/>
              </a:endParaRPr>
            </a:p>
          </p:txBody>
        </p:sp>
        <p:sp>
          <p:nvSpPr>
            <p:cNvPr id="43" name="Text Box 2"/>
            <p:cNvSpPr txBox="1">
              <a:spLocks noChangeArrowheads="1"/>
            </p:cNvSpPr>
            <p:nvPr/>
          </p:nvSpPr>
          <p:spPr bwMode="auto">
            <a:xfrm>
              <a:off x="0" y="323850"/>
              <a:ext cx="304800" cy="221976"/>
            </a:xfrm>
            <a:prstGeom prst="rect">
              <a:avLst/>
            </a:prstGeom>
            <a:solidFill>
              <a:schemeClr val="bg1"/>
            </a:solidFill>
            <a:ln w="9525">
              <a:solidFill>
                <a:schemeClr val="tx1"/>
              </a:solidFill>
              <a:miter lim="800000"/>
              <a:headEnd/>
              <a:tailEnd/>
            </a:ln>
          </p:spPr>
          <p:txBody>
            <a:bodyPr rot="0" vert="horz" wrap="square" lIns="91440" tIns="45720" rIns="91440" bIns="45720" anchor="t" anchorCtr="0">
              <a:spAutoFit/>
            </a:bodyPr>
            <a:lstStyle/>
            <a:p>
              <a:pPr marL="0" marR="0" algn="ctr">
                <a:spcBef>
                  <a:spcPts val="0"/>
                </a:spcBef>
                <a:spcAft>
                  <a:spcPts val="0"/>
                </a:spcAft>
              </a:pPr>
              <a:r>
                <a:rPr lang="en-US" sz="1400" dirty="0">
                  <a:effectLst/>
                  <a:latin typeface="Times New Roman" panose="02020603050405020304" pitchFamily="18" charset="0"/>
                  <a:ea typeface="Times New Roman" panose="02020603050405020304" pitchFamily="18" charset="0"/>
                </a:rPr>
                <a:t>I</a:t>
              </a:r>
              <a:endParaRPr lang="en-US" sz="1600" dirty="0">
                <a:effectLst/>
                <a:latin typeface="Times New Roman" panose="02020603050405020304" pitchFamily="18" charset="0"/>
                <a:ea typeface="Times New Roman" panose="02020603050405020304" pitchFamily="18" charset="0"/>
              </a:endParaRPr>
            </a:p>
          </p:txBody>
        </p:sp>
        <p:sp>
          <p:nvSpPr>
            <p:cNvPr id="44" name="Text Box 2"/>
            <p:cNvSpPr txBox="1">
              <a:spLocks noChangeArrowheads="1"/>
            </p:cNvSpPr>
            <p:nvPr/>
          </p:nvSpPr>
          <p:spPr bwMode="auto">
            <a:xfrm>
              <a:off x="381000" y="0"/>
              <a:ext cx="304800" cy="221976"/>
            </a:xfrm>
            <a:prstGeom prst="rect">
              <a:avLst/>
            </a:prstGeom>
            <a:solidFill>
              <a:schemeClr val="bg1"/>
            </a:solidFill>
            <a:ln w="9525">
              <a:solidFill>
                <a:schemeClr val="tx1"/>
              </a:solidFill>
              <a:miter lim="800000"/>
              <a:headEnd/>
              <a:tailEnd/>
            </a:ln>
          </p:spPr>
          <p:txBody>
            <a:bodyPr rot="0" vert="horz" wrap="square" lIns="91440" tIns="45720" rIns="91440" bIns="45720" anchor="t" anchorCtr="0">
              <a:spAutoFit/>
            </a:bodyPr>
            <a:lstStyle/>
            <a:p>
              <a:pPr marL="0" marR="0" algn="ctr">
                <a:spcBef>
                  <a:spcPts val="0"/>
                </a:spcBef>
                <a:spcAft>
                  <a:spcPts val="0"/>
                </a:spcAft>
              </a:pPr>
              <a:r>
                <a:rPr lang="en-US" sz="1400" dirty="0">
                  <a:effectLst/>
                  <a:latin typeface="Times New Roman" panose="02020603050405020304" pitchFamily="18" charset="0"/>
                  <a:ea typeface="Times New Roman" panose="02020603050405020304" pitchFamily="18" charset="0"/>
                </a:rPr>
                <a:t>T</a:t>
              </a:r>
              <a:endParaRPr lang="en-US" sz="1600" dirty="0">
                <a:effectLst/>
                <a:latin typeface="Times New Roman" panose="02020603050405020304" pitchFamily="18" charset="0"/>
                <a:ea typeface="Times New Roman" panose="02020603050405020304" pitchFamily="18" charset="0"/>
              </a:endParaRPr>
            </a:p>
          </p:txBody>
        </p:sp>
      </p:grpSp>
      <p:grpSp>
        <p:nvGrpSpPr>
          <p:cNvPr id="23" name="Group 22"/>
          <p:cNvGrpSpPr/>
          <p:nvPr/>
        </p:nvGrpSpPr>
        <p:grpSpPr>
          <a:xfrm>
            <a:off x="1150475" y="4204292"/>
            <a:ext cx="2030605" cy="1800139"/>
            <a:chOff x="0" y="0"/>
            <a:chExt cx="1524000" cy="1298301"/>
          </a:xfrm>
        </p:grpSpPr>
        <p:sp>
          <p:nvSpPr>
            <p:cNvPr id="24" name="Oval 23"/>
            <p:cNvSpPr/>
            <p:nvPr/>
          </p:nvSpPr>
          <p:spPr>
            <a:xfrm>
              <a:off x="219075" y="161925"/>
              <a:ext cx="1076325" cy="102870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6" name="Text Box 2"/>
            <p:cNvSpPr txBox="1">
              <a:spLocks noChangeArrowheads="1"/>
            </p:cNvSpPr>
            <p:nvPr/>
          </p:nvSpPr>
          <p:spPr bwMode="auto">
            <a:xfrm>
              <a:off x="828675" y="0"/>
              <a:ext cx="304800" cy="221976"/>
            </a:xfrm>
            <a:prstGeom prst="rect">
              <a:avLst/>
            </a:prstGeom>
            <a:solidFill>
              <a:schemeClr val="bg1"/>
            </a:solidFill>
            <a:ln w="9525">
              <a:solidFill>
                <a:schemeClr val="tx1"/>
              </a:solidFill>
              <a:miter lim="800000"/>
              <a:headEnd/>
              <a:tailEnd/>
            </a:ln>
          </p:spPr>
          <p:txBody>
            <a:bodyPr rot="0" vert="horz" wrap="square" lIns="91440" tIns="45720" rIns="91440" bIns="45720" anchor="t" anchorCtr="0">
              <a:spAutoFit/>
            </a:bodyPr>
            <a:lstStyle/>
            <a:p>
              <a:pPr marL="0" marR="0" algn="ctr">
                <a:spcBef>
                  <a:spcPts val="0"/>
                </a:spcBef>
                <a:spcAft>
                  <a:spcPts val="0"/>
                </a:spcAft>
              </a:pPr>
              <a:r>
                <a:rPr lang="en-US" sz="1400" dirty="0">
                  <a:effectLst/>
                  <a:latin typeface="Times New Roman" panose="02020603050405020304" pitchFamily="18" charset="0"/>
                  <a:ea typeface="Times New Roman" panose="02020603050405020304" pitchFamily="18" charset="0"/>
                </a:rPr>
                <a:t>N</a:t>
              </a:r>
              <a:endParaRPr lang="en-US" sz="1600" dirty="0">
                <a:effectLst/>
                <a:latin typeface="Times New Roman" panose="02020603050405020304" pitchFamily="18" charset="0"/>
                <a:ea typeface="Times New Roman" panose="02020603050405020304" pitchFamily="18" charset="0"/>
              </a:endParaRPr>
            </a:p>
          </p:txBody>
        </p:sp>
        <p:sp>
          <p:nvSpPr>
            <p:cNvPr id="28" name="Text Box 2"/>
            <p:cNvSpPr txBox="1">
              <a:spLocks noChangeArrowheads="1"/>
            </p:cNvSpPr>
            <p:nvPr/>
          </p:nvSpPr>
          <p:spPr bwMode="auto">
            <a:xfrm>
              <a:off x="1219200" y="333375"/>
              <a:ext cx="304800" cy="221976"/>
            </a:xfrm>
            <a:prstGeom prst="rect">
              <a:avLst/>
            </a:prstGeom>
            <a:solidFill>
              <a:schemeClr val="bg1"/>
            </a:solidFill>
            <a:ln w="9525">
              <a:solidFill>
                <a:schemeClr val="tx1"/>
              </a:solidFill>
              <a:miter lim="800000"/>
              <a:headEnd/>
              <a:tailEnd/>
            </a:ln>
          </p:spPr>
          <p:txBody>
            <a:bodyPr rot="0" vert="horz" wrap="square" lIns="91440" tIns="45720" rIns="91440" bIns="45720" anchor="t" anchorCtr="0">
              <a:spAutoFit/>
            </a:bodyPr>
            <a:lstStyle/>
            <a:p>
              <a:pPr marL="0" marR="0" algn="ctr">
                <a:spcBef>
                  <a:spcPts val="0"/>
                </a:spcBef>
                <a:spcAft>
                  <a:spcPts val="0"/>
                </a:spcAft>
              </a:pPr>
              <a:r>
                <a:rPr lang="en-US" sz="1400" dirty="0">
                  <a:effectLst/>
                  <a:latin typeface="Times New Roman" panose="02020603050405020304" pitchFamily="18" charset="0"/>
                  <a:ea typeface="Times New Roman" panose="02020603050405020304" pitchFamily="18" charset="0"/>
                </a:rPr>
                <a:t>C</a:t>
              </a:r>
              <a:endParaRPr lang="en-US" sz="1600" dirty="0">
                <a:effectLst/>
                <a:latin typeface="Times New Roman" panose="02020603050405020304" pitchFamily="18" charset="0"/>
                <a:ea typeface="Times New Roman" panose="02020603050405020304" pitchFamily="18" charset="0"/>
              </a:endParaRPr>
            </a:p>
          </p:txBody>
        </p:sp>
        <p:sp>
          <p:nvSpPr>
            <p:cNvPr id="30" name="Text Box 2"/>
            <p:cNvSpPr txBox="1">
              <a:spLocks noChangeArrowheads="1"/>
            </p:cNvSpPr>
            <p:nvPr/>
          </p:nvSpPr>
          <p:spPr bwMode="auto">
            <a:xfrm>
              <a:off x="1219200" y="742950"/>
              <a:ext cx="304800" cy="221976"/>
            </a:xfrm>
            <a:prstGeom prst="rect">
              <a:avLst/>
            </a:prstGeom>
            <a:solidFill>
              <a:schemeClr val="bg1"/>
            </a:solidFill>
            <a:ln w="9525">
              <a:solidFill>
                <a:schemeClr val="tx1"/>
              </a:solidFill>
              <a:miter lim="800000"/>
              <a:headEnd/>
              <a:tailEnd/>
            </a:ln>
          </p:spPr>
          <p:txBody>
            <a:bodyPr rot="0" vert="horz" wrap="square" lIns="91440" tIns="45720" rIns="91440" bIns="45720" anchor="t" anchorCtr="0">
              <a:spAutoFit/>
            </a:bodyPr>
            <a:lstStyle/>
            <a:p>
              <a:pPr marL="0" marR="0" algn="ctr">
                <a:spcBef>
                  <a:spcPts val="0"/>
                </a:spcBef>
                <a:spcAft>
                  <a:spcPts val="0"/>
                </a:spcAft>
              </a:pPr>
              <a:r>
                <a:rPr lang="en-US" sz="1400" dirty="0">
                  <a:effectLst/>
                  <a:latin typeface="Times New Roman" panose="02020603050405020304" pitchFamily="18" charset="0"/>
                  <a:ea typeface="Times New Roman" panose="02020603050405020304" pitchFamily="18" charset="0"/>
                </a:rPr>
                <a:t>I</a:t>
              </a:r>
              <a:endParaRPr lang="en-US" sz="1600" dirty="0">
                <a:effectLst/>
                <a:latin typeface="Times New Roman" panose="02020603050405020304" pitchFamily="18" charset="0"/>
                <a:ea typeface="Times New Roman" panose="02020603050405020304" pitchFamily="18" charset="0"/>
              </a:endParaRPr>
            </a:p>
          </p:txBody>
        </p:sp>
        <p:sp>
          <p:nvSpPr>
            <p:cNvPr id="31" name="Text Box 2"/>
            <p:cNvSpPr txBox="1">
              <a:spLocks noChangeArrowheads="1"/>
            </p:cNvSpPr>
            <p:nvPr/>
          </p:nvSpPr>
          <p:spPr bwMode="auto">
            <a:xfrm>
              <a:off x="828675" y="1076325"/>
              <a:ext cx="304800" cy="221976"/>
            </a:xfrm>
            <a:prstGeom prst="rect">
              <a:avLst/>
            </a:prstGeom>
            <a:solidFill>
              <a:schemeClr val="bg1"/>
            </a:solidFill>
            <a:ln w="9525">
              <a:solidFill>
                <a:schemeClr val="tx1"/>
              </a:solidFill>
              <a:miter lim="800000"/>
              <a:headEnd/>
              <a:tailEnd/>
            </a:ln>
          </p:spPr>
          <p:txBody>
            <a:bodyPr rot="0" vert="horz" wrap="square" lIns="91440" tIns="45720" rIns="91440" bIns="45720" anchor="t" anchorCtr="0">
              <a:spAutoFit/>
            </a:bodyPr>
            <a:lstStyle/>
            <a:p>
              <a:pPr marL="0" marR="0" algn="ctr">
                <a:spcBef>
                  <a:spcPts val="0"/>
                </a:spcBef>
                <a:spcAft>
                  <a:spcPts val="0"/>
                </a:spcAft>
              </a:pPr>
              <a:r>
                <a:rPr lang="en-US" sz="1400" dirty="0">
                  <a:effectLst/>
                  <a:latin typeface="Times New Roman" panose="02020603050405020304" pitchFamily="18" charset="0"/>
                  <a:ea typeface="Times New Roman" panose="02020603050405020304" pitchFamily="18" charset="0"/>
                </a:rPr>
                <a:t>D</a:t>
              </a:r>
              <a:endParaRPr lang="en-US" sz="1600" dirty="0">
                <a:effectLst/>
                <a:latin typeface="Times New Roman" panose="02020603050405020304" pitchFamily="18" charset="0"/>
                <a:ea typeface="Times New Roman" panose="02020603050405020304" pitchFamily="18" charset="0"/>
              </a:endParaRPr>
            </a:p>
          </p:txBody>
        </p:sp>
        <p:sp>
          <p:nvSpPr>
            <p:cNvPr id="32" name="Text Box 2"/>
            <p:cNvSpPr txBox="1">
              <a:spLocks noChangeArrowheads="1"/>
            </p:cNvSpPr>
            <p:nvPr/>
          </p:nvSpPr>
          <p:spPr bwMode="auto">
            <a:xfrm>
              <a:off x="381000" y="1076325"/>
              <a:ext cx="304800" cy="221976"/>
            </a:xfrm>
            <a:prstGeom prst="rect">
              <a:avLst/>
            </a:prstGeom>
            <a:solidFill>
              <a:schemeClr val="bg1"/>
            </a:solidFill>
            <a:ln w="9525">
              <a:solidFill>
                <a:schemeClr val="tx1"/>
              </a:solidFill>
              <a:miter lim="800000"/>
              <a:headEnd/>
              <a:tailEnd/>
            </a:ln>
          </p:spPr>
          <p:txBody>
            <a:bodyPr rot="0" vert="horz" wrap="square" lIns="91440" tIns="45720" rIns="91440" bIns="45720" anchor="t" anchorCtr="0">
              <a:spAutoFit/>
            </a:bodyPr>
            <a:lstStyle/>
            <a:p>
              <a:pPr marL="0" marR="0" algn="ctr">
                <a:spcBef>
                  <a:spcPts val="0"/>
                </a:spcBef>
                <a:spcAft>
                  <a:spcPts val="0"/>
                </a:spcAft>
              </a:pPr>
              <a:r>
                <a:rPr lang="en-US" sz="1400" dirty="0">
                  <a:effectLst/>
                  <a:latin typeface="Times New Roman" panose="02020603050405020304" pitchFamily="18" charset="0"/>
                  <a:ea typeface="Times New Roman" panose="02020603050405020304" pitchFamily="18" charset="0"/>
                </a:rPr>
                <a:t>O</a:t>
              </a:r>
              <a:endParaRPr lang="en-US" sz="1600" dirty="0">
                <a:effectLst/>
                <a:latin typeface="Times New Roman" panose="02020603050405020304" pitchFamily="18" charset="0"/>
                <a:ea typeface="Times New Roman" panose="02020603050405020304" pitchFamily="18" charset="0"/>
              </a:endParaRPr>
            </a:p>
          </p:txBody>
        </p:sp>
        <p:sp>
          <p:nvSpPr>
            <p:cNvPr id="33" name="Text Box 2"/>
            <p:cNvSpPr txBox="1">
              <a:spLocks noChangeArrowheads="1"/>
            </p:cNvSpPr>
            <p:nvPr/>
          </p:nvSpPr>
          <p:spPr bwMode="auto">
            <a:xfrm>
              <a:off x="0" y="723900"/>
              <a:ext cx="304800" cy="221976"/>
            </a:xfrm>
            <a:prstGeom prst="rect">
              <a:avLst/>
            </a:prstGeom>
            <a:solidFill>
              <a:schemeClr val="bg1"/>
            </a:solidFill>
            <a:ln w="9525">
              <a:solidFill>
                <a:schemeClr val="tx1"/>
              </a:solidFill>
              <a:miter lim="800000"/>
              <a:headEnd/>
              <a:tailEnd/>
            </a:ln>
          </p:spPr>
          <p:txBody>
            <a:bodyPr rot="0" vert="horz" wrap="square" lIns="91440" tIns="45720" rIns="91440" bIns="45720" anchor="t" anchorCtr="0">
              <a:spAutoFit/>
            </a:bodyPr>
            <a:lstStyle/>
            <a:p>
              <a:pPr marL="0" marR="0" algn="ctr">
                <a:spcBef>
                  <a:spcPts val="0"/>
                </a:spcBef>
                <a:spcAft>
                  <a:spcPts val="0"/>
                </a:spcAft>
              </a:pPr>
              <a:r>
                <a:rPr lang="en-US" sz="1400" dirty="0">
                  <a:effectLst/>
                  <a:latin typeface="Times New Roman" panose="02020603050405020304" pitchFamily="18" charset="0"/>
                  <a:ea typeface="Times New Roman" panose="02020603050405020304" pitchFamily="18" charset="0"/>
                </a:rPr>
                <a:t>T</a:t>
              </a:r>
              <a:endParaRPr lang="en-US" sz="1600" dirty="0">
                <a:effectLst/>
                <a:latin typeface="Times New Roman" panose="02020603050405020304" pitchFamily="18" charset="0"/>
                <a:ea typeface="Times New Roman" panose="02020603050405020304" pitchFamily="18" charset="0"/>
              </a:endParaRPr>
            </a:p>
          </p:txBody>
        </p:sp>
        <p:sp>
          <p:nvSpPr>
            <p:cNvPr id="34" name="Text Box 2"/>
            <p:cNvSpPr txBox="1">
              <a:spLocks noChangeArrowheads="1"/>
            </p:cNvSpPr>
            <p:nvPr/>
          </p:nvSpPr>
          <p:spPr bwMode="auto">
            <a:xfrm>
              <a:off x="0" y="323850"/>
              <a:ext cx="304800" cy="221976"/>
            </a:xfrm>
            <a:prstGeom prst="rect">
              <a:avLst/>
            </a:prstGeom>
            <a:solidFill>
              <a:schemeClr val="bg1"/>
            </a:solidFill>
            <a:ln w="9525">
              <a:solidFill>
                <a:schemeClr val="tx1"/>
              </a:solidFill>
              <a:miter lim="800000"/>
              <a:headEnd/>
              <a:tailEnd/>
            </a:ln>
          </p:spPr>
          <p:txBody>
            <a:bodyPr rot="0" vert="horz" wrap="square" lIns="91440" tIns="45720" rIns="91440" bIns="45720" anchor="t" anchorCtr="0">
              <a:spAutoFit/>
            </a:bodyPr>
            <a:lstStyle/>
            <a:p>
              <a:pPr marL="0" marR="0" algn="ctr">
                <a:spcBef>
                  <a:spcPts val="0"/>
                </a:spcBef>
                <a:spcAft>
                  <a:spcPts val="0"/>
                </a:spcAft>
              </a:pPr>
              <a:r>
                <a:rPr lang="en-US" sz="1400" dirty="0">
                  <a:effectLst/>
                  <a:latin typeface="Times New Roman" panose="02020603050405020304" pitchFamily="18" charset="0"/>
                  <a:ea typeface="Times New Roman" panose="02020603050405020304" pitchFamily="18" charset="0"/>
                </a:rPr>
                <a:t>I</a:t>
              </a:r>
              <a:endParaRPr lang="en-US" sz="1600" dirty="0">
                <a:effectLst/>
                <a:latin typeface="Times New Roman" panose="02020603050405020304" pitchFamily="18" charset="0"/>
                <a:ea typeface="Times New Roman" panose="02020603050405020304" pitchFamily="18" charset="0"/>
              </a:endParaRPr>
            </a:p>
          </p:txBody>
        </p:sp>
        <p:sp>
          <p:nvSpPr>
            <p:cNvPr id="35" name="Text Box 2"/>
            <p:cNvSpPr txBox="1">
              <a:spLocks noChangeArrowheads="1"/>
            </p:cNvSpPr>
            <p:nvPr/>
          </p:nvSpPr>
          <p:spPr bwMode="auto">
            <a:xfrm>
              <a:off x="381000" y="0"/>
              <a:ext cx="304800" cy="221976"/>
            </a:xfrm>
            <a:prstGeom prst="rect">
              <a:avLst/>
            </a:prstGeom>
            <a:solidFill>
              <a:schemeClr val="bg1"/>
            </a:solidFill>
            <a:ln w="9525">
              <a:solidFill>
                <a:schemeClr val="tx1"/>
              </a:solidFill>
              <a:miter lim="800000"/>
              <a:headEnd/>
              <a:tailEnd/>
            </a:ln>
          </p:spPr>
          <p:txBody>
            <a:bodyPr rot="0" vert="horz" wrap="square" lIns="91440" tIns="45720" rIns="91440" bIns="45720" anchor="t" anchorCtr="0">
              <a:spAutoFit/>
            </a:bodyPr>
            <a:lstStyle/>
            <a:p>
              <a:pPr marL="0" marR="0" algn="ctr">
                <a:spcBef>
                  <a:spcPts val="0"/>
                </a:spcBef>
                <a:spcAft>
                  <a:spcPts val="0"/>
                </a:spcAft>
              </a:pPr>
              <a:r>
                <a:rPr lang="en-US" sz="1400" dirty="0">
                  <a:effectLst/>
                  <a:latin typeface="Times New Roman" panose="02020603050405020304" pitchFamily="18" charset="0"/>
                  <a:ea typeface="Times New Roman" panose="02020603050405020304" pitchFamily="18" charset="0"/>
                </a:rPr>
                <a:t>A</a:t>
              </a:r>
              <a:endParaRPr lang="en-US" sz="1600" dirty="0">
                <a:effectLst/>
                <a:latin typeface="Times New Roman" panose="02020603050405020304" pitchFamily="18" charset="0"/>
                <a:ea typeface="Times New Roman" panose="02020603050405020304" pitchFamily="18" charset="0"/>
              </a:endParaRPr>
            </a:p>
          </p:txBody>
        </p:sp>
      </p:grpSp>
      <p:sp>
        <p:nvSpPr>
          <p:cNvPr id="45" name="TextBox 44">
            <a:extLst>
              <a:ext uri="{FF2B5EF4-FFF2-40B4-BE49-F238E27FC236}">
                <a16:creationId xmlns:a16="http://schemas.microsoft.com/office/drawing/2014/main" id="{C997BE16-C25C-3D4C-8571-3C16D4D0AA59}"/>
              </a:ext>
            </a:extLst>
          </p:cNvPr>
          <p:cNvSpPr txBox="1"/>
          <p:nvPr/>
        </p:nvSpPr>
        <p:spPr>
          <a:xfrm>
            <a:off x="3993322" y="1815988"/>
            <a:ext cx="2156957" cy="523220"/>
          </a:xfrm>
          <a:prstGeom prst="rect">
            <a:avLst/>
          </a:prstGeom>
          <a:noFill/>
        </p:spPr>
        <p:txBody>
          <a:bodyPr wrap="square" rtlCol="0">
            <a:spAutoFit/>
          </a:bodyPr>
          <a:lstStyle/>
          <a:p>
            <a:r>
              <a:rPr lang="en-US" sz="2800" dirty="0"/>
              <a:t>Two cases:</a:t>
            </a:r>
          </a:p>
        </p:txBody>
      </p:sp>
      <p:sp>
        <p:nvSpPr>
          <p:cNvPr id="46" name="TextBox 45">
            <a:extLst>
              <a:ext uri="{FF2B5EF4-FFF2-40B4-BE49-F238E27FC236}">
                <a16:creationId xmlns:a16="http://schemas.microsoft.com/office/drawing/2014/main" id="{C997BE16-C25C-3D4C-8571-3C16D4D0AA59}"/>
              </a:ext>
            </a:extLst>
          </p:cNvPr>
          <p:cNvSpPr txBox="1"/>
          <p:nvPr/>
        </p:nvSpPr>
        <p:spPr>
          <a:xfrm>
            <a:off x="3993320" y="2202243"/>
            <a:ext cx="6804115" cy="523220"/>
          </a:xfrm>
          <a:prstGeom prst="rect">
            <a:avLst/>
          </a:prstGeom>
          <a:noFill/>
        </p:spPr>
        <p:txBody>
          <a:bodyPr wrap="square" rtlCol="0">
            <a:spAutoFit/>
          </a:bodyPr>
          <a:lstStyle/>
          <a:p>
            <a:r>
              <a:rPr lang="en-US" sz="2800" dirty="0"/>
              <a:t>Case 1: When “I” and “IT” are opposite.</a:t>
            </a:r>
          </a:p>
        </p:txBody>
      </p:sp>
      <p:sp>
        <p:nvSpPr>
          <p:cNvPr id="47" name="TextBox 46">
            <a:extLst>
              <a:ext uri="{FF2B5EF4-FFF2-40B4-BE49-F238E27FC236}">
                <a16:creationId xmlns:a16="http://schemas.microsoft.com/office/drawing/2014/main" id="{C997BE16-C25C-3D4C-8571-3C16D4D0AA59}"/>
              </a:ext>
            </a:extLst>
          </p:cNvPr>
          <p:cNvSpPr txBox="1"/>
          <p:nvPr/>
        </p:nvSpPr>
        <p:spPr>
          <a:xfrm>
            <a:off x="3993319" y="3601700"/>
            <a:ext cx="6804115" cy="523220"/>
          </a:xfrm>
          <a:prstGeom prst="rect">
            <a:avLst/>
          </a:prstGeom>
          <a:noFill/>
        </p:spPr>
        <p:txBody>
          <a:bodyPr wrap="square" rtlCol="0">
            <a:spAutoFit/>
          </a:bodyPr>
          <a:lstStyle/>
          <a:p>
            <a:r>
              <a:rPr lang="en-US" sz="2800" dirty="0"/>
              <a:t>Case 2: When “I” and “IT” are adjacent.</a:t>
            </a:r>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C997BE16-C25C-3D4C-8571-3C16D4D0AA59}"/>
                  </a:ext>
                </a:extLst>
              </p:cNvPr>
              <p:cNvSpPr txBox="1"/>
              <p:nvPr/>
            </p:nvSpPr>
            <p:spPr>
              <a:xfrm>
                <a:off x="4890617" y="2761906"/>
                <a:ext cx="4503903"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CC"/>
                          </a:solidFill>
                          <a:latin typeface="Cambria Math" panose="02040503050406030204" pitchFamily="18" charset="0"/>
                        </a:rPr>
                        <m:t>2</m:t>
                      </m:r>
                      <m:r>
                        <a:rPr lang="en-US" sz="2800" b="0" i="1" smtClean="0">
                          <a:solidFill>
                            <a:srgbClr val="0000CC"/>
                          </a:solidFill>
                          <a:latin typeface="Cambria Math" panose="02040503050406030204" pitchFamily="18" charset="0"/>
                          <a:ea typeface="Cambria Math" panose="02040503050406030204" pitchFamily="18" charset="0"/>
                        </a:rPr>
                        <m:t>×3!×2!×2!=48</m:t>
                      </m:r>
                    </m:oMath>
                  </m:oMathPara>
                </a14:m>
                <a:endParaRPr lang="en-US" sz="2800" dirty="0">
                  <a:solidFill>
                    <a:srgbClr val="0000CC"/>
                  </a:solidFill>
                </a:endParaRPr>
              </a:p>
            </p:txBody>
          </p:sp>
        </mc:Choice>
        <mc:Fallback xmlns="">
          <p:sp>
            <p:nvSpPr>
              <p:cNvPr id="48" name="TextBox 47">
                <a:extLst>
                  <a:ext uri="{FF2B5EF4-FFF2-40B4-BE49-F238E27FC236}">
                    <a16:creationId xmlns:a16="http://schemas.microsoft.com/office/drawing/2014/main" id="{C997BE16-C25C-3D4C-8571-3C16D4D0AA59}"/>
                  </a:ext>
                </a:extLst>
              </p:cNvPr>
              <p:cNvSpPr txBox="1">
                <a:spLocks noRot="1" noChangeAspect="1" noMove="1" noResize="1" noEditPoints="1" noAdjustHandles="1" noChangeArrowheads="1" noChangeShapeType="1" noTextEdit="1"/>
              </p:cNvSpPr>
              <p:nvPr/>
            </p:nvSpPr>
            <p:spPr>
              <a:xfrm>
                <a:off x="4890617" y="2761906"/>
                <a:ext cx="4503903" cy="523220"/>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C997BE16-C25C-3D4C-8571-3C16D4D0AA59}"/>
                  </a:ext>
                </a:extLst>
              </p:cNvPr>
              <p:cNvSpPr txBox="1"/>
              <p:nvPr/>
            </p:nvSpPr>
            <p:spPr>
              <a:xfrm>
                <a:off x="4209074" y="4185154"/>
                <a:ext cx="7327606" cy="954107"/>
              </a:xfrm>
              <a:prstGeom prst="rect">
                <a:avLst/>
              </a:prstGeom>
              <a:noFill/>
            </p:spPr>
            <p:txBody>
              <a:bodyPr wrap="square" rtlCol="0">
                <a:spAutoFit/>
              </a:bodyPr>
              <a:lstStyle/>
              <a:p>
                <a:r>
                  <a:rPr lang="en-US" sz="2800" b="0" dirty="0">
                    <a:solidFill>
                      <a:srgbClr val="0000CC"/>
                    </a:solidFill>
                  </a:rPr>
                  <a:t>Must be “</a:t>
                </a:r>
                <a:r>
                  <a:rPr lang="en-US" sz="2800" b="0" dirty="0" err="1">
                    <a:solidFill>
                      <a:srgbClr val="0000CC"/>
                    </a:solidFill>
                  </a:rPr>
                  <a:t>ITI</a:t>
                </a:r>
                <a:r>
                  <a:rPr lang="en-US" sz="2800" b="0" dirty="0">
                    <a:solidFill>
                      <a:srgbClr val="0000CC"/>
                    </a:solidFill>
                  </a:rPr>
                  <a:t>”. “CAN” and “DO” can be swapped:</a:t>
                </a:r>
              </a:p>
              <a:p>
                <a:pPr/>
                <a14:m>
                  <m:oMathPara xmlns:m="http://schemas.openxmlformats.org/officeDocument/2006/math">
                    <m:oMathParaPr>
                      <m:jc m:val="centerGroup"/>
                    </m:oMathParaPr>
                    <m:oMath xmlns:m="http://schemas.openxmlformats.org/officeDocument/2006/math">
                      <m:r>
                        <a:rPr lang="en-US" sz="2800" b="0" i="1" smtClean="0">
                          <a:solidFill>
                            <a:srgbClr val="0000CC"/>
                          </a:solidFill>
                          <a:latin typeface="Cambria Math" panose="02040503050406030204" pitchFamily="18" charset="0"/>
                        </a:rPr>
                        <m:t>2</m:t>
                      </m:r>
                      <m:r>
                        <a:rPr lang="en-US" sz="2800" b="0" i="1" smtClean="0">
                          <a:solidFill>
                            <a:srgbClr val="0000CC"/>
                          </a:solidFill>
                          <a:latin typeface="Cambria Math" panose="02040503050406030204" pitchFamily="18" charset="0"/>
                          <a:ea typeface="Cambria Math" panose="02040503050406030204" pitchFamily="18" charset="0"/>
                        </a:rPr>
                        <m:t>×3!×2!=24</m:t>
                      </m:r>
                    </m:oMath>
                  </m:oMathPara>
                </a14:m>
                <a:endParaRPr lang="en-US" sz="2800" dirty="0">
                  <a:solidFill>
                    <a:srgbClr val="0000CC"/>
                  </a:solidFill>
                </a:endParaRPr>
              </a:p>
            </p:txBody>
          </p:sp>
        </mc:Choice>
        <mc:Fallback xmlns="">
          <p:sp>
            <p:nvSpPr>
              <p:cNvPr id="49" name="TextBox 48">
                <a:extLst>
                  <a:ext uri="{FF2B5EF4-FFF2-40B4-BE49-F238E27FC236}">
                    <a16:creationId xmlns:a16="http://schemas.microsoft.com/office/drawing/2014/main" id="{C997BE16-C25C-3D4C-8571-3C16D4D0AA59}"/>
                  </a:ext>
                </a:extLst>
              </p:cNvPr>
              <p:cNvSpPr txBox="1">
                <a:spLocks noRot="1" noChangeAspect="1" noMove="1" noResize="1" noEditPoints="1" noAdjustHandles="1" noChangeArrowheads="1" noChangeShapeType="1" noTextEdit="1"/>
              </p:cNvSpPr>
              <p:nvPr/>
            </p:nvSpPr>
            <p:spPr>
              <a:xfrm>
                <a:off x="4209074" y="4185154"/>
                <a:ext cx="7327606" cy="954107"/>
              </a:xfrm>
              <a:prstGeom prst="rect">
                <a:avLst/>
              </a:prstGeom>
              <a:blipFill>
                <a:blip r:embed="rId3"/>
                <a:stretch>
                  <a:fillRect l="-1663" t="-641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C997BE16-C25C-3D4C-8571-3C16D4D0AA59}"/>
                  </a:ext>
                </a:extLst>
              </p:cNvPr>
              <p:cNvSpPr txBox="1"/>
              <p:nvPr/>
            </p:nvSpPr>
            <p:spPr>
              <a:xfrm>
                <a:off x="4399443" y="5234418"/>
                <a:ext cx="1913675" cy="523220"/>
              </a:xfrm>
              <a:prstGeom prst="rect">
                <a:avLst/>
              </a:prstGeom>
              <a:noFill/>
            </p:spPr>
            <p:txBody>
              <a:bodyPr wrap="square" rtlCol="0">
                <a:spAutoFit/>
              </a:bodyPr>
              <a:lstStyle/>
              <a:p>
                <a:r>
                  <a:rPr lang="en-US" sz="2800" b="0" dirty="0">
                    <a:solidFill>
                      <a:srgbClr val="0000CC"/>
                    </a:solidFill>
                  </a:rPr>
                  <a:t>Total = </a:t>
                </a:r>
                <a14:m>
                  <m:oMath xmlns:m="http://schemas.openxmlformats.org/officeDocument/2006/math">
                    <m:r>
                      <a:rPr lang="en-US" sz="2800" b="0" i="1" smtClean="0">
                        <a:solidFill>
                          <a:srgbClr val="C00000"/>
                        </a:solidFill>
                        <a:latin typeface="Cambria Math" panose="02040503050406030204" pitchFamily="18" charset="0"/>
                      </a:rPr>
                      <m:t>72</m:t>
                    </m:r>
                  </m:oMath>
                </a14:m>
                <a:endParaRPr lang="en-US" sz="2800" dirty="0">
                  <a:solidFill>
                    <a:srgbClr val="C00000"/>
                  </a:solidFill>
                </a:endParaRPr>
              </a:p>
            </p:txBody>
          </p:sp>
        </mc:Choice>
        <mc:Fallback xmlns="">
          <p:sp>
            <p:nvSpPr>
              <p:cNvPr id="50" name="TextBox 49">
                <a:extLst>
                  <a:ext uri="{FF2B5EF4-FFF2-40B4-BE49-F238E27FC236}">
                    <a16:creationId xmlns:a16="http://schemas.microsoft.com/office/drawing/2014/main" id="{C997BE16-C25C-3D4C-8571-3C16D4D0AA59}"/>
                  </a:ext>
                </a:extLst>
              </p:cNvPr>
              <p:cNvSpPr txBox="1">
                <a:spLocks noRot="1" noChangeAspect="1" noMove="1" noResize="1" noEditPoints="1" noAdjustHandles="1" noChangeArrowheads="1" noChangeShapeType="1" noTextEdit="1"/>
              </p:cNvSpPr>
              <p:nvPr/>
            </p:nvSpPr>
            <p:spPr>
              <a:xfrm>
                <a:off x="4399443" y="5234418"/>
                <a:ext cx="1913675" cy="523220"/>
              </a:xfrm>
              <a:prstGeom prst="rect">
                <a:avLst/>
              </a:prstGeom>
              <a:blipFill>
                <a:blip r:embed="rId4"/>
                <a:stretch>
                  <a:fillRect l="-6688" t="-11765" b="-34118"/>
                </a:stretch>
              </a:blipFill>
            </p:spPr>
            <p:txBody>
              <a:bodyPr/>
              <a:lstStyle/>
              <a:p>
                <a:r>
                  <a:rPr lang="en-US">
                    <a:noFill/>
                  </a:rPr>
                  <a:t> </a:t>
                </a:r>
              </a:p>
            </p:txBody>
          </p:sp>
        </mc:Fallback>
      </mc:AlternateContent>
    </p:spTree>
    <p:extLst>
      <p:ext uri="{BB962C8B-B14F-4D97-AF65-F5344CB8AC3E}">
        <p14:creationId xmlns:p14="http://schemas.microsoft.com/office/powerpoint/2010/main" val="3652960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dissolve">
                                      <p:cBhvr>
                                        <p:cTn id="7" dur="500"/>
                                        <p:tgtEl>
                                          <p:spTgt spid="4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dissolve">
                                      <p:cBhvr>
                                        <p:cTn id="12" dur="500"/>
                                        <p:tgtEl>
                                          <p:spTgt spid="46"/>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47"/>
                                        </p:tgtEl>
                                        <p:attrNameLst>
                                          <p:attrName>style.visibility</p:attrName>
                                        </p:attrNameLst>
                                      </p:cBhvr>
                                      <p:to>
                                        <p:strVal val="visible"/>
                                      </p:to>
                                    </p:set>
                                    <p:animEffect transition="in" filter="dissolve">
                                      <p:cBhvr>
                                        <p:cTn id="15" dur="500"/>
                                        <p:tgtEl>
                                          <p:spTgt spid="47"/>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48"/>
                                        </p:tgtEl>
                                        <p:attrNameLst>
                                          <p:attrName>style.visibility</p:attrName>
                                        </p:attrNameLst>
                                      </p:cBhvr>
                                      <p:to>
                                        <p:strVal val="visible"/>
                                      </p:to>
                                    </p:set>
                                    <p:animEffect transition="in" filter="dissolve">
                                      <p:cBhvr>
                                        <p:cTn id="20" dur="500"/>
                                        <p:tgtEl>
                                          <p:spTgt spid="48"/>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49"/>
                                        </p:tgtEl>
                                        <p:attrNameLst>
                                          <p:attrName>style.visibility</p:attrName>
                                        </p:attrNameLst>
                                      </p:cBhvr>
                                      <p:to>
                                        <p:strVal val="visible"/>
                                      </p:to>
                                    </p:set>
                                    <p:animEffect transition="in" filter="dissolve">
                                      <p:cBhvr>
                                        <p:cTn id="25" dur="500"/>
                                        <p:tgtEl>
                                          <p:spTgt spid="49"/>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50"/>
                                        </p:tgtEl>
                                        <p:attrNameLst>
                                          <p:attrName>style.visibility</p:attrName>
                                        </p:attrNameLst>
                                      </p:cBhvr>
                                      <p:to>
                                        <p:strVal val="visible"/>
                                      </p:to>
                                    </p:set>
                                    <p:animEffect transition="in" filter="dissolve">
                                      <p:cBhvr>
                                        <p:cTn id="30"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46" grpId="0"/>
      <p:bldP spid="47" grpId="0"/>
      <p:bldP spid="48" grpId="0"/>
      <p:bldP spid="49" grpId="0"/>
      <p:bldP spid="5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9DDFB-EB06-4120-AD42-E282D3458CC6}"/>
              </a:ext>
            </a:extLst>
          </p:cNvPr>
          <p:cNvSpPr>
            <a:spLocks noGrp="1"/>
          </p:cNvSpPr>
          <p:nvPr>
            <p:ph type="title"/>
          </p:nvPr>
        </p:nvSpPr>
        <p:spPr>
          <a:xfrm>
            <a:off x="426029" y="296013"/>
            <a:ext cx="1306518" cy="766967"/>
          </a:xfrm>
        </p:spPr>
        <p:txBody>
          <a:bodyPr/>
          <a:lstStyle/>
          <a:p>
            <a:r>
              <a:rPr lang="en-SG" dirty="0" err="1">
                <a:solidFill>
                  <a:schemeClr val="bg2">
                    <a:lumMod val="50000"/>
                  </a:schemeClr>
                </a:solidFill>
              </a:rPr>
              <a:t>Q7</a:t>
            </a:r>
            <a:r>
              <a:rPr lang="en-SG" dirty="0">
                <a:solidFill>
                  <a:schemeClr val="bg2">
                    <a:lumMod val="50000"/>
                  </a:schemeClr>
                </a:solidFill>
              </a:rPr>
              <a:t>. </a:t>
            </a:r>
          </a:p>
        </p:txBody>
      </p:sp>
      <p:sp>
        <p:nvSpPr>
          <p:cNvPr id="15" name="Slide Number Placeholder 1"/>
          <p:cNvSpPr>
            <a:spLocks noGrp="1"/>
          </p:cNvSpPr>
          <p:nvPr>
            <p:ph type="sldNum" sz="quarter" idx="12"/>
          </p:nvPr>
        </p:nvSpPr>
        <p:spPr>
          <a:xfrm>
            <a:off x="10485783" y="6492875"/>
            <a:ext cx="1706217" cy="365125"/>
          </a:xfrm>
        </p:spPr>
        <p:txBody>
          <a:bodyPr/>
          <a:lstStyle/>
          <a:p>
            <a:fld id="{576A5E36-E009-4840-A577-F8CF29116582}" type="slidenum">
              <a:rPr lang="en-US" sz="1600" smtClean="0">
                <a:solidFill>
                  <a:schemeClr val="bg1"/>
                </a:solidFill>
              </a:rPr>
              <a:t>12</a:t>
            </a:fld>
            <a:endParaRPr lang="en-US" sz="1600" dirty="0">
              <a:solidFill>
                <a:schemeClr val="bg1"/>
              </a:solidFill>
            </a:endParaRPr>
          </a:p>
        </p:txBody>
      </p:sp>
      <p:sp>
        <p:nvSpPr>
          <p:cNvPr id="5" name="TextBox 4">
            <a:extLst>
              <a:ext uri="{FF2B5EF4-FFF2-40B4-BE49-F238E27FC236}">
                <a16:creationId xmlns:a16="http://schemas.microsoft.com/office/drawing/2014/main" id="{E8FC74C9-FC96-49D8-873F-E1C82A42FC2B}"/>
              </a:ext>
            </a:extLst>
          </p:cNvPr>
          <p:cNvSpPr txBox="1"/>
          <p:nvPr/>
        </p:nvSpPr>
        <p:spPr>
          <a:xfrm>
            <a:off x="1466332" y="380200"/>
            <a:ext cx="5135937" cy="1384995"/>
          </a:xfrm>
          <a:prstGeom prst="rect">
            <a:avLst/>
          </a:prstGeom>
          <a:noFill/>
        </p:spPr>
        <p:txBody>
          <a:bodyPr wrap="square" rtlCol="0">
            <a:spAutoFit/>
          </a:bodyPr>
          <a:lstStyle/>
          <a:p>
            <a:r>
              <a:rPr lang="en-SG" sz="2800" dirty="0"/>
              <a:t>Select 5 persons from 7 men and 6 women to form a committee with at least 3 men.</a:t>
            </a:r>
            <a:endParaRPr lang="en-SG" sz="2800" dirty="0">
              <a:solidFill>
                <a:srgbClr val="0000FF"/>
              </a:solidFill>
            </a:endParaRPr>
          </a:p>
        </p:txBody>
      </p:sp>
      <p:sp>
        <p:nvSpPr>
          <p:cNvPr id="49" name="TextBox 48">
            <a:extLst>
              <a:ext uri="{FF2B5EF4-FFF2-40B4-BE49-F238E27FC236}">
                <a16:creationId xmlns:a16="http://schemas.microsoft.com/office/drawing/2014/main" id="{E8FC74C9-FC96-49D8-873F-E1C82A42FC2B}"/>
              </a:ext>
            </a:extLst>
          </p:cNvPr>
          <p:cNvSpPr txBox="1"/>
          <p:nvPr/>
        </p:nvSpPr>
        <p:spPr>
          <a:xfrm>
            <a:off x="1546230" y="1849382"/>
            <a:ext cx="8064712" cy="523220"/>
          </a:xfrm>
          <a:prstGeom prst="rect">
            <a:avLst/>
          </a:prstGeom>
          <a:solidFill>
            <a:srgbClr val="CCECFF"/>
          </a:solidFill>
        </p:spPr>
        <p:txBody>
          <a:bodyPr wrap="square" rtlCol="0">
            <a:spAutoFit/>
          </a:bodyPr>
          <a:lstStyle/>
          <a:p>
            <a:r>
              <a:rPr lang="en-SG" sz="2800" dirty="0"/>
              <a:t>(a) In how many ways can you form the committee?</a:t>
            </a:r>
            <a:endParaRPr lang="en-SG" sz="2800" dirty="0">
              <a:solidFill>
                <a:srgbClr val="0000FF"/>
              </a:solidFill>
            </a:endParaRPr>
          </a:p>
        </p:txBody>
      </p:sp>
      <mc:AlternateContent xmlns:mc="http://schemas.openxmlformats.org/markup-compatibility/2006" xmlns:a14="http://schemas.microsoft.com/office/drawing/2010/main">
        <mc:Choice Requires="a14">
          <p:sp>
            <p:nvSpPr>
              <p:cNvPr id="14" name="TextBox 13"/>
              <p:cNvSpPr txBox="1"/>
              <p:nvPr/>
            </p:nvSpPr>
            <p:spPr>
              <a:xfrm>
                <a:off x="8898518" y="4572917"/>
                <a:ext cx="1085618"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m:t>
                      </m:r>
                      <m:r>
                        <a:rPr lang="en-SG" sz="2800" b="1" i="1" smtClean="0">
                          <a:solidFill>
                            <a:srgbClr val="C00000"/>
                          </a:solidFill>
                          <a:latin typeface="Cambria Math" panose="02040503050406030204" pitchFamily="18" charset="0"/>
                        </a:rPr>
                        <m:t>𝟕𝟓𝟔</m:t>
                      </m:r>
                    </m:oMath>
                  </m:oMathPara>
                </a14:m>
                <a:endParaRPr lang="en-US" sz="2800" b="1" dirty="0">
                  <a:solidFill>
                    <a:srgbClr val="C00000"/>
                  </a:solidFill>
                </a:endParaRPr>
              </a:p>
            </p:txBody>
          </p:sp>
        </mc:Choice>
        <mc:Fallback xmlns="">
          <p:sp>
            <p:nvSpPr>
              <p:cNvPr id="14" name="TextBox 13"/>
              <p:cNvSpPr txBox="1">
                <a:spLocks noRot="1" noChangeAspect="1" noMove="1" noResize="1" noEditPoints="1" noAdjustHandles="1" noChangeArrowheads="1" noChangeShapeType="1" noTextEdit="1"/>
              </p:cNvSpPr>
              <p:nvPr/>
            </p:nvSpPr>
            <p:spPr>
              <a:xfrm>
                <a:off x="8898518" y="4572917"/>
                <a:ext cx="1085618" cy="430887"/>
              </a:xfrm>
              <a:prstGeom prst="rect">
                <a:avLst/>
              </a:prstGeom>
              <a:blipFill>
                <a:blip r:embed="rId2"/>
                <a:stretch>
                  <a:fillRect/>
                </a:stretch>
              </a:blipFill>
            </p:spPr>
            <p:txBody>
              <a:bodyPr/>
              <a:lstStyle/>
              <a:p>
                <a:r>
                  <a:rPr lang="en-SG">
                    <a:noFill/>
                  </a:rPr>
                  <a:t> </a:t>
                </a:r>
              </a:p>
            </p:txBody>
          </p:sp>
        </mc:Fallback>
      </mc:AlternateContent>
      <p:grpSp>
        <p:nvGrpSpPr>
          <p:cNvPr id="17" name="Group 16">
            <a:extLst>
              <a:ext uri="{FF2B5EF4-FFF2-40B4-BE49-F238E27FC236}">
                <a16:creationId xmlns:a16="http://schemas.microsoft.com/office/drawing/2014/main" id="{8B7460C7-7BE0-4248-AEA1-534D5D54B51C}"/>
              </a:ext>
            </a:extLst>
          </p:cNvPr>
          <p:cNvGrpSpPr/>
          <p:nvPr/>
        </p:nvGrpSpPr>
        <p:grpSpPr>
          <a:xfrm>
            <a:off x="6651342" y="730170"/>
            <a:ext cx="5042459" cy="785083"/>
            <a:chOff x="6651342" y="730170"/>
            <a:chExt cx="5042459" cy="785083"/>
          </a:xfrm>
        </p:grpSpPr>
        <p:pic>
          <p:nvPicPr>
            <p:cNvPr id="10" name="Picture 9">
              <a:extLst>
                <a:ext uri="{FF2B5EF4-FFF2-40B4-BE49-F238E27FC236}">
                  <a16:creationId xmlns:a16="http://schemas.microsoft.com/office/drawing/2014/main" id="{6B86C811-F7A9-4FD5-A23C-76472936848A}"/>
                </a:ext>
              </a:extLst>
            </p:cNvPr>
            <p:cNvPicPr>
              <a:picLocks noChangeAspect="1"/>
            </p:cNvPicPr>
            <p:nvPr/>
          </p:nvPicPr>
          <p:blipFill>
            <a:blip r:embed="rId3"/>
            <a:stretch>
              <a:fillRect/>
            </a:stretch>
          </p:blipFill>
          <p:spPr>
            <a:xfrm>
              <a:off x="6651342" y="730170"/>
              <a:ext cx="350483" cy="785083"/>
            </a:xfrm>
            <a:prstGeom prst="rect">
              <a:avLst/>
            </a:prstGeom>
          </p:spPr>
        </p:pic>
        <p:pic>
          <p:nvPicPr>
            <p:cNvPr id="27" name="Picture 26">
              <a:extLst>
                <a:ext uri="{FF2B5EF4-FFF2-40B4-BE49-F238E27FC236}">
                  <a16:creationId xmlns:a16="http://schemas.microsoft.com/office/drawing/2014/main" id="{9A91CD50-42A8-48F2-BE70-82AF7F909295}"/>
                </a:ext>
              </a:extLst>
            </p:cNvPr>
            <p:cNvPicPr>
              <a:picLocks noChangeAspect="1"/>
            </p:cNvPicPr>
            <p:nvPr/>
          </p:nvPicPr>
          <p:blipFill>
            <a:blip r:embed="rId3"/>
            <a:stretch>
              <a:fillRect/>
            </a:stretch>
          </p:blipFill>
          <p:spPr>
            <a:xfrm>
              <a:off x="7467330" y="730170"/>
              <a:ext cx="350483" cy="785083"/>
            </a:xfrm>
            <a:prstGeom prst="rect">
              <a:avLst/>
            </a:prstGeom>
          </p:spPr>
        </p:pic>
        <p:pic>
          <p:nvPicPr>
            <p:cNvPr id="28" name="Picture 27">
              <a:extLst>
                <a:ext uri="{FF2B5EF4-FFF2-40B4-BE49-F238E27FC236}">
                  <a16:creationId xmlns:a16="http://schemas.microsoft.com/office/drawing/2014/main" id="{E148EE53-DE59-46BC-BD7E-7B66D733AAE7}"/>
                </a:ext>
              </a:extLst>
            </p:cNvPr>
            <p:cNvPicPr>
              <a:picLocks noChangeAspect="1"/>
            </p:cNvPicPr>
            <p:nvPr/>
          </p:nvPicPr>
          <p:blipFill>
            <a:blip r:embed="rId3"/>
            <a:stretch>
              <a:fillRect/>
            </a:stretch>
          </p:blipFill>
          <p:spPr>
            <a:xfrm>
              <a:off x="8303053" y="730170"/>
              <a:ext cx="350483" cy="785083"/>
            </a:xfrm>
            <a:prstGeom prst="rect">
              <a:avLst/>
            </a:prstGeom>
          </p:spPr>
        </p:pic>
        <p:pic>
          <p:nvPicPr>
            <p:cNvPr id="29" name="Picture 28">
              <a:extLst>
                <a:ext uri="{FF2B5EF4-FFF2-40B4-BE49-F238E27FC236}">
                  <a16:creationId xmlns:a16="http://schemas.microsoft.com/office/drawing/2014/main" id="{29DB5480-DBCE-482F-B097-8832DA14093D}"/>
                </a:ext>
              </a:extLst>
            </p:cNvPr>
            <p:cNvPicPr>
              <a:picLocks noChangeAspect="1"/>
            </p:cNvPicPr>
            <p:nvPr/>
          </p:nvPicPr>
          <p:blipFill>
            <a:blip r:embed="rId3"/>
            <a:stretch>
              <a:fillRect/>
            </a:stretch>
          </p:blipFill>
          <p:spPr>
            <a:xfrm>
              <a:off x="9808895" y="730170"/>
              <a:ext cx="350483" cy="785083"/>
            </a:xfrm>
            <a:prstGeom prst="rect">
              <a:avLst/>
            </a:prstGeom>
          </p:spPr>
        </p:pic>
        <p:pic>
          <p:nvPicPr>
            <p:cNvPr id="30" name="Picture 29">
              <a:extLst>
                <a:ext uri="{FF2B5EF4-FFF2-40B4-BE49-F238E27FC236}">
                  <a16:creationId xmlns:a16="http://schemas.microsoft.com/office/drawing/2014/main" id="{80AC273F-7CDC-4D81-BC47-20B05EE9C151}"/>
                </a:ext>
              </a:extLst>
            </p:cNvPr>
            <p:cNvPicPr>
              <a:picLocks noChangeAspect="1"/>
            </p:cNvPicPr>
            <p:nvPr/>
          </p:nvPicPr>
          <p:blipFill>
            <a:blip r:embed="rId3"/>
            <a:stretch>
              <a:fillRect/>
            </a:stretch>
          </p:blipFill>
          <p:spPr>
            <a:xfrm>
              <a:off x="10567796" y="730170"/>
              <a:ext cx="350483" cy="785083"/>
            </a:xfrm>
            <a:prstGeom prst="rect">
              <a:avLst/>
            </a:prstGeom>
          </p:spPr>
        </p:pic>
        <p:pic>
          <p:nvPicPr>
            <p:cNvPr id="31" name="Picture 30">
              <a:extLst>
                <a:ext uri="{FF2B5EF4-FFF2-40B4-BE49-F238E27FC236}">
                  <a16:creationId xmlns:a16="http://schemas.microsoft.com/office/drawing/2014/main" id="{4DCAE2D9-8D37-449C-9B5C-FFC41A655A60}"/>
                </a:ext>
              </a:extLst>
            </p:cNvPr>
            <p:cNvPicPr>
              <a:picLocks noChangeAspect="1"/>
            </p:cNvPicPr>
            <p:nvPr/>
          </p:nvPicPr>
          <p:blipFill>
            <a:blip r:embed="rId3"/>
            <a:stretch>
              <a:fillRect/>
            </a:stretch>
          </p:blipFill>
          <p:spPr>
            <a:xfrm>
              <a:off x="11343318" y="730170"/>
              <a:ext cx="350483" cy="785083"/>
            </a:xfrm>
            <a:prstGeom prst="rect">
              <a:avLst/>
            </a:prstGeom>
          </p:spPr>
        </p:pic>
        <p:pic>
          <p:nvPicPr>
            <p:cNvPr id="32" name="Picture 31">
              <a:extLst>
                <a:ext uri="{FF2B5EF4-FFF2-40B4-BE49-F238E27FC236}">
                  <a16:creationId xmlns:a16="http://schemas.microsoft.com/office/drawing/2014/main" id="{8FC7C7E0-4FA3-46D0-9467-3C09E6D4E84C}"/>
                </a:ext>
              </a:extLst>
            </p:cNvPr>
            <p:cNvPicPr>
              <a:picLocks noChangeAspect="1"/>
            </p:cNvPicPr>
            <p:nvPr/>
          </p:nvPicPr>
          <p:blipFill>
            <a:blip r:embed="rId3"/>
            <a:stretch>
              <a:fillRect/>
            </a:stretch>
          </p:blipFill>
          <p:spPr>
            <a:xfrm>
              <a:off x="9064008" y="730170"/>
              <a:ext cx="350483" cy="785083"/>
            </a:xfrm>
            <a:prstGeom prst="rect">
              <a:avLst/>
            </a:prstGeom>
          </p:spPr>
        </p:pic>
        <p:pic>
          <p:nvPicPr>
            <p:cNvPr id="16" name="Picture 15">
              <a:extLst>
                <a:ext uri="{FF2B5EF4-FFF2-40B4-BE49-F238E27FC236}">
                  <a16:creationId xmlns:a16="http://schemas.microsoft.com/office/drawing/2014/main" id="{BE334432-9FE0-4C17-B1B5-9DD821694B4F}"/>
                </a:ext>
              </a:extLst>
            </p:cNvPr>
            <p:cNvPicPr>
              <a:picLocks noChangeAspect="1"/>
            </p:cNvPicPr>
            <p:nvPr/>
          </p:nvPicPr>
          <p:blipFill>
            <a:blip r:embed="rId4"/>
            <a:stretch>
              <a:fillRect/>
            </a:stretch>
          </p:blipFill>
          <p:spPr>
            <a:xfrm>
              <a:off x="7085409" y="730170"/>
              <a:ext cx="350483" cy="785082"/>
            </a:xfrm>
            <a:prstGeom prst="rect">
              <a:avLst/>
            </a:prstGeom>
          </p:spPr>
        </p:pic>
        <p:pic>
          <p:nvPicPr>
            <p:cNvPr id="35" name="Picture 34">
              <a:extLst>
                <a:ext uri="{FF2B5EF4-FFF2-40B4-BE49-F238E27FC236}">
                  <a16:creationId xmlns:a16="http://schemas.microsoft.com/office/drawing/2014/main" id="{1DC5D77C-BE49-428C-84F0-F790EDC763F8}"/>
                </a:ext>
              </a:extLst>
            </p:cNvPr>
            <p:cNvPicPr>
              <a:picLocks noChangeAspect="1"/>
            </p:cNvPicPr>
            <p:nvPr/>
          </p:nvPicPr>
          <p:blipFill>
            <a:blip r:embed="rId4"/>
            <a:stretch>
              <a:fillRect/>
            </a:stretch>
          </p:blipFill>
          <p:spPr>
            <a:xfrm>
              <a:off x="7883820" y="730170"/>
              <a:ext cx="350483" cy="785082"/>
            </a:xfrm>
            <a:prstGeom prst="rect">
              <a:avLst/>
            </a:prstGeom>
          </p:spPr>
        </p:pic>
        <p:pic>
          <p:nvPicPr>
            <p:cNvPr id="36" name="Picture 35">
              <a:extLst>
                <a:ext uri="{FF2B5EF4-FFF2-40B4-BE49-F238E27FC236}">
                  <a16:creationId xmlns:a16="http://schemas.microsoft.com/office/drawing/2014/main" id="{CA82236A-C94B-4957-AC41-48C58D2048E2}"/>
                </a:ext>
              </a:extLst>
            </p:cNvPr>
            <p:cNvPicPr>
              <a:picLocks noChangeAspect="1"/>
            </p:cNvPicPr>
            <p:nvPr/>
          </p:nvPicPr>
          <p:blipFill>
            <a:blip r:embed="rId4"/>
            <a:stretch>
              <a:fillRect/>
            </a:stretch>
          </p:blipFill>
          <p:spPr>
            <a:xfrm>
              <a:off x="8676247" y="730170"/>
              <a:ext cx="350483" cy="785082"/>
            </a:xfrm>
            <a:prstGeom prst="rect">
              <a:avLst/>
            </a:prstGeom>
          </p:spPr>
        </p:pic>
        <p:pic>
          <p:nvPicPr>
            <p:cNvPr id="37" name="Picture 36">
              <a:extLst>
                <a:ext uri="{FF2B5EF4-FFF2-40B4-BE49-F238E27FC236}">
                  <a16:creationId xmlns:a16="http://schemas.microsoft.com/office/drawing/2014/main" id="{F86072FA-B058-4977-A203-F20AD62F426A}"/>
                </a:ext>
              </a:extLst>
            </p:cNvPr>
            <p:cNvPicPr>
              <a:picLocks noChangeAspect="1"/>
            </p:cNvPicPr>
            <p:nvPr/>
          </p:nvPicPr>
          <p:blipFill>
            <a:blip r:embed="rId4"/>
            <a:stretch>
              <a:fillRect/>
            </a:stretch>
          </p:blipFill>
          <p:spPr>
            <a:xfrm>
              <a:off x="9435701" y="730170"/>
              <a:ext cx="350483" cy="785082"/>
            </a:xfrm>
            <a:prstGeom prst="rect">
              <a:avLst/>
            </a:prstGeom>
          </p:spPr>
        </p:pic>
        <p:pic>
          <p:nvPicPr>
            <p:cNvPr id="38" name="Picture 37">
              <a:extLst>
                <a:ext uri="{FF2B5EF4-FFF2-40B4-BE49-F238E27FC236}">
                  <a16:creationId xmlns:a16="http://schemas.microsoft.com/office/drawing/2014/main" id="{40927850-8610-4324-893B-E54A4C13485E}"/>
                </a:ext>
              </a:extLst>
            </p:cNvPr>
            <p:cNvPicPr>
              <a:picLocks noChangeAspect="1"/>
            </p:cNvPicPr>
            <p:nvPr/>
          </p:nvPicPr>
          <p:blipFill>
            <a:blip r:embed="rId4"/>
            <a:stretch>
              <a:fillRect/>
            </a:stretch>
          </p:blipFill>
          <p:spPr>
            <a:xfrm>
              <a:off x="10209168" y="730170"/>
              <a:ext cx="350483" cy="785082"/>
            </a:xfrm>
            <a:prstGeom prst="rect">
              <a:avLst/>
            </a:prstGeom>
          </p:spPr>
        </p:pic>
        <p:pic>
          <p:nvPicPr>
            <p:cNvPr id="40" name="Picture 39">
              <a:extLst>
                <a:ext uri="{FF2B5EF4-FFF2-40B4-BE49-F238E27FC236}">
                  <a16:creationId xmlns:a16="http://schemas.microsoft.com/office/drawing/2014/main" id="{679DC61D-D8E5-4EB6-A526-FA8A9A72843B}"/>
                </a:ext>
              </a:extLst>
            </p:cNvPr>
            <p:cNvPicPr>
              <a:picLocks noChangeAspect="1"/>
            </p:cNvPicPr>
            <p:nvPr/>
          </p:nvPicPr>
          <p:blipFill>
            <a:blip r:embed="rId4"/>
            <a:stretch>
              <a:fillRect/>
            </a:stretch>
          </p:blipFill>
          <p:spPr>
            <a:xfrm>
              <a:off x="10955557" y="730170"/>
              <a:ext cx="350483" cy="785082"/>
            </a:xfrm>
            <a:prstGeom prst="rect">
              <a:avLst/>
            </a:prstGeom>
          </p:spPr>
        </p:pic>
      </p:grpSp>
      <p:sp>
        <p:nvSpPr>
          <p:cNvPr id="18" name="TextBox 17">
            <a:extLst>
              <a:ext uri="{FF2B5EF4-FFF2-40B4-BE49-F238E27FC236}">
                <a16:creationId xmlns:a16="http://schemas.microsoft.com/office/drawing/2014/main" id="{A3A22DE0-6325-4A07-8B31-FBD9C7BBACED}"/>
              </a:ext>
            </a:extLst>
          </p:cNvPr>
          <p:cNvSpPr txBox="1"/>
          <p:nvPr/>
        </p:nvSpPr>
        <p:spPr>
          <a:xfrm>
            <a:off x="1457433" y="2773130"/>
            <a:ext cx="2743200" cy="523220"/>
          </a:xfrm>
          <a:prstGeom prst="rect">
            <a:avLst/>
          </a:prstGeom>
          <a:noFill/>
        </p:spPr>
        <p:txBody>
          <a:bodyPr wrap="square" rtlCol="0">
            <a:spAutoFit/>
          </a:bodyPr>
          <a:lstStyle/>
          <a:p>
            <a:pPr algn="ctr"/>
            <a:r>
              <a:rPr lang="en-SG" sz="2800" dirty="0"/>
              <a:t>3 men, 2 women;</a:t>
            </a:r>
          </a:p>
        </p:txBody>
      </p:sp>
      <p:sp>
        <p:nvSpPr>
          <p:cNvPr id="42" name="TextBox 41">
            <a:extLst>
              <a:ext uri="{FF2B5EF4-FFF2-40B4-BE49-F238E27FC236}">
                <a16:creationId xmlns:a16="http://schemas.microsoft.com/office/drawing/2014/main" id="{18296F8D-E751-4E91-87DC-3D8AD235A349}"/>
              </a:ext>
            </a:extLst>
          </p:cNvPr>
          <p:cNvSpPr txBox="1"/>
          <p:nvPr/>
        </p:nvSpPr>
        <p:spPr>
          <a:xfrm>
            <a:off x="4577333" y="2773130"/>
            <a:ext cx="2743200" cy="523220"/>
          </a:xfrm>
          <a:prstGeom prst="rect">
            <a:avLst/>
          </a:prstGeom>
          <a:noFill/>
        </p:spPr>
        <p:txBody>
          <a:bodyPr wrap="square" rtlCol="0">
            <a:spAutoFit/>
          </a:bodyPr>
          <a:lstStyle/>
          <a:p>
            <a:pPr algn="ctr"/>
            <a:r>
              <a:rPr lang="en-SG" sz="2800" dirty="0"/>
              <a:t>4 men, 1 woman;</a:t>
            </a:r>
          </a:p>
        </p:txBody>
      </p:sp>
      <p:sp>
        <p:nvSpPr>
          <p:cNvPr id="43" name="TextBox 42">
            <a:extLst>
              <a:ext uri="{FF2B5EF4-FFF2-40B4-BE49-F238E27FC236}">
                <a16:creationId xmlns:a16="http://schemas.microsoft.com/office/drawing/2014/main" id="{91C70B36-CDC4-4E4A-B494-E357264BBB0D}"/>
              </a:ext>
            </a:extLst>
          </p:cNvPr>
          <p:cNvSpPr txBox="1"/>
          <p:nvPr/>
        </p:nvSpPr>
        <p:spPr>
          <a:xfrm>
            <a:off x="7803683" y="2773130"/>
            <a:ext cx="1350315" cy="523220"/>
          </a:xfrm>
          <a:prstGeom prst="rect">
            <a:avLst/>
          </a:prstGeom>
          <a:noFill/>
        </p:spPr>
        <p:txBody>
          <a:bodyPr wrap="square" rtlCol="0">
            <a:spAutoFit/>
          </a:bodyPr>
          <a:lstStyle/>
          <a:p>
            <a:pPr algn="ctr"/>
            <a:r>
              <a:rPr lang="en-SG" sz="2800" dirty="0"/>
              <a:t>5 men.</a:t>
            </a:r>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F4A2F95B-77EC-479C-8A71-FF886C3AB69A}"/>
                  </a:ext>
                </a:extLst>
              </p:cNvPr>
              <p:cNvSpPr txBox="1"/>
              <p:nvPr/>
            </p:nvSpPr>
            <p:spPr>
              <a:xfrm>
                <a:off x="2089263" y="3380537"/>
                <a:ext cx="1711366" cy="9681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US" sz="2800" i="1" smtClean="0">
                              <a:latin typeface="Cambria Math" panose="02040503050406030204" pitchFamily="18" charset="0"/>
                            </a:rPr>
                          </m:ctrlPr>
                        </m:dPr>
                        <m:e>
                          <m:f>
                            <m:fPr>
                              <m:type m:val="noBar"/>
                              <m:ctrlPr>
                                <a:rPr lang="en-US" sz="2800" i="1" smtClean="0">
                                  <a:latin typeface="Cambria Math" panose="02040503050406030204" pitchFamily="18" charset="0"/>
                                </a:rPr>
                              </m:ctrlPr>
                            </m:fPr>
                            <m:num>
                              <m:r>
                                <a:rPr lang="en-SG" sz="2800" b="0" i="1" smtClean="0">
                                  <a:latin typeface="Cambria Math" panose="02040503050406030204" pitchFamily="18" charset="0"/>
                                </a:rPr>
                                <m:t>7</m:t>
                              </m:r>
                            </m:num>
                            <m:den>
                              <m:r>
                                <a:rPr lang="en-SG" sz="2800" b="0" i="1" smtClean="0">
                                  <a:latin typeface="Cambria Math" panose="02040503050406030204" pitchFamily="18" charset="0"/>
                                </a:rPr>
                                <m:t>3</m:t>
                              </m:r>
                            </m:den>
                          </m:f>
                        </m:e>
                      </m:d>
                      <m:r>
                        <a:rPr lang="en-US" sz="2800" b="0" i="1" smtClean="0">
                          <a:latin typeface="Cambria Math" panose="02040503050406030204" pitchFamily="18" charset="0"/>
                          <a:ea typeface="Cambria Math" panose="02040503050406030204" pitchFamily="18" charset="0"/>
                        </a:rPr>
                        <m:t>×</m:t>
                      </m:r>
                      <m:d>
                        <m:dPr>
                          <m:ctrlPr>
                            <a:rPr lang="en-US" sz="2800" b="0" i="1" smtClean="0">
                              <a:latin typeface="Cambria Math" panose="02040503050406030204" pitchFamily="18" charset="0"/>
                              <a:ea typeface="Cambria Math" panose="02040503050406030204" pitchFamily="18" charset="0"/>
                            </a:rPr>
                          </m:ctrlPr>
                        </m:dPr>
                        <m:e>
                          <m:f>
                            <m:fPr>
                              <m:type m:val="noBar"/>
                              <m:ctrlPr>
                                <a:rPr lang="en-US" sz="2800" b="0" i="1" smtClean="0">
                                  <a:latin typeface="Cambria Math" panose="02040503050406030204" pitchFamily="18" charset="0"/>
                                  <a:ea typeface="Cambria Math" panose="02040503050406030204" pitchFamily="18" charset="0"/>
                                </a:rPr>
                              </m:ctrlPr>
                            </m:fPr>
                            <m:num>
                              <m:r>
                                <a:rPr lang="en-SG" sz="2800" b="0" i="1" smtClean="0">
                                  <a:latin typeface="Cambria Math" panose="02040503050406030204" pitchFamily="18" charset="0"/>
                                  <a:ea typeface="Cambria Math" panose="02040503050406030204" pitchFamily="18" charset="0"/>
                                </a:rPr>
                                <m:t>6</m:t>
                              </m:r>
                            </m:num>
                            <m:den>
                              <m:r>
                                <a:rPr lang="en-SG" sz="2800" b="0" i="1" smtClean="0">
                                  <a:latin typeface="Cambria Math" panose="02040503050406030204" pitchFamily="18" charset="0"/>
                                  <a:ea typeface="Cambria Math" panose="02040503050406030204" pitchFamily="18" charset="0"/>
                                </a:rPr>
                                <m:t>2</m:t>
                              </m:r>
                            </m:den>
                          </m:f>
                        </m:e>
                      </m:d>
                    </m:oMath>
                  </m:oMathPara>
                </a14:m>
                <a:endParaRPr lang="en-US" sz="2800" b="1" dirty="0">
                  <a:solidFill>
                    <a:srgbClr val="C00000"/>
                  </a:solidFill>
                </a:endParaRPr>
              </a:p>
            </p:txBody>
          </p:sp>
        </mc:Choice>
        <mc:Fallback xmlns="">
          <p:sp>
            <p:nvSpPr>
              <p:cNvPr id="45" name="TextBox 44">
                <a:extLst>
                  <a:ext uri="{FF2B5EF4-FFF2-40B4-BE49-F238E27FC236}">
                    <a16:creationId xmlns:a16="http://schemas.microsoft.com/office/drawing/2014/main" id="{F4A2F95B-77EC-479C-8A71-FF886C3AB69A}"/>
                  </a:ext>
                </a:extLst>
              </p:cNvPr>
              <p:cNvSpPr txBox="1">
                <a:spLocks noRot="1" noChangeAspect="1" noMove="1" noResize="1" noEditPoints="1" noAdjustHandles="1" noChangeArrowheads="1" noChangeShapeType="1" noTextEdit="1"/>
              </p:cNvSpPr>
              <p:nvPr/>
            </p:nvSpPr>
            <p:spPr>
              <a:xfrm>
                <a:off x="2089263" y="3380537"/>
                <a:ext cx="1711366" cy="968150"/>
              </a:xfrm>
              <a:prstGeom prst="rect">
                <a:avLst/>
              </a:prstGeom>
              <a:blipFill>
                <a:blip r:embed="rId5"/>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FD730D7-8F50-4290-BA6B-02593DBE5AA9}"/>
                  </a:ext>
                </a:extLst>
              </p:cNvPr>
              <p:cNvSpPr txBox="1"/>
              <p:nvPr/>
            </p:nvSpPr>
            <p:spPr>
              <a:xfrm>
                <a:off x="4200633" y="3649169"/>
                <a:ext cx="34143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SG" sz="2800" i="1" smtClean="0">
                          <a:latin typeface="Cambria Math" panose="02040503050406030204" pitchFamily="18" charset="0"/>
                        </a:rPr>
                        <m:t>+</m:t>
                      </m:r>
                    </m:oMath>
                  </m:oMathPara>
                </a14:m>
                <a:endParaRPr lang="en-US" sz="2800" b="1" dirty="0">
                  <a:solidFill>
                    <a:srgbClr val="C00000"/>
                  </a:solidFill>
                </a:endParaRPr>
              </a:p>
            </p:txBody>
          </p:sp>
        </mc:Choice>
        <mc:Fallback xmlns="">
          <p:sp>
            <p:nvSpPr>
              <p:cNvPr id="50" name="TextBox 49">
                <a:extLst>
                  <a:ext uri="{FF2B5EF4-FFF2-40B4-BE49-F238E27FC236}">
                    <a16:creationId xmlns:a16="http://schemas.microsoft.com/office/drawing/2014/main" id="{EFD730D7-8F50-4290-BA6B-02593DBE5AA9}"/>
                  </a:ext>
                </a:extLst>
              </p:cNvPr>
              <p:cNvSpPr txBox="1">
                <a:spLocks noRot="1" noChangeAspect="1" noMove="1" noResize="1" noEditPoints="1" noAdjustHandles="1" noChangeArrowheads="1" noChangeShapeType="1" noTextEdit="1"/>
              </p:cNvSpPr>
              <p:nvPr/>
            </p:nvSpPr>
            <p:spPr>
              <a:xfrm>
                <a:off x="4200633" y="3649169"/>
                <a:ext cx="341439" cy="430887"/>
              </a:xfrm>
              <a:prstGeom prst="rect">
                <a:avLst/>
              </a:prstGeom>
              <a:blipFill>
                <a:blip r:embed="rId6"/>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C62C02CB-153E-4C1E-A5E7-4FD8AA47451E}"/>
                  </a:ext>
                </a:extLst>
              </p:cNvPr>
              <p:cNvSpPr txBox="1"/>
              <p:nvPr/>
            </p:nvSpPr>
            <p:spPr>
              <a:xfrm>
                <a:off x="5176394" y="3380537"/>
                <a:ext cx="1711366" cy="9681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US" sz="2800" i="1" smtClean="0">
                              <a:latin typeface="Cambria Math" panose="02040503050406030204" pitchFamily="18" charset="0"/>
                            </a:rPr>
                          </m:ctrlPr>
                        </m:dPr>
                        <m:e>
                          <m:f>
                            <m:fPr>
                              <m:type m:val="noBar"/>
                              <m:ctrlPr>
                                <a:rPr lang="en-US" sz="2800" i="1" smtClean="0">
                                  <a:latin typeface="Cambria Math" panose="02040503050406030204" pitchFamily="18" charset="0"/>
                                </a:rPr>
                              </m:ctrlPr>
                            </m:fPr>
                            <m:num>
                              <m:r>
                                <a:rPr lang="en-SG" sz="2800" b="0" i="1" smtClean="0">
                                  <a:latin typeface="Cambria Math" panose="02040503050406030204" pitchFamily="18" charset="0"/>
                                </a:rPr>
                                <m:t>7</m:t>
                              </m:r>
                            </m:num>
                            <m:den>
                              <m:r>
                                <a:rPr lang="en-SG" sz="2800" b="0" i="1" smtClean="0">
                                  <a:latin typeface="Cambria Math" panose="02040503050406030204" pitchFamily="18" charset="0"/>
                                </a:rPr>
                                <m:t>4</m:t>
                              </m:r>
                            </m:den>
                          </m:f>
                        </m:e>
                      </m:d>
                      <m:r>
                        <a:rPr lang="en-US" sz="2800" b="0" i="1" smtClean="0">
                          <a:latin typeface="Cambria Math" panose="02040503050406030204" pitchFamily="18" charset="0"/>
                          <a:ea typeface="Cambria Math" panose="02040503050406030204" pitchFamily="18" charset="0"/>
                        </a:rPr>
                        <m:t>×</m:t>
                      </m:r>
                      <m:d>
                        <m:dPr>
                          <m:ctrlPr>
                            <a:rPr lang="en-US" sz="2800" b="0" i="1" smtClean="0">
                              <a:latin typeface="Cambria Math" panose="02040503050406030204" pitchFamily="18" charset="0"/>
                              <a:ea typeface="Cambria Math" panose="02040503050406030204" pitchFamily="18" charset="0"/>
                            </a:rPr>
                          </m:ctrlPr>
                        </m:dPr>
                        <m:e>
                          <m:f>
                            <m:fPr>
                              <m:type m:val="noBar"/>
                              <m:ctrlPr>
                                <a:rPr lang="en-US" sz="2800" b="0" i="1" smtClean="0">
                                  <a:latin typeface="Cambria Math" panose="02040503050406030204" pitchFamily="18" charset="0"/>
                                  <a:ea typeface="Cambria Math" panose="02040503050406030204" pitchFamily="18" charset="0"/>
                                </a:rPr>
                              </m:ctrlPr>
                            </m:fPr>
                            <m:num>
                              <m:r>
                                <a:rPr lang="en-SG" sz="2800" b="0" i="1" smtClean="0">
                                  <a:latin typeface="Cambria Math" panose="02040503050406030204" pitchFamily="18" charset="0"/>
                                  <a:ea typeface="Cambria Math" panose="02040503050406030204" pitchFamily="18" charset="0"/>
                                </a:rPr>
                                <m:t>6</m:t>
                              </m:r>
                            </m:num>
                            <m:den>
                              <m:r>
                                <a:rPr lang="en-SG" sz="2800" b="0" i="1" smtClean="0">
                                  <a:latin typeface="Cambria Math" panose="02040503050406030204" pitchFamily="18" charset="0"/>
                                  <a:ea typeface="Cambria Math" panose="02040503050406030204" pitchFamily="18" charset="0"/>
                                </a:rPr>
                                <m:t>1</m:t>
                              </m:r>
                            </m:den>
                          </m:f>
                        </m:e>
                      </m:d>
                    </m:oMath>
                  </m:oMathPara>
                </a14:m>
                <a:endParaRPr lang="en-US" sz="2800" b="1" dirty="0">
                  <a:solidFill>
                    <a:srgbClr val="C00000"/>
                  </a:solidFill>
                </a:endParaRPr>
              </a:p>
            </p:txBody>
          </p:sp>
        </mc:Choice>
        <mc:Fallback xmlns="">
          <p:sp>
            <p:nvSpPr>
              <p:cNvPr id="51" name="TextBox 50">
                <a:extLst>
                  <a:ext uri="{FF2B5EF4-FFF2-40B4-BE49-F238E27FC236}">
                    <a16:creationId xmlns:a16="http://schemas.microsoft.com/office/drawing/2014/main" id="{C62C02CB-153E-4C1E-A5E7-4FD8AA47451E}"/>
                  </a:ext>
                </a:extLst>
              </p:cNvPr>
              <p:cNvSpPr txBox="1">
                <a:spLocks noRot="1" noChangeAspect="1" noMove="1" noResize="1" noEditPoints="1" noAdjustHandles="1" noChangeArrowheads="1" noChangeShapeType="1" noTextEdit="1"/>
              </p:cNvSpPr>
              <p:nvPr/>
            </p:nvSpPr>
            <p:spPr>
              <a:xfrm>
                <a:off x="5176394" y="3380537"/>
                <a:ext cx="1711366" cy="968150"/>
              </a:xfrm>
              <a:prstGeom prst="rect">
                <a:avLst/>
              </a:prstGeom>
              <a:blipFill>
                <a:blip r:embed="rId7"/>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17A5D2BB-85F7-4654-92FD-37FE9655940C}"/>
                  </a:ext>
                </a:extLst>
              </p:cNvPr>
              <p:cNvSpPr txBox="1"/>
              <p:nvPr/>
            </p:nvSpPr>
            <p:spPr>
              <a:xfrm>
                <a:off x="8092790" y="3380537"/>
                <a:ext cx="684546" cy="9681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US" sz="2800" i="1" smtClean="0">
                              <a:latin typeface="Cambria Math" panose="02040503050406030204" pitchFamily="18" charset="0"/>
                            </a:rPr>
                          </m:ctrlPr>
                        </m:dPr>
                        <m:e>
                          <m:f>
                            <m:fPr>
                              <m:type m:val="noBar"/>
                              <m:ctrlPr>
                                <a:rPr lang="en-US" sz="2800" i="1" smtClean="0">
                                  <a:latin typeface="Cambria Math" panose="02040503050406030204" pitchFamily="18" charset="0"/>
                                </a:rPr>
                              </m:ctrlPr>
                            </m:fPr>
                            <m:num>
                              <m:r>
                                <a:rPr lang="en-SG" sz="2800" b="0" i="1" smtClean="0">
                                  <a:latin typeface="Cambria Math" panose="02040503050406030204" pitchFamily="18" charset="0"/>
                                </a:rPr>
                                <m:t>7</m:t>
                              </m:r>
                            </m:num>
                            <m:den>
                              <m:r>
                                <a:rPr lang="en-SG" sz="2800" b="0" i="1" smtClean="0">
                                  <a:latin typeface="Cambria Math" panose="02040503050406030204" pitchFamily="18" charset="0"/>
                                </a:rPr>
                                <m:t>5</m:t>
                              </m:r>
                            </m:den>
                          </m:f>
                        </m:e>
                      </m:d>
                    </m:oMath>
                  </m:oMathPara>
                </a14:m>
                <a:endParaRPr lang="en-US" sz="2800" b="1" dirty="0">
                  <a:solidFill>
                    <a:srgbClr val="C00000"/>
                  </a:solidFill>
                </a:endParaRPr>
              </a:p>
            </p:txBody>
          </p:sp>
        </mc:Choice>
        <mc:Fallback xmlns="">
          <p:sp>
            <p:nvSpPr>
              <p:cNvPr id="52" name="TextBox 51">
                <a:extLst>
                  <a:ext uri="{FF2B5EF4-FFF2-40B4-BE49-F238E27FC236}">
                    <a16:creationId xmlns:a16="http://schemas.microsoft.com/office/drawing/2014/main" id="{17A5D2BB-85F7-4654-92FD-37FE9655940C}"/>
                  </a:ext>
                </a:extLst>
              </p:cNvPr>
              <p:cNvSpPr txBox="1">
                <a:spLocks noRot="1" noChangeAspect="1" noMove="1" noResize="1" noEditPoints="1" noAdjustHandles="1" noChangeArrowheads="1" noChangeShapeType="1" noTextEdit="1"/>
              </p:cNvSpPr>
              <p:nvPr/>
            </p:nvSpPr>
            <p:spPr>
              <a:xfrm>
                <a:off x="8092790" y="3380537"/>
                <a:ext cx="684546" cy="968150"/>
              </a:xfrm>
              <a:prstGeom prst="rect">
                <a:avLst/>
              </a:prstGeom>
              <a:blipFill>
                <a:blip r:embed="rId8"/>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448FF682-7F92-4E49-B64B-47B606919805}"/>
                  </a:ext>
                </a:extLst>
              </p:cNvPr>
              <p:cNvSpPr txBox="1"/>
              <p:nvPr/>
            </p:nvSpPr>
            <p:spPr>
              <a:xfrm>
                <a:off x="7287003" y="3649169"/>
                <a:ext cx="34143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SG" sz="2800" i="1" smtClean="0">
                          <a:latin typeface="Cambria Math" panose="02040503050406030204" pitchFamily="18" charset="0"/>
                        </a:rPr>
                        <m:t>+</m:t>
                      </m:r>
                    </m:oMath>
                  </m:oMathPara>
                </a14:m>
                <a:endParaRPr lang="en-US" sz="2800" b="1" dirty="0">
                  <a:solidFill>
                    <a:srgbClr val="C00000"/>
                  </a:solidFill>
                </a:endParaRPr>
              </a:p>
            </p:txBody>
          </p:sp>
        </mc:Choice>
        <mc:Fallback xmlns="">
          <p:sp>
            <p:nvSpPr>
              <p:cNvPr id="53" name="TextBox 52">
                <a:extLst>
                  <a:ext uri="{FF2B5EF4-FFF2-40B4-BE49-F238E27FC236}">
                    <a16:creationId xmlns:a16="http://schemas.microsoft.com/office/drawing/2014/main" id="{448FF682-7F92-4E49-B64B-47B606919805}"/>
                  </a:ext>
                </a:extLst>
              </p:cNvPr>
              <p:cNvSpPr txBox="1">
                <a:spLocks noRot="1" noChangeAspect="1" noMove="1" noResize="1" noEditPoints="1" noAdjustHandles="1" noChangeArrowheads="1" noChangeShapeType="1" noTextEdit="1"/>
              </p:cNvSpPr>
              <p:nvPr/>
            </p:nvSpPr>
            <p:spPr>
              <a:xfrm>
                <a:off x="7287003" y="3649169"/>
                <a:ext cx="341439" cy="430887"/>
              </a:xfrm>
              <a:prstGeom prst="rect">
                <a:avLst/>
              </a:prstGeom>
              <a:blipFill>
                <a:blip r:embed="rId9"/>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03749572-A0C0-430D-9FE5-BFFD7A577A3A}"/>
                  </a:ext>
                </a:extLst>
              </p:cNvPr>
              <p:cNvSpPr txBox="1"/>
              <p:nvPr/>
            </p:nvSpPr>
            <p:spPr>
              <a:xfrm>
                <a:off x="2302526" y="4572917"/>
                <a:ext cx="128483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SG" sz="2800" i="1" smtClean="0">
                          <a:latin typeface="Cambria Math" panose="02040503050406030204" pitchFamily="18" charset="0"/>
                        </a:rPr>
                        <m:t>3</m:t>
                      </m:r>
                      <m:r>
                        <a:rPr lang="en-SG" sz="2800" b="0" i="1" smtClean="0">
                          <a:latin typeface="Cambria Math" panose="02040503050406030204" pitchFamily="18" charset="0"/>
                        </a:rPr>
                        <m:t>5</m:t>
                      </m:r>
                      <m:r>
                        <a:rPr lang="en-US" sz="2800" b="0" i="1" smtClean="0">
                          <a:latin typeface="Cambria Math" panose="02040503050406030204" pitchFamily="18" charset="0"/>
                          <a:ea typeface="Cambria Math" panose="02040503050406030204" pitchFamily="18" charset="0"/>
                        </a:rPr>
                        <m:t>×</m:t>
                      </m:r>
                      <m:r>
                        <a:rPr lang="en-SG" sz="2800" b="0" i="1" smtClean="0">
                          <a:latin typeface="Cambria Math" panose="02040503050406030204" pitchFamily="18" charset="0"/>
                          <a:ea typeface="Cambria Math" panose="02040503050406030204" pitchFamily="18" charset="0"/>
                        </a:rPr>
                        <m:t>15</m:t>
                      </m:r>
                    </m:oMath>
                  </m:oMathPara>
                </a14:m>
                <a:endParaRPr lang="en-US" sz="2800" b="1" dirty="0">
                  <a:solidFill>
                    <a:srgbClr val="C00000"/>
                  </a:solidFill>
                </a:endParaRPr>
              </a:p>
            </p:txBody>
          </p:sp>
        </mc:Choice>
        <mc:Fallback xmlns="">
          <p:sp>
            <p:nvSpPr>
              <p:cNvPr id="54" name="TextBox 53">
                <a:extLst>
                  <a:ext uri="{FF2B5EF4-FFF2-40B4-BE49-F238E27FC236}">
                    <a16:creationId xmlns:a16="http://schemas.microsoft.com/office/drawing/2014/main" id="{03749572-A0C0-430D-9FE5-BFFD7A577A3A}"/>
                  </a:ext>
                </a:extLst>
              </p:cNvPr>
              <p:cNvSpPr txBox="1">
                <a:spLocks noRot="1" noChangeAspect="1" noMove="1" noResize="1" noEditPoints="1" noAdjustHandles="1" noChangeArrowheads="1" noChangeShapeType="1" noTextEdit="1"/>
              </p:cNvSpPr>
              <p:nvPr/>
            </p:nvSpPr>
            <p:spPr>
              <a:xfrm>
                <a:off x="2302526" y="4572917"/>
                <a:ext cx="1284839" cy="430887"/>
              </a:xfrm>
              <a:prstGeom prst="rect">
                <a:avLst/>
              </a:prstGeom>
              <a:blipFill>
                <a:blip r:embed="rId10"/>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B727CF0E-401C-480D-B474-0B6CEF545CDF}"/>
                  </a:ext>
                </a:extLst>
              </p:cNvPr>
              <p:cNvSpPr txBox="1"/>
              <p:nvPr/>
            </p:nvSpPr>
            <p:spPr>
              <a:xfrm>
                <a:off x="4182313" y="4572917"/>
                <a:ext cx="34143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SG" sz="2800" i="1" smtClean="0">
                          <a:latin typeface="Cambria Math" panose="02040503050406030204" pitchFamily="18" charset="0"/>
                        </a:rPr>
                        <m:t>+</m:t>
                      </m:r>
                    </m:oMath>
                  </m:oMathPara>
                </a14:m>
                <a:endParaRPr lang="en-US" sz="2800" b="1" dirty="0">
                  <a:solidFill>
                    <a:srgbClr val="C00000"/>
                  </a:solidFill>
                </a:endParaRPr>
              </a:p>
            </p:txBody>
          </p:sp>
        </mc:Choice>
        <mc:Fallback xmlns="">
          <p:sp>
            <p:nvSpPr>
              <p:cNvPr id="55" name="TextBox 54">
                <a:extLst>
                  <a:ext uri="{FF2B5EF4-FFF2-40B4-BE49-F238E27FC236}">
                    <a16:creationId xmlns:a16="http://schemas.microsoft.com/office/drawing/2014/main" id="{B727CF0E-401C-480D-B474-0B6CEF545CDF}"/>
                  </a:ext>
                </a:extLst>
              </p:cNvPr>
              <p:cNvSpPr txBox="1">
                <a:spLocks noRot="1" noChangeAspect="1" noMove="1" noResize="1" noEditPoints="1" noAdjustHandles="1" noChangeArrowheads="1" noChangeShapeType="1" noTextEdit="1"/>
              </p:cNvSpPr>
              <p:nvPr/>
            </p:nvSpPr>
            <p:spPr>
              <a:xfrm>
                <a:off x="4182313" y="4572917"/>
                <a:ext cx="341439" cy="430887"/>
              </a:xfrm>
              <a:prstGeom prst="rect">
                <a:avLst/>
              </a:prstGeom>
              <a:blipFill>
                <a:blip r:embed="rId11"/>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02A04B5D-534D-42AB-B3D4-09523285D6B2}"/>
                  </a:ext>
                </a:extLst>
              </p:cNvPr>
              <p:cNvSpPr txBox="1"/>
              <p:nvPr/>
            </p:nvSpPr>
            <p:spPr>
              <a:xfrm>
                <a:off x="5479199" y="4572917"/>
                <a:ext cx="1086067"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SG" sz="2800" i="1" smtClean="0">
                          <a:latin typeface="Cambria Math" panose="02040503050406030204" pitchFamily="18" charset="0"/>
                        </a:rPr>
                        <m:t>3</m:t>
                      </m:r>
                      <m:r>
                        <a:rPr lang="en-SG" sz="2800" b="0" i="1" smtClean="0">
                          <a:latin typeface="Cambria Math" panose="02040503050406030204" pitchFamily="18" charset="0"/>
                        </a:rPr>
                        <m:t>5</m:t>
                      </m:r>
                      <m:r>
                        <a:rPr lang="en-US" sz="2800" b="0" i="1" smtClean="0">
                          <a:latin typeface="Cambria Math" panose="02040503050406030204" pitchFamily="18" charset="0"/>
                          <a:ea typeface="Cambria Math" panose="02040503050406030204" pitchFamily="18" charset="0"/>
                        </a:rPr>
                        <m:t>×</m:t>
                      </m:r>
                      <m:r>
                        <a:rPr lang="en-SG" sz="2800" b="0" i="1" smtClean="0">
                          <a:latin typeface="Cambria Math" panose="02040503050406030204" pitchFamily="18" charset="0"/>
                          <a:ea typeface="Cambria Math" panose="02040503050406030204" pitchFamily="18" charset="0"/>
                        </a:rPr>
                        <m:t>6</m:t>
                      </m:r>
                    </m:oMath>
                  </m:oMathPara>
                </a14:m>
                <a:endParaRPr lang="en-US" sz="2800" b="1" dirty="0">
                  <a:solidFill>
                    <a:srgbClr val="C00000"/>
                  </a:solidFill>
                </a:endParaRPr>
              </a:p>
            </p:txBody>
          </p:sp>
        </mc:Choice>
        <mc:Fallback xmlns="">
          <p:sp>
            <p:nvSpPr>
              <p:cNvPr id="56" name="TextBox 55">
                <a:extLst>
                  <a:ext uri="{FF2B5EF4-FFF2-40B4-BE49-F238E27FC236}">
                    <a16:creationId xmlns:a16="http://schemas.microsoft.com/office/drawing/2014/main" id="{02A04B5D-534D-42AB-B3D4-09523285D6B2}"/>
                  </a:ext>
                </a:extLst>
              </p:cNvPr>
              <p:cNvSpPr txBox="1">
                <a:spLocks noRot="1" noChangeAspect="1" noMove="1" noResize="1" noEditPoints="1" noAdjustHandles="1" noChangeArrowheads="1" noChangeShapeType="1" noTextEdit="1"/>
              </p:cNvSpPr>
              <p:nvPr/>
            </p:nvSpPr>
            <p:spPr>
              <a:xfrm>
                <a:off x="5479199" y="4572917"/>
                <a:ext cx="1086067" cy="430887"/>
              </a:xfrm>
              <a:prstGeom prst="rect">
                <a:avLst/>
              </a:prstGeom>
              <a:blipFill>
                <a:blip r:embed="rId12"/>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31D2C627-CC5E-4AD8-9BB7-C4823218BCD5}"/>
                  </a:ext>
                </a:extLst>
              </p:cNvPr>
              <p:cNvSpPr txBox="1"/>
              <p:nvPr/>
            </p:nvSpPr>
            <p:spPr>
              <a:xfrm>
                <a:off x="8182253" y="4572917"/>
                <a:ext cx="471283"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SG" sz="2800" i="1" smtClean="0">
                          <a:latin typeface="Cambria Math" panose="02040503050406030204" pitchFamily="18" charset="0"/>
                        </a:rPr>
                        <m:t>2</m:t>
                      </m:r>
                      <m:r>
                        <a:rPr lang="en-SG" sz="2800" b="0" i="1" smtClean="0">
                          <a:latin typeface="Cambria Math" panose="02040503050406030204" pitchFamily="18" charset="0"/>
                        </a:rPr>
                        <m:t>1</m:t>
                      </m:r>
                    </m:oMath>
                  </m:oMathPara>
                </a14:m>
                <a:endParaRPr lang="en-US" sz="2800" b="1" dirty="0">
                  <a:solidFill>
                    <a:srgbClr val="C00000"/>
                  </a:solidFill>
                </a:endParaRPr>
              </a:p>
            </p:txBody>
          </p:sp>
        </mc:Choice>
        <mc:Fallback xmlns="">
          <p:sp>
            <p:nvSpPr>
              <p:cNvPr id="57" name="TextBox 56">
                <a:extLst>
                  <a:ext uri="{FF2B5EF4-FFF2-40B4-BE49-F238E27FC236}">
                    <a16:creationId xmlns:a16="http://schemas.microsoft.com/office/drawing/2014/main" id="{31D2C627-CC5E-4AD8-9BB7-C4823218BCD5}"/>
                  </a:ext>
                </a:extLst>
              </p:cNvPr>
              <p:cNvSpPr txBox="1">
                <a:spLocks noRot="1" noChangeAspect="1" noMove="1" noResize="1" noEditPoints="1" noAdjustHandles="1" noChangeArrowheads="1" noChangeShapeType="1" noTextEdit="1"/>
              </p:cNvSpPr>
              <p:nvPr/>
            </p:nvSpPr>
            <p:spPr>
              <a:xfrm>
                <a:off x="8182253" y="4572917"/>
                <a:ext cx="471283" cy="430887"/>
              </a:xfrm>
              <a:prstGeom prst="rect">
                <a:avLst/>
              </a:prstGeom>
              <a:blipFill>
                <a:blip r:embed="rId13"/>
                <a:stretch>
                  <a:fillRect/>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D18BD86A-213F-4775-B1A5-DC39F535663C}"/>
                  </a:ext>
                </a:extLst>
              </p:cNvPr>
              <p:cNvSpPr txBox="1"/>
              <p:nvPr/>
            </p:nvSpPr>
            <p:spPr>
              <a:xfrm>
                <a:off x="7287003" y="4572917"/>
                <a:ext cx="34143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SG" sz="2800" i="1" smtClean="0">
                          <a:latin typeface="Cambria Math" panose="02040503050406030204" pitchFamily="18" charset="0"/>
                        </a:rPr>
                        <m:t>+</m:t>
                      </m:r>
                    </m:oMath>
                  </m:oMathPara>
                </a14:m>
                <a:endParaRPr lang="en-US" sz="2800" b="1" dirty="0">
                  <a:solidFill>
                    <a:srgbClr val="C00000"/>
                  </a:solidFill>
                </a:endParaRPr>
              </a:p>
            </p:txBody>
          </p:sp>
        </mc:Choice>
        <mc:Fallback xmlns="">
          <p:sp>
            <p:nvSpPr>
              <p:cNvPr id="58" name="TextBox 57">
                <a:extLst>
                  <a:ext uri="{FF2B5EF4-FFF2-40B4-BE49-F238E27FC236}">
                    <a16:creationId xmlns:a16="http://schemas.microsoft.com/office/drawing/2014/main" id="{D18BD86A-213F-4775-B1A5-DC39F535663C}"/>
                  </a:ext>
                </a:extLst>
              </p:cNvPr>
              <p:cNvSpPr txBox="1">
                <a:spLocks noRot="1" noChangeAspect="1" noMove="1" noResize="1" noEditPoints="1" noAdjustHandles="1" noChangeArrowheads="1" noChangeShapeType="1" noTextEdit="1"/>
              </p:cNvSpPr>
              <p:nvPr/>
            </p:nvSpPr>
            <p:spPr>
              <a:xfrm>
                <a:off x="7287003" y="4572917"/>
                <a:ext cx="341439" cy="430887"/>
              </a:xfrm>
              <a:prstGeom prst="rect">
                <a:avLst/>
              </a:prstGeom>
              <a:blipFill>
                <a:blip r:embed="rId14"/>
                <a:stretch>
                  <a:fillRect/>
                </a:stretch>
              </a:blipFill>
            </p:spPr>
            <p:txBody>
              <a:bodyPr/>
              <a:lstStyle/>
              <a:p>
                <a:r>
                  <a:rPr lang="en-SG">
                    <a:noFill/>
                  </a:rPr>
                  <a:t> </a:t>
                </a:r>
              </a:p>
            </p:txBody>
          </p:sp>
        </mc:Fallback>
      </mc:AlternateContent>
    </p:spTree>
    <p:extLst>
      <p:ext uri="{BB962C8B-B14F-4D97-AF65-F5344CB8AC3E}">
        <p14:creationId xmlns:p14="http://schemas.microsoft.com/office/powerpoint/2010/main" val="2427416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500"/>
                                        <p:tgtEl>
                                          <p:spTgt spid="1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2"/>
                                        </p:tgtEl>
                                        <p:attrNameLst>
                                          <p:attrName>style.visibility</p:attrName>
                                        </p:attrNameLst>
                                      </p:cBhvr>
                                      <p:to>
                                        <p:strVal val="visible"/>
                                      </p:to>
                                    </p:set>
                                    <p:animEffect transition="in" filter="dissolve">
                                      <p:cBhvr>
                                        <p:cTn id="10" dur="500"/>
                                        <p:tgtEl>
                                          <p:spTgt spid="42"/>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43"/>
                                        </p:tgtEl>
                                        <p:attrNameLst>
                                          <p:attrName>style.visibility</p:attrName>
                                        </p:attrNameLst>
                                      </p:cBhvr>
                                      <p:to>
                                        <p:strVal val="visible"/>
                                      </p:to>
                                    </p:set>
                                    <p:animEffect transition="in" filter="dissolve">
                                      <p:cBhvr>
                                        <p:cTn id="13" dur="500"/>
                                        <p:tgtEl>
                                          <p:spTgt spid="43"/>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45"/>
                                        </p:tgtEl>
                                        <p:attrNameLst>
                                          <p:attrName>style.visibility</p:attrName>
                                        </p:attrNameLst>
                                      </p:cBhvr>
                                      <p:to>
                                        <p:strVal val="visible"/>
                                      </p:to>
                                    </p:set>
                                    <p:animEffect transition="in" filter="dissolve">
                                      <p:cBhvr>
                                        <p:cTn id="18" dur="500"/>
                                        <p:tgtEl>
                                          <p:spTgt spid="45"/>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50"/>
                                        </p:tgtEl>
                                        <p:attrNameLst>
                                          <p:attrName>style.visibility</p:attrName>
                                        </p:attrNameLst>
                                      </p:cBhvr>
                                      <p:to>
                                        <p:strVal val="visible"/>
                                      </p:to>
                                    </p:set>
                                    <p:animEffect transition="in" filter="dissolve">
                                      <p:cBhvr>
                                        <p:cTn id="23" dur="500"/>
                                        <p:tgtEl>
                                          <p:spTgt spid="50"/>
                                        </p:tgtEl>
                                      </p:cBhvr>
                                    </p:animEffect>
                                  </p:childTnLst>
                                </p:cTn>
                              </p:par>
                            </p:childTnLst>
                          </p:cTn>
                        </p:par>
                        <p:par>
                          <p:cTn id="24" fill="hold">
                            <p:stCondLst>
                              <p:cond delay="500"/>
                            </p:stCondLst>
                            <p:childTnLst>
                              <p:par>
                                <p:cTn id="25" presetID="9" presetClass="entr" presetSubtype="0" fill="hold" grpId="0" nodeType="afterEffect">
                                  <p:stCondLst>
                                    <p:cond delay="0"/>
                                  </p:stCondLst>
                                  <p:childTnLst>
                                    <p:set>
                                      <p:cBhvr>
                                        <p:cTn id="26" dur="1" fill="hold">
                                          <p:stCondLst>
                                            <p:cond delay="0"/>
                                          </p:stCondLst>
                                        </p:cTn>
                                        <p:tgtEl>
                                          <p:spTgt spid="51"/>
                                        </p:tgtEl>
                                        <p:attrNameLst>
                                          <p:attrName>style.visibility</p:attrName>
                                        </p:attrNameLst>
                                      </p:cBhvr>
                                      <p:to>
                                        <p:strVal val="visible"/>
                                      </p:to>
                                    </p:set>
                                    <p:animEffect transition="in" filter="dissolve">
                                      <p:cBhvr>
                                        <p:cTn id="27" dur="500"/>
                                        <p:tgtEl>
                                          <p:spTgt spid="51"/>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53"/>
                                        </p:tgtEl>
                                        <p:attrNameLst>
                                          <p:attrName>style.visibility</p:attrName>
                                        </p:attrNameLst>
                                      </p:cBhvr>
                                      <p:to>
                                        <p:strVal val="visible"/>
                                      </p:to>
                                    </p:set>
                                    <p:animEffect transition="in" filter="dissolve">
                                      <p:cBhvr>
                                        <p:cTn id="32" dur="500"/>
                                        <p:tgtEl>
                                          <p:spTgt spid="53"/>
                                        </p:tgtEl>
                                      </p:cBhvr>
                                    </p:animEffect>
                                  </p:childTnLst>
                                </p:cTn>
                              </p:par>
                            </p:childTnLst>
                          </p:cTn>
                        </p:par>
                        <p:par>
                          <p:cTn id="33" fill="hold">
                            <p:stCondLst>
                              <p:cond delay="500"/>
                            </p:stCondLst>
                            <p:childTnLst>
                              <p:par>
                                <p:cTn id="34" presetID="9" presetClass="entr" presetSubtype="0" fill="hold" grpId="0" nodeType="afterEffect">
                                  <p:stCondLst>
                                    <p:cond delay="0"/>
                                  </p:stCondLst>
                                  <p:childTnLst>
                                    <p:set>
                                      <p:cBhvr>
                                        <p:cTn id="35" dur="1" fill="hold">
                                          <p:stCondLst>
                                            <p:cond delay="0"/>
                                          </p:stCondLst>
                                        </p:cTn>
                                        <p:tgtEl>
                                          <p:spTgt spid="52"/>
                                        </p:tgtEl>
                                        <p:attrNameLst>
                                          <p:attrName>style.visibility</p:attrName>
                                        </p:attrNameLst>
                                      </p:cBhvr>
                                      <p:to>
                                        <p:strVal val="visible"/>
                                      </p:to>
                                    </p:set>
                                    <p:animEffect transition="in" filter="dissolve">
                                      <p:cBhvr>
                                        <p:cTn id="36" dur="500"/>
                                        <p:tgtEl>
                                          <p:spTgt spid="52"/>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54"/>
                                        </p:tgtEl>
                                        <p:attrNameLst>
                                          <p:attrName>style.visibility</p:attrName>
                                        </p:attrNameLst>
                                      </p:cBhvr>
                                      <p:to>
                                        <p:strVal val="visible"/>
                                      </p:to>
                                    </p:set>
                                    <p:animEffect transition="in" filter="dissolve">
                                      <p:cBhvr>
                                        <p:cTn id="41" dur="500"/>
                                        <p:tgtEl>
                                          <p:spTgt spid="54"/>
                                        </p:tgtEl>
                                      </p:cBhvr>
                                    </p:animEffect>
                                  </p:childTnLst>
                                </p:cTn>
                              </p:par>
                            </p:childTnLst>
                          </p:cTn>
                        </p:par>
                      </p:childTnLst>
                    </p:cTn>
                  </p:par>
                  <p:par>
                    <p:cTn id="42" fill="hold">
                      <p:stCondLst>
                        <p:cond delay="indefinite"/>
                      </p:stCondLst>
                      <p:childTnLst>
                        <p:par>
                          <p:cTn id="43" fill="hold">
                            <p:stCondLst>
                              <p:cond delay="0"/>
                            </p:stCondLst>
                            <p:childTnLst>
                              <p:par>
                                <p:cTn id="44" presetID="9" presetClass="entr" presetSubtype="0" fill="hold" grpId="0" nodeType="clickEffect">
                                  <p:stCondLst>
                                    <p:cond delay="0"/>
                                  </p:stCondLst>
                                  <p:childTnLst>
                                    <p:set>
                                      <p:cBhvr>
                                        <p:cTn id="45" dur="1" fill="hold">
                                          <p:stCondLst>
                                            <p:cond delay="0"/>
                                          </p:stCondLst>
                                        </p:cTn>
                                        <p:tgtEl>
                                          <p:spTgt spid="55"/>
                                        </p:tgtEl>
                                        <p:attrNameLst>
                                          <p:attrName>style.visibility</p:attrName>
                                        </p:attrNameLst>
                                      </p:cBhvr>
                                      <p:to>
                                        <p:strVal val="visible"/>
                                      </p:to>
                                    </p:set>
                                    <p:animEffect transition="in" filter="dissolve">
                                      <p:cBhvr>
                                        <p:cTn id="46" dur="500"/>
                                        <p:tgtEl>
                                          <p:spTgt spid="55"/>
                                        </p:tgtEl>
                                      </p:cBhvr>
                                    </p:animEffect>
                                  </p:childTnLst>
                                </p:cTn>
                              </p:par>
                            </p:childTnLst>
                          </p:cTn>
                        </p:par>
                        <p:par>
                          <p:cTn id="47" fill="hold">
                            <p:stCondLst>
                              <p:cond delay="500"/>
                            </p:stCondLst>
                            <p:childTnLst>
                              <p:par>
                                <p:cTn id="48" presetID="9" presetClass="entr" presetSubtype="0" fill="hold" grpId="0" nodeType="afterEffect">
                                  <p:stCondLst>
                                    <p:cond delay="0"/>
                                  </p:stCondLst>
                                  <p:childTnLst>
                                    <p:set>
                                      <p:cBhvr>
                                        <p:cTn id="49" dur="1" fill="hold">
                                          <p:stCondLst>
                                            <p:cond delay="0"/>
                                          </p:stCondLst>
                                        </p:cTn>
                                        <p:tgtEl>
                                          <p:spTgt spid="56"/>
                                        </p:tgtEl>
                                        <p:attrNameLst>
                                          <p:attrName>style.visibility</p:attrName>
                                        </p:attrNameLst>
                                      </p:cBhvr>
                                      <p:to>
                                        <p:strVal val="visible"/>
                                      </p:to>
                                    </p:set>
                                    <p:animEffect transition="in" filter="dissolve">
                                      <p:cBhvr>
                                        <p:cTn id="50" dur="500"/>
                                        <p:tgtEl>
                                          <p:spTgt spid="56"/>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grpId="0" nodeType="clickEffect">
                                  <p:stCondLst>
                                    <p:cond delay="0"/>
                                  </p:stCondLst>
                                  <p:childTnLst>
                                    <p:set>
                                      <p:cBhvr>
                                        <p:cTn id="54" dur="1" fill="hold">
                                          <p:stCondLst>
                                            <p:cond delay="0"/>
                                          </p:stCondLst>
                                        </p:cTn>
                                        <p:tgtEl>
                                          <p:spTgt spid="58"/>
                                        </p:tgtEl>
                                        <p:attrNameLst>
                                          <p:attrName>style.visibility</p:attrName>
                                        </p:attrNameLst>
                                      </p:cBhvr>
                                      <p:to>
                                        <p:strVal val="visible"/>
                                      </p:to>
                                    </p:set>
                                    <p:animEffect transition="in" filter="dissolve">
                                      <p:cBhvr>
                                        <p:cTn id="55" dur="500"/>
                                        <p:tgtEl>
                                          <p:spTgt spid="58"/>
                                        </p:tgtEl>
                                      </p:cBhvr>
                                    </p:animEffect>
                                  </p:childTnLst>
                                </p:cTn>
                              </p:par>
                            </p:childTnLst>
                          </p:cTn>
                        </p:par>
                        <p:par>
                          <p:cTn id="56" fill="hold">
                            <p:stCondLst>
                              <p:cond delay="500"/>
                            </p:stCondLst>
                            <p:childTnLst>
                              <p:par>
                                <p:cTn id="57" presetID="9" presetClass="entr" presetSubtype="0" fill="hold" grpId="0" nodeType="afterEffect">
                                  <p:stCondLst>
                                    <p:cond delay="0"/>
                                  </p:stCondLst>
                                  <p:childTnLst>
                                    <p:set>
                                      <p:cBhvr>
                                        <p:cTn id="58" dur="1" fill="hold">
                                          <p:stCondLst>
                                            <p:cond delay="0"/>
                                          </p:stCondLst>
                                        </p:cTn>
                                        <p:tgtEl>
                                          <p:spTgt spid="57"/>
                                        </p:tgtEl>
                                        <p:attrNameLst>
                                          <p:attrName>style.visibility</p:attrName>
                                        </p:attrNameLst>
                                      </p:cBhvr>
                                      <p:to>
                                        <p:strVal val="visible"/>
                                      </p:to>
                                    </p:set>
                                    <p:animEffect transition="in" filter="dissolve">
                                      <p:cBhvr>
                                        <p:cTn id="59" dur="500"/>
                                        <p:tgtEl>
                                          <p:spTgt spid="57"/>
                                        </p:tgtEl>
                                      </p:cBhvr>
                                    </p:animEffect>
                                  </p:childTnLst>
                                </p:cTn>
                              </p:par>
                            </p:childTnLst>
                          </p:cTn>
                        </p:par>
                      </p:childTnLst>
                    </p:cTn>
                  </p:par>
                  <p:par>
                    <p:cTn id="60" fill="hold">
                      <p:stCondLst>
                        <p:cond delay="indefinite"/>
                      </p:stCondLst>
                      <p:childTnLst>
                        <p:par>
                          <p:cTn id="61" fill="hold">
                            <p:stCondLst>
                              <p:cond delay="0"/>
                            </p:stCondLst>
                            <p:childTnLst>
                              <p:par>
                                <p:cTn id="62" presetID="9" presetClass="entr" presetSubtype="0" fill="hold" grpId="0" nodeType="click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dissolve">
                                      <p:cBhvr>
                                        <p:cTn id="6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8" grpId="0"/>
      <p:bldP spid="42" grpId="0"/>
      <p:bldP spid="43" grpId="0"/>
      <p:bldP spid="45" grpId="0"/>
      <p:bldP spid="50" grpId="0"/>
      <p:bldP spid="51" grpId="0"/>
      <p:bldP spid="52" grpId="0"/>
      <p:bldP spid="53" grpId="0"/>
      <p:bldP spid="54" grpId="0"/>
      <p:bldP spid="55" grpId="0"/>
      <p:bldP spid="56" grpId="0"/>
      <p:bldP spid="57" grpId="0"/>
      <p:bldP spid="5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9DDFB-EB06-4120-AD42-E282D3458CC6}"/>
              </a:ext>
            </a:extLst>
          </p:cNvPr>
          <p:cNvSpPr>
            <a:spLocks noGrp="1"/>
          </p:cNvSpPr>
          <p:nvPr>
            <p:ph type="title"/>
          </p:nvPr>
        </p:nvSpPr>
        <p:spPr>
          <a:xfrm>
            <a:off x="426029" y="296013"/>
            <a:ext cx="1306518" cy="766967"/>
          </a:xfrm>
        </p:spPr>
        <p:txBody>
          <a:bodyPr/>
          <a:lstStyle/>
          <a:p>
            <a:r>
              <a:rPr lang="en-SG" dirty="0" err="1">
                <a:solidFill>
                  <a:schemeClr val="bg2">
                    <a:lumMod val="50000"/>
                  </a:schemeClr>
                </a:solidFill>
              </a:rPr>
              <a:t>Q7</a:t>
            </a:r>
            <a:r>
              <a:rPr lang="en-SG" dirty="0">
                <a:solidFill>
                  <a:schemeClr val="bg2">
                    <a:lumMod val="50000"/>
                  </a:schemeClr>
                </a:solidFill>
              </a:rPr>
              <a:t>. </a:t>
            </a:r>
          </a:p>
        </p:txBody>
      </p:sp>
      <p:sp>
        <p:nvSpPr>
          <p:cNvPr id="15" name="Slide Number Placeholder 1"/>
          <p:cNvSpPr>
            <a:spLocks noGrp="1"/>
          </p:cNvSpPr>
          <p:nvPr>
            <p:ph type="sldNum" sz="quarter" idx="12"/>
          </p:nvPr>
        </p:nvSpPr>
        <p:spPr>
          <a:xfrm>
            <a:off x="10485783" y="6492875"/>
            <a:ext cx="1706217" cy="365125"/>
          </a:xfrm>
        </p:spPr>
        <p:txBody>
          <a:bodyPr/>
          <a:lstStyle/>
          <a:p>
            <a:fld id="{576A5E36-E009-4840-A577-F8CF29116582}" type="slidenum">
              <a:rPr lang="en-US" sz="1600" smtClean="0">
                <a:solidFill>
                  <a:schemeClr val="bg1"/>
                </a:solidFill>
              </a:rPr>
              <a:t>13</a:t>
            </a:fld>
            <a:endParaRPr lang="en-US" sz="1600" dirty="0">
              <a:solidFill>
                <a:schemeClr val="bg1"/>
              </a:solidFill>
            </a:endParaRPr>
          </a:p>
        </p:txBody>
      </p:sp>
      <p:sp>
        <p:nvSpPr>
          <p:cNvPr id="5" name="TextBox 4">
            <a:extLst>
              <a:ext uri="{FF2B5EF4-FFF2-40B4-BE49-F238E27FC236}">
                <a16:creationId xmlns:a16="http://schemas.microsoft.com/office/drawing/2014/main" id="{E8FC74C9-FC96-49D8-873F-E1C82A42FC2B}"/>
              </a:ext>
            </a:extLst>
          </p:cNvPr>
          <p:cNvSpPr txBox="1"/>
          <p:nvPr/>
        </p:nvSpPr>
        <p:spPr>
          <a:xfrm>
            <a:off x="1466332" y="380200"/>
            <a:ext cx="5135937" cy="1384995"/>
          </a:xfrm>
          <a:prstGeom prst="rect">
            <a:avLst/>
          </a:prstGeom>
          <a:noFill/>
        </p:spPr>
        <p:txBody>
          <a:bodyPr wrap="square" rtlCol="0">
            <a:spAutoFit/>
          </a:bodyPr>
          <a:lstStyle/>
          <a:p>
            <a:r>
              <a:rPr lang="en-SG" sz="2800" dirty="0"/>
              <a:t>Select 5 persons from 7 men and 6 women to form a committee with at least 3 men.</a:t>
            </a:r>
            <a:endParaRPr lang="en-SG" sz="2800" dirty="0">
              <a:solidFill>
                <a:srgbClr val="0000FF"/>
              </a:solidFill>
            </a:endParaRPr>
          </a:p>
        </p:txBody>
      </p:sp>
      <p:sp>
        <p:nvSpPr>
          <p:cNvPr id="49" name="TextBox 48">
            <a:extLst>
              <a:ext uri="{FF2B5EF4-FFF2-40B4-BE49-F238E27FC236}">
                <a16:creationId xmlns:a16="http://schemas.microsoft.com/office/drawing/2014/main" id="{E8FC74C9-FC96-49D8-873F-E1C82A42FC2B}"/>
              </a:ext>
            </a:extLst>
          </p:cNvPr>
          <p:cNvSpPr txBox="1"/>
          <p:nvPr/>
        </p:nvSpPr>
        <p:spPr>
          <a:xfrm>
            <a:off x="1546229" y="1849382"/>
            <a:ext cx="10147572" cy="1384995"/>
          </a:xfrm>
          <a:prstGeom prst="rect">
            <a:avLst/>
          </a:prstGeom>
          <a:solidFill>
            <a:srgbClr val="CCECFF"/>
          </a:solidFill>
        </p:spPr>
        <p:txBody>
          <a:bodyPr wrap="square" rtlCol="0">
            <a:spAutoFit/>
          </a:bodyPr>
          <a:lstStyle/>
          <a:p>
            <a:pPr marL="536575" indent="-536575"/>
            <a:r>
              <a:rPr lang="en-SG" sz="2800" dirty="0"/>
              <a:t>(b) 	</a:t>
            </a:r>
            <a:r>
              <a:rPr lang="en-US" sz="2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If you randomly choose five persons to form the committee, what is the probability that you will get a committee with at least three men? Give your answer correct to </a:t>
            </a:r>
            <a:r>
              <a:rPr lang="en-US" sz="2800" dirty="0">
                <a:solidFill>
                  <a:srgbClr val="C00000"/>
                </a:solidFill>
                <a:effectLst/>
                <a:latin typeface="Calibri" panose="020F0502020204030204" pitchFamily="34" charset="0"/>
                <a:ea typeface="Times New Roman" panose="02020603050405020304" pitchFamily="18" charset="0"/>
                <a:cs typeface="Times New Roman" panose="02020603050405020304" pitchFamily="18" charset="0"/>
              </a:rPr>
              <a:t>4 significant figures</a:t>
            </a:r>
            <a:r>
              <a:rPr lang="en-US" sz="28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t>
            </a:r>
            <a:endParaRPr lang="en-SG" sz="2800" dirty="0">
              <a:solidFill>
                <a:srgbClr val="0000FF"/>
              </a:solidFill>
            </a:endParaRPr>
          </a:p>
        </p:txBody>
      </p:sp>
      <p:grpSp>
        <p:nvGrpSpPr>
          <p:cNvPr id="17" name="Group 16">
            <a:extLst>
              <a:ext uri="{FF2B5EF4-FFF2-40B4-BE49-F238E27FC236}">
                <a16:creationId xmlns:a16="http://schemas.microsoft.com/office/drawing/2014/main" id="{8B7460C7-7BE0-4248-AEA1-534D5D54B51C}"/>
              </a:ext>
            </a:extLst>
          </p:cNvPr>
          <p:cNvGrpSpPr/>
          <p:nvPr/>
        </p:nvGrpSpPr>
        <p:grpSpPr>
          <a:xfrm>
            <a:off x="6651342" y="730170"/>
            <a:ext cx="5042459" cy="785083"/>
            <a:chOff x="6651342" y="730170"/>
            <a:chExt cx="5042459" cy="785083"/>
          </a:xfrm>
        </p:grpSpPr>
        <p:pic>
          <p:nvPicPr>
            <p:cNvPr id="10" name="Picture 9">
              <a:extLst>
                <a:ext uri="{FF2B5EF4-FFF2-40B4-BE49-F238E27FC236}">
                  <a16:creationId xmlns:a16="http://schemas.microsoft.com/office/drawing/2014/main" id="{6B86C811-F7A9-4FD5-A23C-76472936848A}"/>
                </a:ext>
              </a:extLst>
            </p:cNvPr>
            <p:cNvPicPr>
              <a:picLocks noChangeAspect="1"/>
            </p:cNvPicPr>
            <p:nvPr/>
          </p:nvPicPr>
          <p:blipFill>
            <a:blip r:embed="rId2"/>
            <a:stretch>
              <a:fillRect/>
            </a:stretch>
          </p:blipFill>
          <p:spPr>
            <a:xfrm>
              <a:off x="6651342" y="730170"/>
              <a:ext cx="350483" cy="785083"/>
            </a:xfrm>
            <a:prstGeom prst="rect">
              <a:avLst/>
            </a:prstGeom>
          </p:spPr>
        </p:pic>
        <p:pic>
          <p:nvPicPr>
            <p:cNvPr id="27" name="Picture 26">
              <a:extLst>
                <a:ext uri="{FF2B5EF4-FFF2-40B4-BE49-F238E27FC236}">
                  <a16:creationId xmlns:a16="http://schemas.microsoft.com/office/drawing/2014/main" id="{9A91CD50-42A8-48F2-BE70-82AF7F909295}"/>
                </a:ext>
              </a:extLst>
            </p:cNvPr>
            <p:cNvPicPr>
              <a:picLocks noChangeAspect="1"/>
            </p:cNvPicPr>
            <p:nvPr/>
          </p:nvPicPr>
          <p:blipFill>
            <a:blip r:embed="rId2"/>
            <a:stretch>
              <a:fillRect/>
            </a:stretch>
          </p:blipFill>
          <p:spPr>
            <a:xfrm>
              <a:off x="7467330" y="730170"/>
              <a:ext cx="350483" cy="785083"/>
            </a:xfrm>
            <a:prstGeom prst="rect">
              <a:avLst/>
            </a:prstGeom>
          </p:spPr>
        </p:pic>
        <p:pic>
          <p:nvPicPr>
            <p:cNvPr id="28" name="Picture 27">
              <a:extLst>
                <a:ext uri="{FF2B5EF4-FFF2-40B4-BE49-F238E27FC236}">
                  <a16:creationId xmlns:a16="http://schemas.microsoft.com/office/drawing/2014/main" id="{E148EE53-DE59-46BC-BD7E-7B66D733AAE7}"/>
                </a:ext>
              </a:extLst>
            </p:cNvPr>
            <p:cNvPicPr>
              <a:picLocks noChangeAspect="1"/>
            </p:cNvPicPr>
            <p:nvPr/>
          </p:nvPicPr>
          <p:blipFill>
            <a:blip r:embed="rId2"/>
            <a:stretch>
              <a:fillRect/>
            </a:stretch>
          </p:blipFill>
          <p:spPr>
            <a:xfrm>
              <a:off x="8303053" y="730170"/>
              <a:ext cx="350483" cy="785083"/>
            </a:xfrm>
            <a:prstGeom prst="rect">
              <a:avLst/>
            </a:prstGeom>
          </p:spPr>
        </p:pic>
        <p:pic>
          <p:nvPicPr>
            <p:cNvPr id="29" name="Picture 28">
              <a:extLst>
                <a:ext uri="{FF2B5EF4-FFF2-40B4-BE49-F238E27FC236}">
                  <a16:creationId xmlns:a16="http://schemas.microsoft.com/office/drawing/2014/main" id="{29DB5480-DBCE-482F-B097-8832DA14093D}"/>
                </a:ext>
              </a:extLst>
            </p:cNvPr>
            <p:cNvPicPr>
              <a:picLocks noChangeAspect="1"/>
            </p:cNvPicPr>
            <p:nvPr/>
          </p:nvPicPr>
          <p:blipFill>
            <a:blip r:embed="rId2"/>
            <a:stretch>
              <a:fillRect/>
            </a:stretch>
          </p:blipFill>
          <p:spPr>
            <a:xfrm>
              <a:off x="9808895" y="730170"/>
              <a:ext cx="350483" cy="785083"/>
            </a:xfrm>
            <a:prstGeom prst="rect">
              <a:avLst/>
            </a:prstGeom>
          </p:spPr>
        </p:pic>
        <p:pic>
          <p:nvPicPr>
            <p:cNvPr id="30" name="Picture 29">
              <a:extLst>
                <a:ext uri="{FF2B5EF4-FFF2-40B4-BE49-F238E27FC236}">
                  <a16:creationId xmlns:a16="http://schemas.microsoft.com/office/drawing/2014/main" id="{80AC273F-7CDC-4D81-BC47-20B05EE9C151}"/>
                </a:ext>
              </a:extLst>
            </p:cNvPr>
            <p:cNvPicPr>
              <a:picLocks noChangeAspect="1"/>
            </p:cNvPicPr>
            <p:nvPr/>
          </p:nvPicPr>
          <p:blipFill>
            <a:blip r:embed="rId2"/>
            <a:stretch>
              <a:fillRect/>
            </a:stretch>
          </p:blipFill>
          <p:spPr>
            <a:xfrm>
              <a:off x="10567796" y="730170"/>
              <a:ext cx="350483" cy="785083"/>
            </a:xfrm>
            <a:prstGeom prst="rect">
              <a:avLst/>
            </a:prstGeom>
          </p:spPr>
        </p:pic>
        <p:pic>
          <p:nvPicPr>
            <p:cNvPr id="31" name="Picture 30">
              <a:extLst>
                <a:ext uri="{FF2B5EF4-FFF2-40B4-BE49-F238E27FC236}">
                  <a16:creationId xmlns:a16="http://schemas.microsoft.com/office/drawing/2014/main" id="{4DCAE2D9-8D37-449C-9B5C-FFC41A655A60}"/>
                </a:ext>
              </a:extLst>
            </p:cNvPr>
            <p:cNvPicPr>
              <a:picLocks noChangeAspect="1"/>
            </p:cNvPicPr>
            <p:nvPr/>
          </p:nvPicPr>
          <p:blipFill>
            <a:blip r:embed="rId2"/>
            <a:stretch>
              <a:fillRect/>
            </a:stretch>
          </p:blipFill>
          <p:spPr>
            <a:xfrm>
              <a:off x="11343318" y="730170"/>
              <a:ext cx="350483" cy="785083"/>
            </a:xfrm>
            <a:prstGeom prst="rect">
              <a:avLst/>
            </a:prstGeom>
          </p:spPr>
        </p:pic>
        <p:pic>
          <p:nvPicPr>
            <p:cNvPr id="32" name="Picture 31">
              <a:extLst>
                <a:ext uri="{FF2B5EF4-FFF2-40B4-BE49-F238E27FC236}">
                  <a16:creationId xmlns:a16="http://schemas.microsoft.com/office/drawing/2014/main" id="{8FC7C7E0-4FA3-46D0-9467-3C09E6D4E84C}"/>
                </a:ext>
              </a:extLst>
            </p:cNvPr>
            <p:cNvPicPr>
              <a:picLocks noChangeAspect="1"/>
            </p:cNvPicPr>
            <p:nvPr/>
          </p:nvPicPr>
          <p:blipFill>
            <a:blip r:embed="rId2"/>
            <a:stretch>
              <a:fillRect/>
            </a:stretch>
          </p:blipFill>
          <p:spPr>
            <a:xfrm>
              <a:off x="9064008" y="730170"/>
              <a:ext cx="350483" cy="785083"/>
            </a:xfrm>
            <a:prstGeom prst="rect">
              <a:avLst/>
            </a:prstGeom>
          </p:spPr>
        </p:pic>
        <p:pic>
          <p:nvPicPr>
            <p:cNvPr id="16" name="Picture 15">
              <a:extLst>
                <a:ext uri="{FF2B5EF4-FFF2-40B4-BE49-F238E27FC236}">
                  <a16:creationId xmlns:a16="http://schemas.microsoft.com/office/drawing/2014/main" id="{BE334432-9FE0-4C17-B1B5-9DD821694B4F}"/>
                </a:ext>
              </a:extLst>
            </p:cNvPr>
            <p:cNvPicPr>
              <a:picLocks noChangeAspect="1"/>
            </p:cNvPicPr>
            <p:nvPr/>
          </p:nvPicPr>
          <p:blipFill>
            <a:blip r:embed="rId3"/>
            <a:stretch>
              <a:fillRect/>
            </a:stretch>
          </p:blipFill>
          <p:spPr>
            <a:xfrm>
              <a:off x="7085409" y="730170"/>
              <a:ext cx="350483" cy="785082"/>
            </a:xfrm>
            <a:prstGeom prst="rect">
              <a:avLst/>
            </a:prstGeom>
          </p:spPr>
        </p:pic>
        <p:pic>
          <p:nvPicPr>
            <p:cNvPr id="35" name="Picture 34">
              <a:extLst>
                <a:ext uri="{FF2B5EF4-FFF2-40B4-BE49-F238E27FC236}">
                  <a16:creationId xmlns:a16="http://schemas.microsoft.com/office/drawing/2014/main" id="{1DC5D77C-BE49-428C-84F0-F790EDC763F8}"/>
                </a:ext>
              </a:extLst>
            </p:cNvPr>
            <p:cNvPicPr>
              <a:picLocks noChangeAspect="1"/>
            </p:cNvPicPr>
            <p:nvPr/>
          </p:nvPicPr>
          <p:blipFill>
            <a:blip r:embed="rId3"/>
            <a:stretch>
              <a:fillRect/>
            </a:stretch>
          </p:blipFill>
          <p:spPr>
            <a:xfrm>
              <a:off x="7883820" y="730170"/>
              <a:ext cx="350483" cy="785082"/>
            </a:xfrm>
            <a:prstGeom prst="rect">
              <a:avLst/>
            </a:prstGeom>
          </p:spPr>
        </p:pic>
        <p:pic>
          <p:nvPicPr>
            <p:cNvPr id="36" name="Picture 35">
              <a:extLst>
                <a:ext uri="{FF2B5EF4-FFF2-40B4-BE49-F238E27FC236}">
                  <a16:creationId xmlns:a16="http://schemas.microsoft.com/office/drawing/2014/main" id="{CA82236A-C94B-4957-AC41-48C58D2048E2}"/>
                </a:ext>
              </a:extLst>
            </p:cNvPr>
            <p:cNvPicPr>
              <a:picLocks noChangeAspect="1"/>
            </p:cNvPicPr>
            <p:nvPr/>
          </p:nvPicPr>
          <p:blipFill>
            <a:blip r:embed="rId3"/>
            <a:stretch>
              <a:fillRect/>
            </a:stretch>
          </p:blipFill>
          <p:spPr>
            <a:xfrm>
              <a:off x="8676247" y="730170"/>
              <a:ext cx="350483" cy="785082"/>
            </a:xfrm>
            <a:prstGeom prst="rect">
              <a:avLst/>
            </a:prstGeom>
          </p:spPr>
        </p:pic>
        <p:pic>
          <p:nvPicPr>
            <p:cNvPr id="37" name="Picture 36">
              <a:extLst>
                <a:ext uri="{FF2B5EF4-FFF2-40B4-BE49-F238E27FC236}">
                  <a16:creationId xmlns:a16="http://schemas.microsoft.com/office/drawing/2014/main" id="{F86072FA-B058-4977-A203-F20AD62F426A}"/>
                </a:ext>
              </a:extLst>
            </p:cNvPr>
            <p:cNvPicPr>
              <a:picLocks noChangeAspect="1"/>
            </p:cNvPicPr>
            <p:nvPr/>
          </p:nvPicPr>
          <p:blipFill>
            <a:blip r:embed="rId3"/>
            <a:stretch>
              <a:fillRect/>
            </a:stretch>
          </p:blipFill>
          <p:spPr>
            <a:xfrm>
              <a:off x="9435701" y="730170"/>
              <a:ext cx="350483" cy="785082"/>
            </a:xfrm>
            <a:prstGeom prst="rect">
              <a:avLst/>
            </a:prstGeom>
          </p:spPr>
        </p:pic>
        <p:pic>
          <p:nvPicPr>
            <p:cNvPr id="38" name="Picture 37">
              <a:extLst>
                <a:ext uri="{FF2B5EF4-FFF2-40B4-BE49-F238E27FC236}">
                  <a16:creationId xmlns:a16="http://schemas.microsoft.com/office/drawing/2014/main" id="{40927850-8610-4324-893B-E54A4C13485E}"/>
                </a:ext>
              </a:extLst>
            </p:cNvPr>
            <p:cNvPicPr>
              <a:picLocks noChangeAspect="1"/>
            </p:cNvPicPr>
            <p:nvPr/>
          </p:nvPicPr>
          <p:blipFill>
            <a:blip r:embed="rId3"/>
            <a:stretch>
              <a:fillRect/>
            </a:stretch>
          </p:blipFill>
          <p:spPr>
            <a:xfrm>
              <a:off x="10209168" y="730170"/>
              <a:ext cx="350483" cy="785082"/>
            </a:xfrm>
            <a:prstGeom prst="rect">
              <a:avLst/>
            </a:prstGeom>
          </p:spPr>
        </p:pic>
        <p:pic>
          <p:nvPicPr>
            <p:cNvPr id="40" name="Picture 39">
              <a:extLst>
                <a:ext uri="{FF2B5EF4-FFF2-40B4-BE49-F238E27FC236}">
                  <a16:creationId xmlns:a16="http://schemas.microsoft.com/office/drawing/2014/main" id="{679DC61D-D8E5-4EB6-A526-FA8A9A72843B}"/>
                </a:ext>
              </a:extLst>
            </p:cNvPr>
            <p:cNvPicPr>
              <a:picLocks noChangeAspect="1"/>
            </p:cNvPicPr>
            <p:nvPr/>
          </p:nvPicPr>
          <p:blipFill>
            <a:blip r:embed="rId3"/>
            <a:stretch>
              <a:fillRect/>
            </a:stretch>
          </p:blipFill>
          <p:spPr>
            <a:xfrm>
              <a:off x="10955557" y="730170"/>
              <a:ext cx="350483" cy="785082"/>
            </a:xfrm>
            <a:prstGeom prst="rect">
              <a:avLst/>
            </a:prstGeom>
          </p:spPr>
        </p:pic>
      </p:gr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3CCB34C-A295-4DED-A312-E6BB5F3FEB3A}"/>
                  </a:ext>
                </a:extLst>
              </p:cNvPr>
              <p:cNvSpPr txBox="1"/>
              <p:nvPr/>
            </p:nvSpPr>
            <p:spPr>
              <a:xfrm>
                <a:off x="1732547" y="3429000"/>
                <a:ext cx="8609632" cy="613117"/>
              </a:xfrm>
              <a:prstGeom prst="rect">
                <a:avLst/>
              </a:prstGeom>
              <a:noFill/>
            </p:spPr>
            <p:txBody>
              <a:bodyPr wrap="square" rtlCol="0">
                <a:spAutoFit/>
              </a:bodyPr>
              <a:lstStyle/>
              <a:p>
                <a:r>
                  <a:rPr lang="en-SG" sz="2800" dirty="0"/>
                  <a:t>Number of outcomes in sample space: </a:t>
                </a:r>
                <a14:m>
                  <m:oMath xmlns:m="http://schemas.openxmlformats.org/officeDocument/2006/math">
                    <m:d>
                      <m:dPr>
                        <m:ctrlPr>
                          <a:rPr lang="en-SG" sz="2800" i="1" smtClean="0">
                            <a:latin typeface="Cambria Math" panose="02040503050406030204" pitchFamily="18" charset="0"/>
                          </a:rPr>
                        </m:ctrlPr>
                      </m:dPr>
                      <m:e>
                        <m:f>
                          <m:fPr>
                            <m:type m:val="noBar"/>
                            <m:ctrlPr>
                              <a:rPr lang="en-SG" sz="2800" i="1" smtClean="0">
                                <a:latin typeface="Cambria Math" panose="02040503050406030204" pitchFamily="18" charset="0"/>
                              </a:rPr>
                            </m:ctrlPr>
                          </m:fPr>
                          <m:num>
                            <m:r>
                              <a:rPr lang="en-SG" sz="2800" b="0" i="1" smtClean="0">
                                <a:latin typeface="Cambria Math" panose="02040503050406030204" pitchFamily="18" charset="0"/>
                              </a:rPr>
                              <m:t>13</m:t>
                            </m:r>
                          </m:num>
                          <m:den>
                            <m:r>
                              <a:rPr lang="en-SG" sz="2800" b="0" i="1" smtClean="0">
                                <a:latin typeface="Cambria Math" panose="02040503050406030204" pitchFamily="18" charset="0"/>
                              </a:rPr>
                              <m:t>5</m:t>
                            </m:r>
                          </m:den>
                        </m:f>
                      </m:e>
                    </m:d>
                    <m:r>
                      <a:rPr lang="en-SG" sz="2800" b="0" i="1" smtClean="0">
                        <a:latin typeface="Cambria Math" panose="02040503050406030204" pitchFamily="18" charset="0"/>
                      </a:rPr>
                      <m:t>=1287.</m:t>
                    </m:r>
                  </m:oMath>
                </a14:m>
                <a:endParaRPr lang="en-SG" sz="2800" dirty="0"/>
              </a:p>
            </p:txBody>
          </p:sp>
        </mc:Choice>
        <mc:Fallback xmlns="">
          <p:sp>
            <p:nvSpPr>
              <p:cNvPr id="3" name="TextBox 2">
                <a:extLst>
                  <a:ext uri="{FF2B5EF4-FFF2-40B4-BE49-F238E27FC236}">
                    <a16:creationId xmlns:a16="http://schemas.microsoft.com/office/drawing/2014/main" id="{83CCB34C-A295-4DED-A312-E6BB5F3FEB3A}"/>
                  </a:ext>
                </a:extLst>
              </p:cNvPr>
              <p:cNvSpPr txBox="1">
                <a:spLocks noRot="1" noChangeAspect="1" noMove="1" noResize="1" noEditPoints="1" noAdjustHandles="1" noChangeArrowheads="1" noChangeShapeType="1" noTextEdit="1"/>
              </p:cNvSpPr>
              <p:nvPr/>
            </p:nvSpPr>
            <p:spPr>
              <a:xfrm>
                <a:off x="1732547" y="3429000"/>
                <a:ext cx="8609632" cy="613117"/>
              </a:xfrm>
              <a:prstGeom prst="rect">
                <a:avLst/>
              </a:prstGeom>
              <a:blipFill>
                <a:blip r:embed="rId4"/>
                <a:stretch>
                  <a:fillRect l="-1415" t="-3000" b="-20000"/>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E6BE88CB-7C91-4BFA-97F1-5E8CC8DC7E8C}"/>
                  </a:ext>
                </a:extLst>
              </p:cNvPr>
              <p:cNvSpPr txBox="1"/>
              <p:nvPr/>
            </p:nvSpPr>
            <p:spPr>
              <a:xfrm>
                <a:off x="1732547" y="4114847"/>
                <a:ext cx="7331461" cy="954107"/>
              </a:xfrm>
              <a:prstGeom prst="rect">
                <a:avLst/>
              </a:prstGeom>
              <a:noFill/>
            </p:spPr>
            <p:txBody>
              <a:bodyPr wrap="square" rtlCol="0">
                <a:spAutoFit/>
              </a:bodyPr>
              <a:lstStyle/>
              <a:p>
                <a:r>
                  <a:rPr lang="en-SG" sz="2800" dirty="0"/>
                  <a:t>From part (a), #ways to form a committee with at least 3 men </a:t>
                </a:r>
                <a14:m>
                  <m:oMath xmlns:m="http://schemas.openxmlformats.org/officeDocument/2006/math">
                    <m:r>
                      <a:rPr lang="en-SG" sz="2800" b="0" i="0" smtClean="0">
                        <a:latin typeface="Cambria Math" panose="02040503050406030204" pitchFamily="18" charset="0"/>
                      </a:rPr>
                      <m:t>=</m:t>
                    </m:r>
                    <m:r>
                      <a:rPr lang="en-SG" sz="2800" i="1" smtClean="0">
                        <a:latin typeface="Cambria Math" panose="02040503050406030204" pitchFamily="18" charset="0"/>
                      </a:rPr>
                      <m:t>7</m:t>
                    </m:r>
                    <m:r>
                      <a:rPr lang="en-SG" sz="2800" b="0" i="1" smtClean="0">
                        <a:latin typeface="Cambria Math" panose="02040503050406030204" pitchFamily="18" charset="0"/>
                      </a:rPr>
                      <m:t>56.</m:t>
                    </m:r>
                  </m:oMath>
                </a14:m>
                <a:endParaRPr lang="en-SG" sz="2800" dirty="0"/>
              </a:p>
            </p:txBody>
          </p:sp>
        </mc:Choice>
        <mc:Fallback xmlns="">
          <p:sp>
            <p:nvSpPr>
              <p:cNvPr id="39" name="TextBox 38">
                <a:extLst>
                  <a:ext uri="{FF2B5EF4-FFF2-40B4-BE49-F238E27FC236}">
                    <a16:creationId xmlns:a16="http://schemas.microsoft.com/office/drawing/2014/main" id="{E6BE88CB-7C91-4BFA-97F1-5E8CC8DC7E8C}"/>
                  </a:ext>
                </a:extLst>
              </p:cNvPr>
              <p:cNvSpPr txBox="1">
                <a:spLocks noRot="1" noChangeAspect="1" noMove="1" noResize="1" noEditPoints="1" noAdjustHandles="1" noChangeArrowheads="1" noChangeShapeType="1" noTextEdit="1"/>
              </p:cNvSpPr>
              <p:nvPr/>
            </p:nvSpPr>
            <p:spPr>
              <a:xfrm>
                <a:off x="1732547" y="4114847"/>
                <a:ext cx="7331461" cy="954107"/>
              </a:xfrm>
              <a:prstGeom prst="rect">
                <a:avLst/>
              </a:prstGeom>
              <a:blipFill>
                <a:blip r:embed="rId5"/>
                <a:stretch>
                  <a:fillRect l="-1663" t="-5732" b="-17197"/>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D38D9D8D-1425-4F66-866B-B1359F5DA93E}"/>
                  </a:ext>
                </a:extLst>
              </p:cNvPr>
              <p:cNvSpPr txBox="1"/>
              <p:nvPr/>
            </p:nvSpPr>
            <p:spPr>
              <a:xfrm>
                <a:off x="1732546" y="5141684"/>
                <a:ext cx="5269279" cy="707758"/>
              </a:xfrm>
              <a:prstGeom prst="rect">
                <a:avLst/>
              </a:prstGeom>
              <a:noFill/>
            </p:spPr>
            <p:txBody>
              <a:bodyPr wrap="square" rtlCol="0">
                <a:spAutoFit/>
              </a:bodyPr>
              <a:lstStyle/>
              <a:p>
                <a:r>
                  <a:rPr lang="en-SG" sz="2800" dirty="0"/>
                  <a:t>Probability </a:t>
                </a:r>
                <a14:m>
                  <m:oMath xmlns:m="http://schemas.openxmlformats.org/officeDocument/2006/math">
                    <m:r>
                      <a:rPr lang="en-SG" sz="2800" b="0" i="0" smtClean="0">
                        <a:latin typeface="Cambria Math" panose="02040503050406030204" pitchFamily="18" charset="0"/>
                      </a:rPr>
                      <m:t>=</m:t>
                    </m:r>
                    <m:f>
                      <m:fPr>
                        <m:ctrlPr>
                          <a:rPr lang="en-SG" sz="2800" b="0" i="1" smtClean="0">
                            <a:latin typeface="Cambria Math" panose="02040503050406030204" pitchFamily="18" charset="0"/>
                          </a:rPr>
                        </m:ctrlPr>
                      </m:fPr>
                      <m:num>
                        <m:r>
                          <a:rPr lang="en-SG" sz="2800" b="0" i="1" smtClean="0">
                            <a:latin typeface="Cambria Math" panose="02040503050406030204" pitchFamily="18" charset="0"/>
                          </a:rPr>
                          <m:t>756</m:t>
                        </m:r>
                      </m:num>
                      <m:den>
                        <m:r>
                          <a:rPr lang="en-SG" sz="2800" b="0" i="1" smtClean="0">
                            <a:latin typeface="Cambria Math" panose="02040503050406030204" pitchFamily="18" charset="0"/>
                          </a:rPr>
                          <m:t>1287</m:t>
                        </m:r>
                      </m:den>
                    </m:f>
                    <m:r>
                      <a:rPr lang="en-SG" sz="2800" b="0" i="1" smtClean="0">
                        <a:latin typeface="Cambria Math" panose="02040503050406030204" pitchFamily="18" charset="0"/>
                      </a:rPr>
                      <m:t>=</m:t>
                    </m:r>
                    <m:r>
                      <a:rPr lang="en-SG" sz="2800" b="1" i="1" smtClean="0">
                        <a:solidFill>
                          <a:srgbClr val="C00000"/>
                        </a:solidFill>
                        <a:latin typeface="Cambria Math" panose="02040503050406030204" pitchFamily="18" charset="0"/>
                      </a:rPr>
                      <m:t>𝟓𝟖</m:t>
                    </m:r>
                    <m:r>
                      <a:rPr lang="en-SG" sz="2800" b="1" i="1" smtClean="0">
                        <a:solidFill>
                          <a:srgbClr val="C00000"/>
                        </a:solidFill>
                        <a:latin typeface="Cambria Math" panose="02040503050406030204" pitchFamily="18" charset="0"/>
                      </a:rPr>
                      <m:t>.</m:t>
                    </m:r>
                    <m:r>
                      <a:rPr lang="en-SG" sz="2800" b="1" i="1" smtClean="0">
                        <a:solidFill>
                          <a:srgbClr val="C00000"/>
                        </a:solidFill>
                        <a:latin typeface="Cambria Math" panose="02040503050406030204" pitchFamily="18" charset="0"/>
                      </a:rPr>
                      <m:t>𝟕𝟒</m:t>
                    </m:r>
                    <m:r>
                      <a:rPr lang="en-SG" sz="2800" b="1" i="1" smtClean="0">
                        <a:solidFill>
                          <a:srgbClr val="C00000"/>
                        </a:solidFill>
                        <a:latin typeface="Cambria Math" panose="02040503050406030204" pitchFamily="18" charset="0"/>
                      </a:rPr>
                      <m:t>%</m:t>
                    </m:r>
                    <m:r>
                      <a:rPr lang="en-SG" sz="2800" b="0" i="1" smtClean="0">
                        <a:solidFill>
                          <a:srgbClr val="C00000"/>
                        </a:solidFill>
                        <a:latin typeface="Cambria Math" panose="02040503050406030204" pitchFamily="18" charset="0"/>
                      </a:rPr>
                      <m:t>.</m:t>
                    </m:r>
                  </m:oMath>
                </a14:m>
                <a:endParaRPr lang="en-SG" sz="2800" dirty="0">
                  <a:solidFill>
                    <a:srgbClr val="C00000"/>
                  </a:solidFill>
                </a:endParaRPr>
              </a:p>
            </p:txBody>
          </p:sp>
        </mc:Choice>
        <mc:Fallback xmlns="">
          <p:sp>
            <p:nvSpPr>
              <p:cNvPr id="41" name="TextBox 40">
                <a:extLst>
                  <a:ext uri="{FF2B5EF4-FFF2-40B4-BE49-F238E27FC236}">
                    <a16:creationId xmlns:a16="http://schemas.microsoft.com/office/drawing/2014/main" id="{D38D9D8D-1425-4F66-866B-B1359F5DA93E}"/>
                  </a:ext>
                </a:extLst>
              </p:cNvPr>
              <p:cNvSpPr txBox="1">
                <a:spLocks noRot="1" noChangeAspect="1" noMove="1" noResize="1" noEditPoints="1" noAdjustHandles="1" noChangeArrowheads="1" noChangeShapeType="1" noTextEdit="1"/>
              </p:cNvSpPr>
              <p:nvPr/>
            </p:nvSpPr>
            <p:spPr>
              <a:xfrm>
                <a:off x="1732546" y="5141684"/>
                <a:ext cx="5269279" cy="707758"/>
              </a:xfrm>
              <a:prstGeom prst="rect">
                <a:avLst/>
              </a:prstGeom>
              <a:blipFill>
                <a:blip r:embed="rId6"/>
                <a:stretch>
                  <a:fillRect l="-2312" b="-11111"/>
                </a:stretch>
              </a:blipFill>
            </p:spPr>
            <p:txBody>
              <a:bodyPr/>
              <a:lstStyle/>
              <a:p>
                <a:r>
                  <a:rPr lang="en-US">
                    <a:noFill/>
                  </a:rPr>
                  <a:t> </a:t>
                </a:r>
              </a:p>
            </p:txBody>
          </p:sp>
        </mc:Fallback>
      </mc:AlternateContent>
      <p:sp>
        <p:nvSpPr>
          <p:cNvPr id="44" name="TextBox 43">
            <a:extLst>
              <a:ext uri="{FF2B5EF4-FFF2-40B4-BE49-F238E27FC236}">
                <a16:creationId xmlns:a16="http://schemas.microsoft.com/office/drawing/2014/main" id="{F2DF8FDC-C52F-4F19-9490-1348F4FA7248}"/>
              </a:ext>
            </a:extLst>
          </p:cNvPr>
          <p:cNvSpPr txBox="1"/>
          <p:nvPr/>
        </p:nvSpPr>
        <p:spPr>
          <a:xfrm>
            <a:off x="6667864" y="5168392"/>
            <a:ext cx="4367247" cy="830997"/>
          </a:xfrm>
          <a:prstGeom prst="rect">
            <a:avLst/>
          </a:prstGeom>
          <a:solidFill>
            <a:srgbClr val="FFCCCC"/>
          </a:solidFill>
        </p:spPr>
        <p:txBody>
          <a:bodyPr wrap="square" rtlCol="0">
            <a:spAutoFit/>
          </a:bodyPr>
          <a:lstStyle/>
          <a:p>
            <a:r>
              <a:rPr lang="en-SG" sz="2400" dirty="0"/>
              <a:t>(Do you know what 4 significant figures mean?)</a:t>
            </a:r>
          </a:p>
        </p:txBody>
      </p:sp>
    </p:spTree>
    <p:extLst>
      <p:ext uri="{BB962C8B-B14F-4D97-AF65-F5344CB8AC3E}">
        <p14:creationId xmlns:p14="http://schemas.microsoft.com/office/powerpoint/2010/main" val="3755222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9"/>
                                        </p:tgtEl>
                                        <p:attrNameLst>
                                          <p:attrName>style.visibility</p:attrName>
                                        </p:attrNameLst>
                                      </p:cBhvr>
                                      <p:to>
                                        <p:strVal val="visible"/>
                                      </p:to>
                                    </p:set>
                                    <p:animEffect transition="in" filter="dissolve">
                                      <p:cBhvr>
                                        <p:cTn id="12" dur="500"/>
                                        <p:tgtEl>
                                          <p:spTgt spid="3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dissolve">
                                      <p:cBhvr>
                                        <p:cTn id="17" dur="500"/>
                                        <p:tgtEl>
                                          <p:spTgt spid="41"/>
                                        </p:tgtEl>
                                      </p:cBhvr>
                                    </p:animEffect>
                                  </p:childTnLst>
                                </p:cTn>
                              </p:par>
                            </p:childTnLst>
                          </p:cTn>
                        </p:par>
                        <p:par>
                          <p:cTn id="18" fill="hold">
                            <p:stCondLst>
                              <p:cond delay="500"/>
                            </p:stCondLst>
                            <p:childTnLst>
                              <p:par>
                                <p:cTn id="19" presetID="9" presetClass="entr" presetSubtype="0" fill="hold" grpId="0" nodeType="afterEffect">
                                  <p:stCondLst>
                                    <p:cond delay="0"/>
                                  </p:stCondLst>
                                  <p:childTnLst>
                                    <p:set>
                                      <p:cBhvr>
                                        <p:cTn id="20" dur="1" fill="hold">
                                          <p:stCondLst>
                                            <p:cond delay="0"/>
                                          </p:stCondLst>
                                        </p:cTn>
                                        <p:tgtEl>
                                          <p:spTgt spid="44"/>
                                        </p:tgtEl>
                                        <p:attrNameLst>
                                          <p:attrName>style.visibility</p:attrName>
                                        </p:attrNameLst>
                                      </p:cBhvr>
                                      <p:to>
                                        <p:strVal val="visible"/>
                                      </p:to>
                                    </p:set>
                                    <p:animEffect transition="in" filter="dissolve">
                                      <p:cBhvr>
                                        <p:cTn id="21"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9" grpId="0"/>
      <p:bldP spid="41" grpId="0"/>
      <p:bldP spid="4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9532D-7B1D-4496-906D-F1887FE508D2}"/>
              </a:ext>
            </a:extLst>
          </p:cNvPr>
          <p:cNvSpPr>
            <a:spLocks noGrp="1"/>
          </p:cNvSpPr>
          <p:nvPr>
            <p:ph type="title"/>
          </p:nvPr>
        </p:nvSpPr>
        <p:spPr>
          <a:xfrm>
            <a:off x="314662" y="226852"/>
            <a:ext cx="1318424" cy="895927"/>
          </a:xfrm>
        </p:spPr>
        <p:txBody>
          <a:bodyPr>
            <a:normAutofit/>
          </a:bodyPr>
          <a:lstStyle/>
          <a:p>
            <a:pPr>
              <a:lnSpc>
                <a:spcPct val="100000"/>
              </a:lnSpc>
            </a:pPr>
            <a:r>
              <a:rPr lang="en-SG" dirty="0" err="1">
                <a:solidFill>
                  <a:schemeClr val="bg2">
                    <a:lumMod val="50000"/>
                  </a:schemeClr>
                </a:solidFill>
              </a:rPr>
              <a:t>Q8</a:t>
            </a:r>
            <a:r>
              <a:rPr lang="en-SG" dirty="0">
                <a:solidFill>
                  <a:schemeClr val="bg2">
                    <a:lumMod val="50000"/>
                  </a:schemeClr>
                </a:solidFill>
              </a:rPr>
              <a:t>.</a:t>
            </a:r>
            <a:endParaRPr lang="en-SG" dirty="0">
              <a:solidFill>
                <a:schemeClr val="bg2">
                  <a:lumMod val="50000"/>
                </a:schemeClr>
              </a:solidFill>
              <a:latin typeface="Cambria Math" panose="02040503050406030204" pitchFamily="18" charset="0"/>
              <a:ea typeface="Cambria Math" panose="02040503050406030204" pitchFamily="18" charset="0"/>
            </a:endParaRPr>
          </a:p>
        </p:txBody>
      </p:sp>
      <p:sp>
        <p:nvSpPr>
          <p:cNvPr id="10" name="Slide Number Placeholder 1"/>
          <p:cNvSpPr>
            <a:spLocks noGrp="1"/>
          </p:cNvSpPr>
          <p:nvPr>
            <p:ph type="sldNum" sz="quarter" idx="12"/>
          </p:nvPr>
        </p:nvSpPr>
        <p:spPr>
          <a:xfrm>
            <a:off x="10485783" y="6492875"/>
            <a:ext cx="1706217" cy="365125"/>
          </a:xfrm>
        </p:spPr>
        <p:txBody>
          <a:bodyPr/>
          <a:lstStyle/>
          <a:p>
            <a:fld id="{576A5E36-E009-4840-A577-F8CF29116582}" type="slidenum">
              <a:rPr lang="en-US" sz="1600" smtClean="0">
                <a:solidFill>
                  <a:schemeClr val="bg1"/>
                </a:solidFill>
              </a:rPr>
              <a:t>14</a:t>
            </a:fld>
            <a:endParaRPr lang="en-US" sz="1600" dirty="0">
              <a:solidFill>
                <a:schemeClr val="bg1"/>
              </a:solidFill>
            </a:endParaRPr>
          </a:p>
        </p:txBody>
      </p:sp>
      <p:sp>
        <p:nvSpPr>
          <p:cNvPr id="14" name="TextBox 13">
            <a:extLst>
              <a:ext uri="{FF2B5EF4-FFF2-40B4-BE49-F238E27FC236}">
                <a16:creationId xmlns:a16="http://schemas.microsoft.com/office/drawing/2014/main" id="{59FB7879-BCF9-4B1A-A2CC-BB0778FBDB53}"/>
              </a:ext>
            </a:extLst>
          </p:cNvPr>
          <p:cNvSpPr txBox="1"/>
          <p:nvPr/>
        </p:nvSpPr>
        <p:spPr>
          <a:xfrm>
            <a:off x="1633086" y="382427"/>
            <a:ext cx="9782226" cy="1384995"/>
          </a:xfrm>
          <a:prstGeom prst="rect">
            <a:avLst/>
          </a:prstGeom>
          <a:noFill/>
        </p:spPr>
        <p:txBody>
          <a:bodyPr wrap="square" rtlCol="0">
            <a:spAutoFit/>
          </a:bodyPr>
          <a:lstStyle/>
          <a:p>
            <a:r>
              <a:rPr lang="en-US" sz="2800" dirty="0"/>
              <a:t>You have $50,000 that you can use for investment. You are recommended 4 properties to invest in. Each investment must be in multiples of $1000</a:t>
            </a:r>
            <a:r>
              <a:rPr lang="en-SG" sz="2800" dirty="0"/>
              <a:t>.</a:t>
            </a:r>
            <a:endParaRPr lang="en-SG" sz="2800" dirty="0">
              <a:solidFill>
                <a:srgbClr val="0000FF"/>
              </a:solidFill>
            </a:endParaRPr>
          </a:p>
        </p:txBody>
      </p:sp>
      <p:sp>
        <p:nvSpPr>
          <p:cNvPr id="11" name="TextBox 10">
            <a:extLst>
              <a:ext uri="{FF2B5EF4-FFF2-40B4-BE49-F238E27FC236}">
                <a16:creationId xmlns:a16="http://schemas.microsoft.com/office/drawing/2014/main" id="{59FB7879-BCF9-4B1A-A2CC-BB0778FBDB53}"/>
              </a:ext>
            </a:extLst>
          </p:cNvPr>
          <p:cNvSpPr txBox="1"/>
          <p:nvPr/>
        </p:nvSpPr>
        <p:spPr>
          <a:xfrm>
            <a:off x="475488" y="1715858"/>
            <a:ext cx="11399520" cy="461665"/>
          </a:xfrm>
          <a:prstGeom prst="rect">
            <a:avLst/>
          </a:prstGeom>
          <a:solidFill>
            <a:schemeClr val="accent3">
              <a:lumMod val="20000"/>
              <a:lumOff val="80000"/>
            </a:schemeClr>
          </a:solidFill>
        </p:spPr>
        <p:txBody>
          <a:bodyPr wrap="square" rtlCol="0">
            <a:spAutoFit/>
          </a:bodyPr>
          <a:lstStyle/>
          <a:p>
            <a:pPr marL="573088" indent="-573088"/>
            <a:r>
              <a:rPr lang="en-US" sz="2400" dirty="0"/>
              <a:t>(a)	How many different investment strategies are possible if you invest $50,000 in total?</a:t>
            </a:r>
          </a:p>
        </p:txBody>
      </p:sp>
      <p:sp>
        <p:nvSpPr>
          <p:cNvPr id="12" name="TextBox 11">
            <a:extLst>
              <a:ext uri="{FF2B5EF4-FFF2-40B4-BE49-F238E27FC236}">
                <a16:creationId xmlns:a16="http://schemas.microsoft.com/office/drawing/2014/main" id="{59FB7879-BCF9-4B1A-A2CC-BB0778FBDB53}"/>
              </a:ext>
            </a:extLst>
          </p:cNvPr>
          <p:cNvSpPr txBox="1"/>
          <p:nvPr/>
        </p:nvSpPr>
        <p:spPr>
          <a:xfrm>
            <a:off x="475488" y="3930073"/>
            <a:ext cx="10863403" cy="830997"/>
          </a:xfrm>
          <a:prstGeom prst="rect">
            <a:avLst/>
          </a:prstGeom>
          <a:solidFill>
            <a:schemeClr val="accent3">
              <a:lumMod val="20000"/>
              <a:lumOff val="80000"/>
            </a:schemeClr>
          </a:solidFill>
        </p:spPr>
        <p:txBody>
          <a:bodyPr wrap="square" rtlCol="0">
            <a:spAutoFit/>
          </a:bodyPr>
          <a:lstStyle/>
          <a:p>
            <a:pPr marL="573088" indent="-573088"/>
            <a:r>
              <a:rPr lang="en-US" sz="2400" dirty="0"/>
              <a:t>(b)	How many different investment strategies are possible if you need not invest the entire amount of $50,000?</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E200C6CA-0C10-49AB-BB10-A27FAAC50DE9}"/>
                  </a:ext>
                </a:extLst>
              </p:cNvPr>
              <p:cNvSpPr txBox="1"/>
              <p:nvPr/>
            </p:nvSpPr>
            <p:spPr>
              <a:xfrm>
                <a:off x="1158905" y="2195479"/>
                <a:ext cx="8009480" cy="830997"/>
              </a:xfrm>
              <a:prstGeom prst="rect">
                <a:avLst/>
              </a:prstGeom>
              <a:noFill/>
            </p:spPr>
            <p:txBody>
              <a:bodyPr wrap="square" rtlCol="0">
                <a:spAutoFit/>
              </a:bodyPr>
              <a:lstStyle/>
              <a:p>
                <a:pPr>
                  <a:tabLst>
                    <a:tab pos="441325" algn="l"/>
                  </a:tabLst>
                </a:pPr>
                <a:r>
                  <a:rPr lang="en-US" sz="2400" dirty="0"/>
                  <a:t>Number of possible solutions to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2</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3</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4</m:t>
                        </m:r>
                      </m:sub>
                    </m:sSub>
                    <m:r>
                      <a:rPr lang="en-US" sz="2400" i="1">
                        <a:latin typeface="Cambria Math" panose="02040503050406030204" pitchFamily="18" charset="0"/>
                      </a:rPr>
                      <m:t>=50</m:t>
                    </m:r>
                  </m:oMath>
                </a14:m>
                <a:r>
                  <a:rPr lang="en-US" sz="2400" dirty="0"/>
                  <a:t> </a:t>
                </a:r>
                <a:br>
                  <a:rPr lang="en-US" sz="2400" dirty="0"/>
                </a:br>
                <a:r>
                  <a:rPr lang="en-US" sz="2400" dirty="0"/>
                  <a:t>such that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𝑖</m:t>
                        </m:r>
                      </m:sub>
                    </m:sSub>
                    <m:r>
                      <a:rPr lang="en-US" sz="2400" i="1">
                        <a:latin typeface="Cambria Math" panose="02040503050406030204" pitchFamily="18" charset="0"/>
                      </a:rPr>
                      <m:t>≥0</m:t>
                    </m:r>
                  </m:oMath>
                </a14:m>
                <a:r>
                  <a:rPr lang="en-US" sz="2400" dirty="0"/>
                  <a:t> for </a:t>
                </a:r>
                <a14:m>
                  <m:oMath xmlns:m="http://schemas.openxmlformats.org/officeDocument/2006/math">
                    <m:r>
                      <a:rPr lang="en-US" sz="2400" i="1">
                        <a:latin typeface="Cambria Math" panose="02040503050406030204" pitchFamily="18" charset="0"/>
                      </a:rPr>
                      <m:t>𝑖</m:t>
                    </m:r>
                    <m:r>
                      <a:rPr lang="en-US" sz="2400" i="1">
                        <a:latin typeface="Cambria Math" panose="02040503050406030204" pitchFamily="18" charset="0"/>
                      </a:rPr>
                      <m:t>=1,2,3,4</m:t>
                    </m:r>
                    <m:r>
                      <a:rPr lang="en-US" sz="2400" b="0" i="0" smtClean="0">
                        <a:latin typeface="Cambria Math" panose="02040503050406030204" pitchFamily="18" charset="0"/>
                      </a:rPr>
                      <m:t>:</m:t>
                    </m:r>
                  </m:oMath>
                </a14:m>
                <a:endParaRPr lang="en-US" sz="3600" b="1" dirty="0"/>
              </a:p>
            </p:txBody>
          </p:sp>
        </mc:Choice>
        <mc:Fallback xmlns="">
          <p:sp>
            <p:nvSpPr>
              <p:cNvPr id="13" name="TextBox 12">
                <a:extLst>
                  <a:ext uri="{FF2B5EF4-FFF2-40B4-BE49-F238E27FC236}">
                    <a16:creationId xmlns:a16="http://schemas.microsoft.com/office/drawing/2014/main" id="{E200C6CA-0C10-49AB-BB10-A27FAAC50DE9}"/>
                  </a:ext>
                </a:extLst>
              </p:cNvPr>
              <p:cNvSpPr txBox="1">
                <a:spLocks noRot="1" noChangeAspect="1" noMove="1" noResize="1" noEditPoints="1" noAdjustHandles="1" noChangeArrowheads="1" noChangeShapeType="1" noTextEdit="1"/>
              </p:cNvSpPr>
              <p:nvPr/>
            </p:nvSpPr>
            <p:spPr>
              <a:xfrm>
                <a:off x="1158905" y="2195479"/>
                <a:ext cx="8009480" cy="830997"/>
              </a:xfrm>
              <a:prstGeom prst="rect">
                <a:avLst/>
              </a:prstGeom>
              <a:blipFill>
                <a:blip r:embed="rId2"/>
                <a:stretch>
                  <a:fillRect l="-1142" t="-5882" b="-16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3618836" y="3016305"/>
                <a:ext cx="7473685" cy="922176"/>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d>
                        <m:dPr>
                          <m:ctrlPr>
                            <a:rPr lang="en-US" sz="2400" i="1" smtClean="0">
                              <a:latin typeface="Cambria Math" panose="02040503050406030204" pitchFamily="18" charset="0"/>
                            </a:rPr>
                          </m:ctrlPr>
                        </m:dPr>
                        <m:e>
                          <m:f>
                            <m:fPr>
                              <m:type m:val="noBar"/>
                              <m:ctrlPr>
                                <a:rPr lang="en-US" sz="2400" i="1">
                                  <a:latin typeface="Cambria Math" panose="02040503050406030204" pitchFamily="18" charset="0"/>
                                </a:rPr>
                              </m:ctrlPr>
                            </m:fPr>
                            <m:num>
                              <m:r>
                                <a:rPr lang="en-US" sz="2400" b="0" i="1" smtClean="0">
                                  <a:latin typeface="Cambria Math" panose="02040503050406030204" pitchFamily="18" charset="0"/>
                                </a:rPr>
                                <m:t>𝑟</m:t>
                              </m:r>
                              <m:r>
                                <a:rPr lang="en-SG" sz="2400" b="0" i="1" smtClean="0">
                                  <a:latin typeface="Cambria Math" panose="02040503050406030204" pitchFamily="18" charset="0"/>
                                </a:rPr>
                                <m:t>+</m:t>
                              </m:r>
                              <m:r>
                                <a:rPr lang="en-US" sz="2400" b="0" i="1" smtClean="0">
                                  <a:latin typeface="Cambria Math" panose="02040503050406030204" pitchFamily="18" charset="0"/>
                                </a:rPr>
                                <m:t>𝑛</m:t>
                              </m:r>
                              <m:r>
                                <a:rPr lang="en-SG" sz="2400" b="0" i="1" smtClean="0">
                                  <a:latin typeface="Cambria Math" panose="02040503050406030204" pitchFamily="18" charset="0"/>
                                </a:rPr>
                                <m:t>−1</m:t>
                              </m:r>
                            </m:num>
                            <m:den>
                              <m:r>
                                <a:rPr lang="en-US" sz="2400" b="0" i="1" smtClean="0">
                                  <a:latin typeface="Cambria Math" panose="02040503050406030204" pitchFamily="18" charset="0"/>
                                </a:rPr>
                                <m:t>𝑟</m:t>
                              </m:r>
                            </m:den>
                          </m:f>
                        </m:e>
                      </m:d>
                      <m:r>
                        <a:rPr lang="en-US" sz="2400" b="0" i="1" smtClean="0">
                          <a:latin typeface="Cambria Math" panose="02040503050406030204" pitchFamily="18" charset="0"/>
                        </a:rPr>
                        <m:t>=</m:t>
                      </m:r>
                      <m:d>
                        <m:dPr>
                          <m:ctrlPr>
                            <a:rPr lang="en-US" sz="2400" i="1">
                              <a:latin typeface="Cambria Math" panose="02040503050406030204" pitchFamily="18" charset="0"/>
                            </a:rPr>
                          </m:ctrlPr>
                        </m:dPr>
                        <m:e>
                          <m:f>
                            <m:fPr>
                              <m:type m:val="noBar"/>
                              <m:ctrlPr>
                                <a:rPr lang="en-US" sz="2400" i="1">
                                  <a:latin typeface="Cambria Math" panose="02040503050406030204" pitchFamily="18" charset="0"/>
                                </a:rPr>
                              </m:ctrlPr>
                            </m:fPr>
                            <m:num>
                              <m:r>
                                <a:rPr lang="en-US" sz="2400" b="0" i="1" smtClean="0">
                                  <a:latin typeface="Cambria Math" panose="02040503050406030204" pitchFamily="18" charset="0"/>
                                </a:rPr>
                                <m:t>50</m:t>
                              </m:r>
                              <m:r>
                                <a:rPr lang="en-SG" sz="2400" i="1">
                                  <a:latin typeface="Cambria Math" panose="02040503050406030204" pitchFamily="18" charset="0"/>
                                </a:rPr>
                                <m:t>+4−1</m:t>
                              </m:r>
                            </m:num>
                            <m:den>
                              <m:r>
                                <a:rPr lang="en-US" sz="2400" b="0" i="1" smtClean="0">
                                  <a:latin typeface="Cambria Math" panose="02040503050406030204" pitchFamily="18" charset="0"/>
                                </a:rPr>
                                <m:t>50</m:t>
                              </m:r>
                            </m:den>
                          </m:f>
                        </m:e>
                      </m:d>
                      <m:r>
                        <a:rPr lang="en-US" sz="2400" b="0" i="1" smtClean="0">
                          <a:latin typeface="Cambria Math" panose="02040503050406030204" pitchFamily="18" charset="0"/>
                          <a:ea typeface="Cambria Math" panose="02040503050406030204" pitchFamily="18" charset="0"/>
                        </a:rPr>
                        <m:t>=</m:t>
                      </m:r>
                      <m:d>
                        <m:dPr>
                          <m:ctrlPr>
                            <a:rPr lang="en-US" sz="2400" i="1">
                              <a:latin typeface="Cambria Math" panose="02040503050406030204" pitchFamily="18" charset="0"/>
                            </a:rPr>
                          </m:ctrlPr>
                        </m:dPr>
                        <m:e>
                          <m:f>
                            <m:fPr>
                              <m:type m:val="noBar"/>
                              <m:ctrlPr>
                                <a:rPr lang="en-US" sz="2400" i="1">
                                  <a:latin typeface="Cambria Math" panose="02040503050406030204" pitchFamily="18" charset="0"/>
                                </a:rPr>
                              </m:ctrlPr>
                            </m:fPr>
                            <m:num>
                              <m:r>
                                <a:rPr lang="en-US" sz="2400" b="0" i="1" smtClean="0">
                                  <a:latin typeface="Cambria Math" panose="02040503050406030204" pitchFamily="18" charset="0"/>
                                </a:rPr>
                                <m:t>53</m:t>
                              </m:r>
                            </m:num>
                            <m:den>
                              <m:r>
                                <a:rPr lang="en-US" sz="2400" b="0" i="1" smtClean="0">
                                  <a:latin typeface="Cambria Math" panose="02040503050406030204" pitchFamily="18" charset="0"/>
                                </a:rPr>
                                <m:t>50</m:t>
                              </m:r>
                            </m:den>
                          </m:f>
                        </m:e>
                      </m:d>
                      <m:r>
                        <a:rPr lang="en-SG" sz="2400" b="1" i="1" smtClean="0">
                          <a:latin typeface="Cambria Math" panose="02040503050406030204" pitchFamily="18" charset="0"/>
                        </a:rPr>
                        <m:t>=</m:t>
                      </m:r>
                      <m:r>
                        <a:rPr lang="en-US" sz="2400" b="1" i="1" smtClean="0">
                          <a:solidFill>
                            <a:srgbClr val="C00000"/>
                          </a:solidFill>
                          <a:latin typeface="Cambria Math" panose="02040503050406030204" pitchFamily="18" charset="0"/>
                        </a:rPr>
                        <m:t>𝟐𝟑𝟒𝟐𝟔</m:t>
                      </m:r>
                      <m:r>
                        <a:rPr lang="en-US" sz="2400" b="0" i="1" smtClean="0">
                          <a:solidFill>
                            <a:srgbClr val="C00000"/>
                          </a:solidFill>
                          <a:latin typeface="Cambria Math" panose="02040503050406030204" pitchFamily="18" charset="0"/>
                          <a:ea typeface="Cambria Math" panose="02040503050406030204" pitchFamily="18" charset="0"/>
                        </a:rPr>
                        <m:t>.</m:t>
                      </m:r>
                    </m:oMath>
                  </m:oMathPara>
                </a14:m>
                <a:endParaRPr lang="en-US" sz="2400" dirty="0">
                  <a:solidFill>
                    <a:srgbClr val="C00000"/>
                  </a:solidFill>
                </a:endParaRPr>
              </a:p>
            </p:txBody>
          </p:sp>
        </mc:Choice>
        <mc:Fallback xmlns="">
          <p:sp>
            <p:nvSpPr>
              <p:cNvPr id="15" name="TextBox 14"/>
              <p:cNvSpPr txBox="1">
                <a:spLocks noRot="1" noChangeAspect="1" noMove="1" noResize="1" noEditPoints="1" noAdjustHandles="1" noChangeArrowheads="1" noChangeShapeType="1" noTextEdit="1"/>
              </p:cNvSpPr>
              <p:nvPr/>
            </p:nvSpPr>
            <p:spPr>
              <a:xfrm>
                <a:off x="3618836" y="3016305"/>
                <a:ext cx="7473685" cy="922176"/>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E200C6CA-0C10-49AB-BB10-A27FAAC50DE9}"/>
                  </a:ext>
                </a:extLst>
              </p:cNvPr>
              <p:cNvSpPr txBox="1"/>
              <p:nvPr/>
            </p:nvSpPr>
            <p:spPr>
              <a:xfrm>
                <a:off x="1158905" y="4749873"/>
                <a:ext cx="8009480" cy="830997"/>
              </a:xfrm>
              <a:prstGeom prst="rect">
                <a:avLst/>
              </a:prstGeom>
              <a:noFill/>
            </p:spPr>
            <p:txBody>
              <a:bodyPr wrap="square" rtlCol="0">
                <a:spAutoFit/>
              </a:bodyPr>
              <a:lstStyle/>
              <a:p>
                <a:pPr>
                  <a:tabLst>
                    <a:tab pos="441325" algn="l"/>
                  </a:tabLst>
                </a:pPr>
                <a:r>
                  <a:rPr lang="en-US" sz="2400" dirty="0"/>
                  <a:t>Number of possible solutions to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1</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2</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3</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4</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b="0" i="1" smtClean="0">
                            <a:latin typeface="Cambria Math" panose="02040503050406030204" pitchFamily="18" charset="0"/>
                          </a:rPr>
                          <m:t>5</m:t>
                        </m:r>
                      </m:sub>
                    </m:sSub>
                    <m:r>
                      <a:rPr lang="en-US" sz="2400" i="1">
                        <a:latin typeface="Cambria Math" panose="02040503050406030204" pitchFamily="18" charset="0"/>
                      </a:rPr>
                      <m:t>=50</m:t>
                    </m:r>
                  </m:oMath>
                </a14:m>
                <a:r>
                  <a:rPr lang="en-US" sz="2400" dirty="0"/>
                  <a:t> </a:t>
                </a:r>
                <a:br>
                  <a:rPr lang="en-US" sz="2400" dirty="0"/>
                </a:br>
                <a:r>
                  <a:rPr lang="en-US" sz="2400" dirty="0"/>
                  <a:t>such that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𝑖</m:t>
                        </m:r>
                      </m:sub>
                    </m:sSub>
                    <m:r>
                      <a:rPr lang="en-US" sz="2400" i="1">
                        <a:latin typeface="Cambria Math" panose="02040503050406030204" pitchFamily="18" charset="0"/>
                      </a:rPr>
                      <m:t>≥0</m:t>
                    </m:r>
                  </m:oMath>
                </a14:m>
                <a:r>
                  <a:rPr lang="en-US" sz="2400" dirty="0"/>
                  <a:t> for </a:t>
                </a:r>
                <a14:m>
                  <m:oMath xmlns:m="http://schemas.openxmlformats.org/officeDocument/2006/math">
                    <m:r>
                      <a:rPr lang="en-US" sz="2400" i="1">
                        <a:latin typeface="Cambria Math" panose="02040503050406030204" pitchFamily="18" charset="0"/>
                      </a:rPr>
                      <m:t>𝑖</m:t>
                    </m:r>
                    <m:r>
                      <a:rPr lang="en-US" sz="2400" i="1">
                        <a:latin typeface="Cambria Math" panose="02040503050406030204" pitchFamily="18" charset="0"/>
                      </a:rPr>
                      <m:t>=1,2,3,4,5</m:t>
                    </m:r>
                    <m:r>
                      <a:rPr lang="en-US" sz="2400" b="0" i="0" smtClean="0">
                        <a:latin typeface="Cambria Math" panose="02040503050406030204" pitchFamily="18" charset="0"/>
                      </a:rPr>
                      <m:t>:</m:t>
                    </m:r>
                  </m:oMath>
                </a14:m>
                <a:endParaRPr lang="en-US" sz="3600" b="1" dirty="0"/>
              </a:p>
            </p:txBody>
          </p:sp>
        </mc:Choice>
        <mc:Fallback xmlns="">
          <p:sp>
            <p:nvSpPr>
              <p:cNvPr id="16" name="TextBox 15">
                <a:extLst>
                  <a:ext uri="{FF2B5EF4-FFF2-40B4-BE49-F238E27FC236}">
                    <a16:creationId xmlns:a16="http://schemas.microsoft.com/office/drawing/2014/main" id="{E200C6CA-0C10-49AB-BB10-A27FAAC50DE9}"/>
                  </a:ext>
                </a:extLst>
              </p:cNvPr>
              <p:cNvSpPr txBox="1">
                <a:spLocks noRot="1" noChangeAspect="1" noMove="1" noResize="1" noEditPoints="1" noAdjustHandles="1" noChangeArrowheads="1" noChangeShapeType="1" noTextEdit="1"/>
              </p:cNvSpPr>
              <p:nvPr/>
            </p:nvSpPr>
            <p:spPr>
              <a:xfrm>
                <a:off x="1158905" y="4749873"/>
                <a:ext cx="8009480" cy="830997"/>
              </a:xfrm>
              <a:prstGeom prst="rect">
                <a:avLst/>
              </a:prstGeom>
              <a:blipFill>
                <a:blip r:embed="rId4"/>
                <a:stretch>
                  <a:fillRect l="-1142" t="-5882" b="-16176"/>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3618836" y="5570699"/>
                <a:ext cx="7473685" cy="922176"/>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d>
                        <m:dPr>
                          <m:ctrlPr>
                            <a:rPr lang="en-US" sz="2400" i="1" smtClean="0">
                              <a:latin typeface="Cambria Math" panose="02040503050406030204" pitchFamily="18" charset="0"/>
                            </a:rPr>
                          </m:ctrlPr>
                        </m:dPr>
                        <m:e>
                          <m:f>
                            <m:fPr>
                              <m:type m:val="noBar"/>
                              <m:ctrlPr>
                                <a:rPr lang="en-US" sz="2400" i="1">
                                  <a:latin typeface="Cambria Math" panose="02040503050406030204" pitchFamily="18" charset="0"/>
                                </a:rPr>
                              </m:ctrlPr>
                            </m:fPr>
                            <m:num>
                              <m:r>
                                <a:rPr lang="en-US" sz="2400" b="0" i="1" smtClean="0">
                                  <a:latin typeface="Cambria Math" panose="02040503050406030204" pitchFamily="18" charset="0"/>
                                </a:rPr>
                                <m:t>𝑟</m:t>
                              </m:r>
                              <m:r>
                                <a:rPr lang="en-SG" sz="2400" b="0" i="1" smtClean="0">
                                  <a:latin typeface="Cambria Math" panose="02040503050406030204" pitchFamily="18" charset="0"/>
                                </a:rPr>
                                <m:t>+</m:t>
                              </m:r>
                              <m:r>
                                <a:rPr lang="en-US" sz="2400" b="0" i="1" smtClean="0">
                                  <a:latin typeface="Cambria Math" panose="02040503050406030204" pitchFamily="18" charset="0"/>
                                </a:rPr>
                                <m:t>𝑛</m:t>
                              </m:r>
                              <m:r>
                                <a:rPr lang="en-SG" sz="2400" b="0" i="1" smtClean="0">
                                  <a:latin typeface="Cambria Math" panose="02040503050406030204" pitchFamily="18" charset="0"/>
                                </a:rPr>
                                <m:t>−1</m:t>
                              </m:r>
                            </m:num>
                            <m:den>
                              <m:r>
                                <a:rPr lang="en-US" sz="2400" b="0" i="1" smtClean="0">
                                  <a:latin typeface="Cambria Math" panose="02040503050406030204" pitchFamily="18" charset="0"/>
                                </a:rPr>
                                <m:t>𝑟</m:t>
                              </m:r>
                            </m:den>
                          </m:f>
                        </m:e>
                      </m:d>
                      <m:r>
                        <a:rPr lang="en-US" sz="2400" b="0" i="1" smtClean="0">
                          <a:latin typeface="Cambria Math" panose="02040503050406030204" pitchFamily="18" charset="0"/>
                        </a:rPr>
                        <m:t>=</m:t>
                      </m:r>
                      <m:d>
                        <m:dPr>
                          <m:ctrlPr>
                            <a:rPr lang="en-US" sz="2400" i="1">
                              <a:latin typeface="Cambria Math" panose="02040503050406030204" pitchFamily="18" charset="0"/>
                            </a:rPr>
                          </m:ctrlPr>
                        </m:dPr>
                        <m:e>
                          <m:f>
                            <m:fPr>
                              <m:type m:val="noBar"/>
                              <m:ctrlPr>
                                <a:rPr lang="en-US" sz="2400" i="1">
                                  <a:latin typeface="Cambria Math" panose="02040503050406030204" pitchFamily="18" charset="0"/>
                                </a:rPr>
                              </m:ctrlPr>
                            </m:fPr>
                            <m:num>
                              <m:r>
                                <a:rPr lang="en-US" sz="2400" b="0" i="1" smtClean="0">
                                  <a:latin typeface="Cambria Math" panose="02040503050406030204" pitchFamily="18" charset="0"/>
                                </a:rPr>
                                <m:t>50</m:t>
                              </m:r>
                              <m:r>
                                <a:rPr lang="en-SG" sz="2400" i="1">
                                  <a:latin typeface="Cambria Math" panose="02040503050406030204" pitchFamily="18" charset="0"/>
                                </a:rPr>
                                <m:t>+</m:t>
                              </m:r>
                              <m:r>
                                <a:rPr lang="en-US" sz="2400" b="0" i="1" smtClean="0">
                                  <a:latin typeface="Cambria Math" panose="02040503050406030204" pitchFamily="18" charset="0"/>
                                </a:rPr>
                                <m:t>5</m:t>
                              </m:r>
                              <m:r>
                                <a:rPr lang="en-SG" sz="2400" i="1">
                                  <a:latin typeface="Cambria Math" panose="02040503050406030204" pitchFamily="18" charset="0"/>
                                </a:rPr>
                                <m:t>−1</m:t>
                              </m:r>
                            </m:num>
                            <m:den>
                              <m:r>
                                <a:rPr lang="en-US" sz="2400" b="0" i="1" smtClean="0">
                                  <a:latin typeface="Cambria Math" panose="02040503050406030204" pitchFamily="18" charset="0"/>
                                </a:rPr>
                                <m:t>50</m:t>
                              </m:r>
                            </m:den>
                          </m:f>
                        </m:e>
                      </m:d>
                      <m:r>
                        <a:rPr lang="en-US" sz="2400" b="0" i="1" smtClean="0">
                          <a:latin typeface="Cambria Math" panose="02040503050406030204" pitchFamily="18" charset="0"/>
                          <a:ea typeface="Cambria Math" panose="02040503050406030204" pitchFamily="18" charset="0"/>
                        </a:rPr>
                        <m:t>=</m:t>
                      </m:r>
                      <m:d>
                        <m:dPr>
                          <m:ctrlPr>
                            <a:rPr lang="en-US" sz="2400" i="1">
                              <a:latin typeface="Cambria Math" panose="02040503050406030204" pitchFamily="18" charset="0"/>
                            </a:rPr>
                          </m:ctrlPr>
                        </m:dPr>
                        <m:e>
                          <m:f>
                            <m:fPr>
                              <m:type m:val="noBar"/>
                              <m:ctrlPr>
                                <a:rPr lang="en-US" sz="2400" i="1">
                                  <a:latin typeface="Cambria Math" panose="02040503050406030204" pitchFamily="18" charset="0"/>
                                </a:rPr>
                              </m:ctrlPr>
                            </m:fPr>
                            <m:num>
                              <m:r>
                                <a:rPr lang="en-US" sz="2400" b="0" i="1" smtClean="0">
                                  <a:latin typeface="Cambria Math" panose="02040503050406030204" pitchFamily="18" charset="0"/>
                                </a:rPr>
                                <m:t>54</m:t>
                              </m:r>
                            </m:num>
                            <m:den>
                              <m:r>
                                <a:rPr lang="en-US" sz="2400" b="0" i="1" smtClean="0">
                                  <a:latin typeface="Cambria Math" panose="02040503050406030204" pitchFamily="18" charset="0"/>
                                </a:rPr>
                                <m:t>50</m:t>
                              </m:r>
                            </m:den>
                          </m:f>
                        </m:e>
                      </m:d>
                      <m:r>
                        <a:rPr lang="en-SG" sz="2400" b="1" i="1" smtClean="0">
                          <a:latin typeface="Cambria Math" panose="02040503050406030204" pitchFamily="18" charset="0"/>
                        </a:rPr>
                        <m:t>=</m:t>
                      </m:r>
                      <m:r>
                        <a:rPr lang="en-US" sz="2400" b="1" i="1" smtClean="0">
                          <a:solidFill>
                            <a:srgbClr val="C00000"/>
                          </a:solidFill>
                          <a:latin typeface="Cambria Math" panose="02040503050406030204" pitchFamily="18" charset="0"/>
                        </a:rPr>
                        <m:t>𝟑𝟏𝟔𝟐𝟓𝟏</m:t>
                      </m:r>
                      <m:r>
                        <a:rPr lang="en-US" sz="2400" b="0" i="1" smtClean="0">
                          <a:solidFill>
                            <a:srgbClr val="C00000"/>
                          </a:solidFill>
                          <a:latin typeface="Cambria Math" panose="02040503050406030204" pitchFamily="18" charset="0"/>
                          <a:ea typeface="Cambria Math" panose="02040503050406030204" pitchFamily="18" charset="0"/>
                        </a:rPr>
                        <m:t>.</m:t>
                      </m:r>
                    </m:oMath>
                  </m:oMathPara>
                </a14:m>
                <a:endParaRPr lang="en-US" sz="2400" dirty="0">
                  <a:solidFill>
                    <a:srgbClr val="C00000"/>
                  </a:solidFill>
                </a:endParaRPr>
              </a:p>
            </p:txBody>
          </p:sp>
        </mc:Choice>
        <mc:Fallback xmlns="">
          <p:sp>
            <p:nvSpPr>
              <p:cNvPr id="19" name="TextBox 18"/>
              <p:cNvSpPr txBox="1">
                <a:spLocks noRot="1" noChangeAspect="1" noMove="1" noResize="1" noEditPoints="1" noAdjustHandles="1" noChangeArrowheads="1" noChangeShapeType="1" noTextEdit="1"/>
              </p:cNvSpPr>
              <p:nvPr/>
            </p:nvSpPr>
            <p:spPr>
              <a:xfrm>
                <a:off x="3618836" y="5570699"/>
                <a:ext cx="7473685" cy="922176"/>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98571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dissolve">
                                      <p:cBhvr>
                                        <p:cTn id="7" dur="500"/>
                                        <p:tgtEl>
                                          <p:spTgt spid="1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dissolve">
                                      <p:cBhvr>
                                        <p:cTn id="10" dur="5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dissolve">
                                      <p:cBhvr>
                                        <p:cTn id="15" dur="500"/>
                                        <p:tgtEl>
                                          <p:spTgt spid="16"/>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dissolve">
                                      <p:cBhvr>
                                        <p:cTn id="1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P spid="16" grpId="0"/>
      <p:bldP spid="1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9532D-7B1D-4496-906D-F1887FE508D2}"/>
              </a:ext>
            </a:extLst>
          </p:cNvPr>
          <p:cNvSpPr>
            <a:spLocks noGrp="1"/>
          </p:cNvSpPr>
          <p:nvPr>
            <p:ph type="title"/>
          </p:nvPr>
        </p:nvSpPr>
        <p:spPr>
          <a:xfrm>
            <a:off x="314662" y="226852"/>
            <a:ext cx="1097585" cy="895927"/>
          </a:xfrm>
        </p:spPr>
        <p:txBody>
          <a:bodyPr>
            <a:normAutofit/>
          </a:bodyPr>
          <a:lstStyle/>
          <a:p>
            <a:pPr>
              <a:lnSpc>
                <a:spcPct val="100000"/>
              </a:lnSpc>
            </a:pPr>
            <a:r>
              <a:rPr lang="en-SG" dirty="0" err="1">
                <a:solidFill>
                  <a:schemeClr val="bg2">
                    <a:lumMod val="50000"/>
                  </a:schemeClr>
                </a:solidFill>
              </a:rPr>
              <a:t>Q9</a:t>
            </a:r>
            <a:r>
              <a:rPr lang="en-SG" dirty="0">
                <a:solidFill>
                  <a:schemeClr val="bg2">
                    <a:lumMod val="50000"/>
                  </a:schemeClr>
                </a:solidFill>
              </a:rPr>
              <a:t>.</a:t>
            </a:r>
            <a:endParaRPr lang="en-SG" dirty="0">
              <a:solidFill>
                <a:schemeClr val="bg2">
                  <a:lumMod val="50000"/>
                </a:schemeClr>
              </a:solidFill>
              <a:latin typeface="Cambria Math" panose="02040503050406030204" pitchFamily="18" charset="0"/>
              <a:ea typeface="Cambria Math" panose="02040503050406030204" pitchFamily="18" charset="0"/>
            </a:endParaRPr>
          </a:p>
        </p:txBody>
      </p:sp>
      <p:sp>
        <p:nvSpPr>
          <p:cNvPr id="10" name="Slide Number Placeholder 1"/>
          <p:cNvSpPr>
            <a:spLocks noGrp="1"/>
          </p:cNvSpPr>
          <p:nvPr>
            <p:ph type="sldNum" sz="quarter" idx="12"/>
          </p:nvPr>
        </p:nvSpPr>
        <p:spPr>
          <a:xfrm>
            <a:off x="10485783" y="6492875"/>
            <a:ext cx="1706217" cy="365125"/>
          </a:xfrm>
        </p:spPr>
        <p:txBody>
          <a:bodyPr/>
          <a:lstStyle/>
          <a:p>
            <a:fld id="{576A5E36-E009-4840-A577-F8CF29116582}" type="slidenum">
              <a:rPr lang="en-US" sz="1600" smtClean="0">
                <a:solidFill>
                  <a:schemeClr val="bg1"/>
                </a:solidFill>
              </a:rPr>
              <a:t>15</a:t>
            </a:fld>
            <a:endParaRPr lang="en-US" sz="1600" dirty="0">
              <a:solidFill>
                <a:schemeClr val="bg1"/>
              </a:solidFill>
            </a:endParaRPr>
          </a:p>
        </p:txBody>
      </p:sp>
      <p:sp>
        <p:nvSpPr>
          <p:cNvPr id="14" name="TextBox 13">
            <a:extLst>
              <a:ext uri="{FF2B5EF4-FFF2-40B4-BE49-F238E27FC236}">
                <a16:creationId xmlns:a16="http://schemas.microsoft.com/office/drawing/2014/main" id="{59FB7879-BCF9-4B1A-A2CC-BB0778FBDB53}"/>
              </a:ext>
            </a:extLst>
          </p:cNvPr>
          <p:cNvSpPr txBox="1"/>
          <p:nvPr/>
        </p:nvSpPr>
        <p:spPr>
          <a:xfrm>
            <a:off x="1405777" y="372102"/>
            <a:ext cx="9945713" cy="954107"/>
          </a:xfrm>
          <a:prstGeom prst="rect">
            <a:avLst/>
          </a:prstGeom>
          <a:solidFill>
            <a:srgbClr val="CCECFF"/>
          </a:solidFill>
        </p:spPr>
        <p:txBody>
          <a:bodyPr wrap="square" rtlCol="0">
            <a:spAutoFit/>
          </a:bodyPr>
          <a:lstStyle/>
          <a:p>
            <a:r>
              <a:rPr lang="en-SG" sz="2800" dirty="0"/>
              <a:t>Prove that if you randomly put </a:t>
            </a:r>
            <a:r>
              <a:rPr lang="en-SG" sz="2800" dirty="0">
                <a:solidFill>
                  <a:srgbClr val="0000FF"/>
                </a:solidFill>
              </a:rPr>
              <a:t>51 points</a:t>
            </a:r>
            <a:r>
              <a:rPr lang="en-SG" sz="2800" dirty="0"/>
              <a:t> inside a unit square, there are always </a:t>
            </a:r>
            <a:r>
              <a:rPr lang="en-SG" sz="2800" dirty="0">
                <a:solidFill>
                  <a:srgbClr val="0000FF"/>
                </a:solidFill>
              </a:rPr>
              <a:t>3 points </a:t>
            </a:r>
            <a:r>
              <a:rPr lang="en-SG" sz="2800" dirty="0"/>
              <a:t>that can be covered by a circle of </a:t>
            </a:r>
            <a:r>
              <a:rPr lang="en-SG" sz="2800" dirty="0">
                <a:solidFill>
                  <a:srgbClr val="0000FF"/>
                </a:solidFill>
              </a:rPr>
              <a:t>radius 1/7</a:t>
            </a:r>
            <a:r>
              <a:rPr lang="en-SG" sz="2800" dirty="0"/>
              <a:t>.</a:t>
            </a:r>
          </a:p>
        </p:txBody>
      </p:sp>
      <p:sp>
        <p:nvSpPr>
          <p:cNvPr id="3" name="Rectangle 2">
            <a:extLst>
              <a:ext uri="{FF2B5EF4-FFF2-40B4-BE49-F238E27FC236}">
                <a16:creationId xmlns:a16="http://schemas.microsoft.com/office/drawing/2014/main" id="{030F0D61-9C20-451D-ABB1-6AE5B568F9A3}"/>
              </a:ext>
            </a:extLst>
          </p:cNvPr>
          <p:cNvSpPr/>
          <p:nvPr/>
        </p:nvSpPr>
        <p:spPr>
          <a:xfrm>
            <a:off x="1311564" y="2201023"/>
            <a:ext cx="3694537" cy="3588104"/>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p:nvGrpSpPr>
          <p:cNvPr id="41" name="Group 40">
            <a:extLst>
              <a:ext uri="{FF2B5EF4-FFF2-40B4-BE49-F238E27FC236}">
                <a16:creationId xmlns:a16="http://schemas.microsoft.com/office/drawing/2014/main" id="{95D240DB-3CB7-4A98-90A1-554A15455893}"/>
              </a:ext>
            </a:extLst>
          </p:cNvPr>
          <p:cNvGrpSpPr/>
          <p:nvPr/>
        </p:nvGrpSpPr>
        <p:grpSpPr>
          <a:xfrm>
            <a:off x="1311564" y="2201023"/>
            <a:ext cx="3694537" cy="3588104"/>
            <a:chOff x="1311564" y="2201023"/>
            <a:chExt cx="3694537" cy="3588104"/>
          </a:xfrm>
        </p:grpSpPr>
        <p:cxnSp>
          <p:nvCxnSpPr>
            <p:cNvPr id="5" name="Straight Connector 4">
              <a:extLst>
                <a:ext uri="{FF2B5EF4-FFF2-40B4-BE49-F238E27FC236}">
                  <a16:creationId xmlns:a16="http://schemas.microsoft.com/office/drawing/2014/main" id="{DF64A005-26A9-48E4-B32B-4D38095CB6BF}"/>
                </a:ext>
              </a:extLst>
            </p:cNvPr>
            <p:cNvCxnSpPr>
              <a:cxnSpLocks/>
            </p:cNvCxnSpPr>
            <p:nvPr/>
          </p:nvCxnSpPr>
          <p:spPr>
            <a:xfrm>
              <a:off x="1311564" y="2916831"/>
              <a:ext cx="3694537" cy="0"/>
            </a:xfrm>
            <a:prstGeom prst="line">
              <a:avLst/>
            </a:prstGeom>
            <a:ln w="28575">
              <a:solidFill>
                <a:srgbClr val="FF9933"/>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9842989-0E8D-4899-833E-48994C292F41}"/>
                </a:ext>
              </a:extLst>
            </p:cNvPr>
            <p:cNvCxnSpPr>
              <a:cxnSpLocks/>
            </p:cNvCxnSpPr>
            <p:nvPr/>
          </p:nvCxnSpPr>
          <p:spPr>
            <a:xfrm>
              <a:off x="1311564" y="3632640"/>
              <a:ext cx="3694537" cy="0"/>
            </a:xfrm>
            <a:prstGeom prst="line">
              <a:avLst/>
            </a:prstGeom>
            <a:ln w="28575">
              <a:solidFill>
                <a:srgbClr val="FF9933"/>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BAFBD79-6BFA-41DF-8DE8-84BDDF5947C3}"/>
                </a:ext>
              </a:extLst>
            </p:cNvPr>
            <p:cNvCxnSpPr>
              <a:cxnSpLocks/>
            </p:cNvCxnSpPr>
            <p:nvPr/>
          </p:nvCxnSpPr>
          <p:spPr>
            <a:xfrm>
              <a:off x="1311564" y="4352979"/>
              <a:ext cx="3694537" cy="0"/>
            </a:xfrm>
            <a:prstGeom prst="line">
              <a:avLst/>
            </a:prstGeom>
            <a:ln w="28575">
              <a:solidFill>
                <a:srgbClr val="FF9933"/>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649CD98-4F71-465F-BB45-7D9179387114}"/>
                </a:ext>
              </a:extLst>
            </p:cNvPr>
            <p:cNvCxnSpPr>
              <a:cxnSpLocks/>
            </p:cNvCxnSpPr>
            <p:nvPr/>
          </p:nvCxnSpPr>
          <p:spPr>
            <a:xfrm>
              <a:off x="1311564" y="5073318"/>
              <a:ext cx="3694537" cy="0"/>
            </a:xfrm>
            <a:prstGeom prst="line">
              <a:avLst/>
            </a:prstGeom>
            <a:ln w="28575">
              <a:solidFill>
                <a:srgbClr val="FF9933"/>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1DC4EE86-EEF7-46AD-915C-C8D8326ED5B2}"/>
                </a:ext>
              </a:extLst>
            </p:cNvPr>
            <p:cNvCxnSpPr>
              <a:cxnSpLocks/>
            </p:cNvCxnSpPr>
            <p:nvPr/>
          </p:nvCxnSpPr>
          <p:spPr>
            <a:xfrm flipH="1" flipV="1">
              <a:off x="4271812" y="2201023"/>
              <a:ext cx="2" cy="3588104"/>
            </a:xfrm>
            <a:prstGeom prst="line">
              <a:avLst/>
            </a:prstGeom>
            <a:ln w="28575">
              <a:solidFill>
                <a:srgbClr val="FF9933"/>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C61F82E-4E79-4286-881B-38D05569378B}"/>
                </a:ext>
              </a:extLst>
            </p:cNvPr>
            <p:cNvCxnSpPr>
              <a:cxnSpLocks/>
            </p:cNvCxnSpPr>
            <p:nvPr/>
          </p:nvCxnSpPr>
          <p:spPr>
            <a:xfrm flipH="1" flipV="1">
              <a:off x="3546753" y="2201023"/>
              <a:ext cx="2" cy="3588104"/>
            </a:xfrm>
            <a:prstGeom prst="line">
              <a:avLst/>
            </a:prstGeom>
            <a:ln w="28575">
              <a:solidFill>
                <a:srgbClr val="FF9933"/>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4BF80C76-8723-4D93-BE8E-1F71BBF95811}"/>
                </a:ext>
              </a:extLst>
            </p:cNvPr>
            <p:cNvCxnSpPr>
              <a:cxnSpLocks/>
            </p:cNvCxnSpPr>
            <p:nvPr/>
          </p:nvCxnSpPr>
          <p:spPr>
            <a:xfrm flipH="1" flipV="1">
              <a:off x="2791688" y="2201023"/>
              <a:ext cx="2" cy="3588104"/>
            </a:xfrm>
            <a:prstGeom prst="line">
              <a:avLst/>
            </a:prstGeom>
            <a:ln w="28575">
              <a:solidFill>
                <a:srgbClr val="FF9933"/>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69311EA3-AB1E-47A1-9245-5843A134549C}"/>
                </a:ext>
              </a:extLst>
            </p:cNvPr>
            <p:cNvCxnSpPr>
              <a:cxnSpLocks/>
            </p:cNvCxnSpPr>
            <p:nvPr/>
          </p:nvCxnSpPr>
          <p:spPr>
            <a:xfrm flipH="1" flipV="1">
              <a:off x="2045851" y="2201023"/>
              <a:ext cx="2" cy="3588104"/>
            </a:xfrm>
            <a:prstGeom prst="line">
              <a:avLst/>
            </a:prstGeom>
            <a:ln w="28575">
              <a:solidFill>
                <a:srgbClr val="FF9933"/>
              </a:solidFill>
            </a:ln>
          </p:spPr>
          <p:style>
            <a:lnRef idx="1">
              <a:schemeClr val="accent1"/>
            </a:lnRef>
            <a:fillRef idx="0">
              <a:schemeClr val="accent1"/>
            </a:fillRef>
            <a:effectRef idx="0">
              <a:schemeClr val="accent1"/>
            </a:effectRef>
            <a:fontRef idx="minor">
              <a:schemeClr val="tx1"/>
            </a:fontRef>
          </p:style>
        </p:cxnSp>
      </p:grpSp>
      <p:sp>
        <p:nvSpPr>
          <p:cNvPr id="42" name="TextBox 41">
            <a:extLst>
              <a:ext uri="{FF2B5EF4-FFF2-40B4-BE49-F238E27FC236}">
                <a16:creationId xmlns:a16="http://schemas.microsoft.com/office/drawing/2014/main" id="{9FD5C05C-4AC5-4640-8089-888D9C5FD2F8}"/>
              </a:ext>
            </a:extLst>
          </p:cNvPr>
          <p:cNvSpPr txBox="1"/>
          <p:nvPr/>
        </p:nvSpPr>
        <p:spPr>
          <a:xfrm>
            <a:off x="5541818" y="2629028"/>
            <a:ext cx="6082146" cy="830997"/>
          </a:xfrm>
          <a:prstGeom prst="rect">
            <a:avLst/>
          </a:prstGeom>
          <a:noFill/>
        </p:spPr>
        <p:txBody>
          <a:bodyPr wrap="square" rtlCol="0">
            <a:spAutoFit/>
          </a:bodyPr>
          <a:lstStyle/>
          <a:p>
            <a:pPr marL="360363" indent="-360363"/>
            <a:r>
              <a:rPr lang="en-SG" sz="2400" dirty="0"/>
              <a:t>2.	Now, at least one of these small squares would contain at least 3 points. (Why?)</a:t>
            </a:r>
          </a:p>
        </p:txBody>
      </p:sp>
      <p:sp>
        <p:nvSpPr>
          <p:cNvPr id="48" name="TextBox 47">
            <a:extLst>
              <a:ext uri="{FF2B5EF4-FFF2-40B4-BE49-F238E27FC236}">
                <a16:creationId xmlns:a16="http://schemas.microsoft.com/office/drawing/2014/main" id="{DE7AD03B-AFE8-448B-9C40-67AF853AB601}"/>
              </a:ext>
            </a:extLst>
          </p:cNvPr>
          <p:cNvSpPr txBox="1"/>
          <p:nvPr/>
        </p:nvSpPr>
        <p:spPr>
          <a:xfrm>
            <a:off x="5541818" y="3589618"/>
            <a:ext cx="6082146" cy="1200329"/>
          </a:xfrm>
          <a:prstGeom prst="rect">
            <a:avLst/>
          </a:prstGeom>
          <a:noFill/>
        </p:spPr>
        <p:txBody>
          <a:bodyPr wrap="square" rtlCol="0">
            <a:spAutoFit/>
          </a:bodyPr>
          <a:lstStyle/>
          <a:p>
            <a:pPr marL="360363" indent="-360363"/>
            <a:r>
              <a:rPr lang="en-SG" sz="2400" dirty="0"/>
              <a:t>3.	Now, the circle circumvented around the small square with the 3 points inside also contains these 3 points as it has radius</a:t>
            </a:r>
          </a:p>
        </p:txBody>
      </p:sp>
      <p:sp>
        <p:nvSpPr>
          <p:cNvPr id="49" name="Oval 48">
            <a:extLst>
              <a:ext uri="{FF2B5EF4-FFF2-40B4-BE49-F238E27FC236}">
                <a16:creationId xmlns:a16="http://schemas.microsoft.com/office/drawing/2014/main" id="{98CE6449-3B6F-4B69-A10B-3D49C4186198}"/>
              </a:ext>
            </a:extLst>
          </p:cNvPr>
          <p:cNvSpPr/>
          <p:nvPr/>
        </p:nvSpPr>
        <p:spPr>
          <a:xfrm>
            <a:off x="3404143" y="4189783"/>
            <a:ext cx="997526" cy="1042204"/>
          </a:xfrm>
          <a:prstGeom prst="ellipse">
            <a:avLst/>
          </a:pr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55" name="Group 54">
            <a:extLst>
              <a:ext uri="{FF2B5EF4-FFF2-40B4-BE49-F238E27FC236}">
                <a16:creationId xmlns:a16="http://schemas.microsoft.com/office/drawing/2014/main" id="{3210CE95-920F-484D-A12D-1AD67508F4AD}"/>
              </a:ext>
            </a:extLst>
          </p:cNvPr>
          <p:cNvGrpSpPr/>
          <p:nvPr/>
        </p:nvGrpSpPr>
        <p:grpSpPr>
          <a:xfrm>
            <a:off x="3826111" y="4452730"/>
            <a:ext cx="355956" cy="386494"/>
            <a:chOff x="3826111" y="4452730"/>
            <a:chExt cx="355956" cy="386494"/>
          </a:xfrm>
        </p:grpSpPr>
        <p:sp>
          <p:nvSpPr>
            <p:cNvPr id="50" name="Oval 49">
              <a:extLst>
                <a:ext uri="{FF2B5EF4-FFF2-40B4-BE49-F238E27FC236}">
                  <a16:creationId xmlns:a16="http://schemas.microsoft.com/office/drawing/2014/main" id="{E01963D2-3FFF-407D-93EC-574978449E0D}"/>
                </a:ext>
              </a:extLst>
            </p:cNvPr>
            <p:cNvSpPr/>
            <p:nvPr/>
          </p:nvSpPr>
          <p:spPr>
            <a:xfrm>
              <a:off x="3912042" y="4452730"/>
              <a:ext cx="45719" cy="6344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2" name="Oval 51">
              <a:extLst>
                <a:ext uri="{FF2B5EF4-FFF2-40B4-BE49-F238E27FC236}">
                  <a16:creationId xmlns:a16="http://schemas.microsoft.com/office/drawing/2014/main" id="{B8BF8C2D-F029-4B72-B54D-FDFDD8DBADFD}"/>
                </a:ext>
              </a:extLst>
            </p:cNvPr>
            <p:cNvSpPr/>
            <p:nvPr/>
          </p:nvSpPr>
          <p:spPr>
            <a:xfrm>
              <a:off x="3826111" y="4775781"/>
              <a:ext cx="45719" cy="6344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4" name="Oval 53">
              <a:extLst>
                <a:ext uri="{FF2B5EF4-FFF2-40B4-BE49-F238E27FC236}">
                  <a16:creationId xmlns:a16="http://schemas.microsoft.com/office/drawing/2014/main" id="{17D3B444-4A67-40EE-8D73-27679B347DD5}"/>
                </a:ext>
              </a:extLst>
            </p:cNvPr>
            <p:cNvSpPr/>
            <p:nvPr/>
          </p:nvSpPr>
          <p:spPr>
            <a:xfrm>
              <a:off x="4136348" y="4699581"/>
              <a:ext cx="45719" cy="6344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F7E4D82E-7517-4A74-A183-98E796284E33}"/>
                  </a:ext>
                </a:extLst>
              </p:cNvPr>
              <p:cNvSpPr txBox="1"/>
              <p:nvPr/>
            </p:nvSpPr>
            <p:spPr>
              <a:xfrm>
                <a:off x="6197600" y="4954988"/>
                <a:ext cx="4851398" cy="91627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ad>
                        <m:radPr>
                          <m:degHide m:val="on"/>
                          <m:ctrlPr>
                            <a:rPr lang="en-SG" sz="2000" i="1" smtClean="0">
                              <a:latin typeface="Cambria Math" panose="02040503050406030204" pitchFamily="18" charset="0"/>
                            </a:rPr>
                          </m:ctrlPr>
                        </m:radPr>
                        <m:deg/>
                        <m:e>
                          <m:sSup>
                            <m:sSupPr>
                              <m:ctrlPr>
                                <a:rPr lang="en-SG" sz="2000" i="1" smtClean="0">
                                  <a:latin typeface="Cambria Math" panose="02040503050406030204" pitchFamily="18" charset="0"/>
                                </a:rPr>
                              </m:ctrlPr>
                            </m:sSupPr>
                            <m:e>
                              <m:d>
                                <m:dPr>
                                  <m:ctrlPr>
                                    <a:rPr lang="en-SG" sz="2000" b="0" i="1" smtClean="0">
                                      <a:latin typeface="Cambria Math" panose="02040503050406030204" pitchFamily="18" charset="0"/>
                                    </a:rPr>
                                  </m:ctrlPr>
                                </m:dPr>
                                <m:e>
                                  <m:f>
                                    <m:fPr>
                                      <m:ctrlPr>
                                        <a:rPr lang="en-SG" sz="2000" b="0" i="1" smtClean="0">
                                          <a:latin typeface="Cambria Math" panose="02040503050406030204" pitchFamily="18" charset="0"/>
                                        </a:rPr>
                                      </m:ctrlPr>
                                    </m:fPr>
                                    <m:num>
                                      <m:r>
                                        <a:rPr lang="en-SG" sz="2000" b="0" i="1" smtClean="0">
                                          <a:latin typeface="Cambria Math" panose="02040503050406030204" pitchFamily="18" charset="0"/>
                                        </a:rPr>
                                        <m:t>1</m:t>
                                      </m:r>
                                    </m:num>
                                    <m:den>
                                      <m:r>
                                        <a:rPr lang="en-SG" sz="2000" b="0" i="1" smtClean="0">
                                          <a:latin typeface="Cambria Math" panose="02040503050406030204" pitchFamily="18" charset="0"/>
                                        </a:rPr>
                                        <m:t>10</m:t>
                                      </m:r>
                                    </m:den>
                                  </m:f>
                                </m:e>
                              </m:d>
                            </m:e>
                            <m:sup>
                              <m:r>
                                <a:rPr lang="en-SG" sz="2000" b="0" i="1" smtClean="0">
                                  <a:latin typeface="Cambria Math" panose="02040503050406030204" pitchFamily="18" charset="0"/>
                                </a:rPr>
                                <m:t>2</m:t>
                              </m:r>
                            </m:sup>
                          </m:sSup>
                          <m:r>
                            <a:rPr lang="en-SG" sz="2000" b="0" i="1" smtClean="0">
                              <a:latin typeface="Cambria Math" panose="02040503050406030204" pitchFamily="18" charset="0"/>
                            </a:rPr>
                            <m:t>+</m:t>
                          </m:r>
                          <m:sSup>
                            <m:sSupPr>
                              <m:ctrlPr>
                                <a:rPr lang="en-SG" sz="2000" i="1">
                                  <a:latin typeface="Cambria Math" panose="02040503050406030204" pitchFamily="18" charset="0"/>
                                </a:rPr>
                              </m:ctrlPr>
                            </m:sSupPr>
                            <m:e>
                              <m:d>
                                <m:dPr>
                                  <m:ctrlPr>
                                    <a:rPr lang="en-SG" sz="2000" i="1">
                                      <a:latin typeface="Cambria Math" panose="02040503050406030204" pitchFamily="18" charset="0"/>
                                    </a:rPr>
                                  </m:ctrlPr>
                                </m:dPr>
                                <m:e>
                                  <m:f>
                                    <m:fPr>
                                      <m:ctrlPr>
                                        <a:rPr lang="en-SG" sz="2000" i="1">
                                          <a:latin typeface="Cambria Math" panose="02040503050406030204" pitchFamily="18" charset="0"/>
                                        </a:rPr>
                                      </m:ctrlPr>
                                    </m:fPr>
                                    <m:num>
                                      <m:r>
                                        <a:rPr lang="en-SG" sz="2000" i="1">
                                          <a:latin typeface="Cambria Math" panose="02040503050406030204" pitchFamily="18" charset="0"/>
                                        </a:rPr>
                                        <m:t>1</m:t>
                                      </m:r>
                                    </m:num>
                                    <m:den>
                                      <m:r>
                                        <a:rPr lang="en-SG" sz="2000" i="1">
                                          <a:latin typeface="Cambria Math" panose="02040503050406030204" pitchFamily="18" charset="0"/>
                                        </a:rPr>
                                        <m:t>10</m:t>
                                      </m:r>
                                    </m:den>
                                  </m:f>
                                </m:e>
                              </m:d>
                            </m:e>
                            <m:sup>
                              <m:r>
                                <a:rPr lang="en-SG" sz="2000" i="1">
                                  <a:latin typeface="Cambria Math" panose="02040503050406030204" pitchFamily="18" charset="0"/>
                                </a:rPr>
                                <m:t>2</m:t>
                              </m:r>
                            </m:sup>
                          </m:sSup>
                        </m:e>
                      </m:rad>
                      <m:r>
                        <a:rPr lang="en-SG" sz="2000" b="0" i="1" smtClean="0">
                          <a:latin typeface="Cambria Math" panose="02040503050406030204" pitchFamily="18" charset="0"/>
                        </a:rPr>
                        <m:t>=</m:t>
                      </m:r>
                      <m:rad>
                        <m:radPr>
                          <m:degHide m:val="on"/>
                          <m:ctrlPr>
                            <a:rPr lang="en-SG" sz="2000" b="0" i="1" smtClean="0">
                              <a:latin typeface="Cambria Math" panose="02040503050406030204" pitchFamily="18" charset="0"/>
                            </a:rPr>
                          </m:ctrlPr>
                        </m:radPr>
                        <m:deg/>
                        <m:e>
                          <m:f>
                            <m:fPr>
                              <m:ctrlPr>
                                <a:rPr lang="en-SG" sz="2000" b="0" i="1" smtClean="0">
                                  <a:latin typeface="Cambria Math" panose="02040503050406030204" pitchFamily="18" charset="0"/>
                                </a:rPr>
                              </m:ctrlPr>
                            </m:fPr>
                            <m:num>
                              <m:r>
                                <a:rPr lang="en-SG" sz="2000" b="0" i="1" smtClean="0">
                                  <a:latin typeface="Cambria Math" panose="02040503050406030204" pitchFamily="18" charset="0"/>
                                </a:rPr>
                                <m:t>1</m:t>
                              </m:r>
                            </m:num>
                            <m:den>
                              <m:r>
                                <a:rPr lang="en-SG" sz="2000" b="0" i="1" smtClean="0">
                                  <a:latin typeface="Cambria Math" panose="02040503050406030204" pitchFamily="18" charset="0"/>
                                </a:rPr>
                                <m:t>50</m:t>
                              </m:r>
                            </m:den>
                          </m:f>
                        </m:e>
                      </m:rad>
                      <m:r>
                        <a:rPr lang="en-SG" sz="2000" b="0" i="1" smtClean="0">
                          <a:latin typeface="Cambria Math" panose="02040503050406030204" pitchFamily="18" charset="0"/>
                        </a:rPr>
                        <m:t>&lt;</m:t>
                      </m:r>
                      <m:rad>
                        <m:radPr>
                          <m:degHide m:val="on"/>
                          <m:ctrlPr>
                            <a:rPr lang="en-SG" sz="2000" b="0" i="1" smtClean="0">
                              <a:latin typeface="Cambria Math" panose="02040503050406030204" pitchFamily="18" charset="0"/>
                            </a:rPr>
                          </m:ctrlPr>
                        </m:radPr>
                        <m:deg/>
                        <m:e>
                          <m:f>
                            <m:fPr>
                              <m:ctrlPr>
                                <a:rPr lang="en-SG" sz="2000" b="0" i="1" smtClean="0">
                                  <a:latin typeface="Cambria Math" panose="02040503050406030204" pitchFamily="18" charset="0"/>
                                </a:rPr>
                              </m:ctrlPr>
                            </m:fPr>
                            <m:num>
                              <m:r>
                                <a:rPr lang="en-SG" sz="2000" b="0" i="1" smtClean="0">
                                  <a:latin typeface="Cambria Math" panose="02040503050406030204" pitchFamily="18" charset="0"/>
                                </a:rPr>
                                <m:t>1</m:t>
                              </m:r>
                            </m:num>
                            <m:den>
                              <m:r>
                                <a:rPr lang="en-SG" sz="2000" b="0" i="1" smtClean="0">
                                  <a:latin typeface="Cambria Math" panose="02040503050406030204" pitchFamily="18" charset="0"/>
                                </a:rPr>
                                <m:t>49</m:t>
                              </m:r>
                            </m:den>
                          </m:f>
                        </m:e>
                      </m:rad>
                      <m:r>
                        <a:rPr lang="en-SG" sz="2000" b="0" i="1" smtClean="0">
                          <a:latin typeface="Cambria Math" panose="02040503050406030204" pitchFamily="18" charset="0"/>
                        </a:rPr>
                        <m:t>=</m:t>
                      </m:r>
                      <m:f>
                        <m:fPr>
                          <m:ctrlPr>
                            <a:rPr lang="en-SG" sz="2000" b="0" i="1" smtClean="0">
                              <a:latin typeface="Cambria Math" panose="02040503050406030204" pitchFamily="18" charset="0"/>
                            </a:rPr>
                          </m:ctrlPr>
                        </m:fPr>
                        <m:num>
                          <m:r>
                            <a:rPr lang="en-SG" sz="2000" b="0" i="1" smtClean="0">
                              <a:latin typeface="Cambria Math" panose="02040503050406030204" pitchFamily="18" charset="0"/>
                            </a:rPr>
                            <m:t>1</m:t>
                          </m:r>
                        </m:num>
                        <m:den>
                          <m:r>
                            <a:rPr lang="en-SG" sz="2000" b="0" i="1" smtClean="0">
                              <a:latin typeface="Cambria Math" panose="02040503050406030204" pitchFamily="18" charset="0"/>
                            </a:rPr>
                            <m:t>7</m:t>
                          </m:r>
                        </m:den>
                      </m:f>
                    </m:oMath>
                  </m:oMathPara>
                </a14:m>
                <a:endParaRPr lang="en-SG" sz="2000" dirty="0"/>
              </a:p>
            </p:txBody>
          </p:sp>
        </mc:Choice>
        <mc:Fallback xmlns="">
          <p:sp>
            <p:nvSpPr>
              <p:cNvPr id="56" name="TextBox 55">
                <a:extLst>
                  <a:ext uri="{FF2B5EF4-FFF2-40B4-BE49-F238E27FC236}">
                    <a16:creationId xmlns:a16="http://schemas.microsoft.com/office/drawing/2014/main" id="{F7E4D82E-7517-4A74-A183-98E796284E33}"/>
                  </a:ext>
                </a:extLst>
              </p:cNvPr>
              <p:cNvSpPr txBox="1">
                <a:spLocks noRot="1" noChangeAspect="1" noMove="1" noResize="1" noEditPoints="1" noAdjustHandles="1" noChangeArrowheads="1" noChangeShapeType="1" noTextEdit="1"/>
              </p:cNvSpPr>
              <p:nvPr/>
            </p:nvSpPr>
            <p:spPr>
              <a:xfrm>
                <a:off x="6197600" y="4954988"/>
                <a:ext cx="4851398" cy="916276"/>
              </a:xfrm>
              <a:prstGeom prst="rect">
                <a:avLst/>
              </a:prstGeom>
              <a:blipFill>
                <a:blip r:embed="rId2"/>
                <a:stretch>
                  <a:fillRect/>
                </a:stretch>
              </a:blipFill>
            </p:spPr>
            <p:txBody>
              <a:bodyPr/>
              <a:lstStyle/>
              <a:p>
                <a:r>
                  <a:rPr lang="en-SG">
                    <a:noFill/>
                  </a:rPr>
                  <a:t> </a:t>
                </a:r>
              </a:p>
            </p:txBody>
          </p:sp>
        </mc:Fallback>
      </mc:AlternateContent>
      <p:sp>
        <p:nvSpPr>
          <p:cNvPr id="44" name="TextBox 43">
            <a:extLst>
              <a:ext uri="{FF2B5EF4-FFF2-40B4-BE49-F238E27FC236}">
                <a16:creationId xmlns:a16="http://schemas.microsoft.com/office/drawing/2014/main" id="{75CDEDF6-9605-4839-B6B2-409397A4696A}"/>
              </a:ext>
            </a:extLst>
          </p:cNvPr>
          <p:cNvSpPr txBox="1"/>
          <p:nvPr/>
        </p:nvSpPr>
        <p:spPr>
          <a:xfrm>
            <a:off x="5541818" y="1674742"/>
            <a:ext cx="5999462" cy="830997"/>
          </a:xfrm>
          <a:prstGeom prst="rect">
            <a:avLst/>
          </a:prstGeom>
          <a:noFill/>
        </p:spPr>
        <p:txBody>
          <a:bodyPr wrap="square" rtlCol="0">
            <a:spAutoFit/>
          </a:bodyPr>
          <a:lstStyle/>
          <a:p>
            <a:pPr marL="360363" indent="-360363"/>
            <a:r>
              <a:rPr lang="en-SG" sz="2400" dirty="0"/>
              <a:t>1.	Divide the unit square into </a:t>
            </a:r>
            <a:r>
              <a:rPr lang="en-SG" sz="2400" dirty="0">
                <a:solidFill>
                  <a:srgbClr val="C00000"/>
                </a:solidFill>
              </a:rPr>
              <a:t>25</a:t>
            </a:r>
            <a:r>
              <a:rPr lang="en-SG" sz="2400" dirty="0"/>
              <a:t> equal smaller squares of side </a:t>
            </a:r>
            <a:r>
              <a:rPr lang="en-SG" sz="2400" dirty="0">
                <a:solidFill>
                  <a:srgbClr val="C00000"/>
                </a:solidFill>
              </a:rPr>
              <a:t>1/5</a:t>
            </a:r>
            <a:r>
              <a:rPr lang="en-SG" sz="2400" dirty="0"/>
              <a:t> each.</a:t>
            </a:r>
          </a:p>
        </p:txBody>
      </p:sp>
    </p:spTree>
    <p:extLst>
      <p:ext uri="{BB962C8B-B14F-4D97-AF65-F5344CB8AC3E}">
        <p14:creationId xmlns:p14="http://schemas.microsoft.com/office/powerpoint/2010/main" val="3525331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dissolve">
                                      <p:cBhvr>
                                        <p:cTn id="7" dur="500"/>
                                        <p:tgtEl>
                                          <p:spTgt spid="44"/>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41"/>
                                        </p:tgtEl>
                                        <p:attrNameLst>
                                          <p:attrName>style.visibility</p:attrName>
                                        </p:attrNameLst>
                                      </p:cBhvr>
                                      <p:to>
                                        <p:strVal val="visible"/>
                                      </p:to>
                                    </p:set>
                                    <p:animEffect transition="in" filter="dissolve">
                                      <p:cBhvr>
                                        <p:cTn id="11" dur="500"/>
                                        <p:tgtEl>
                                          <p:spTgt spid="41"/>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42"/>
                                        </p:tgtEl>
                                        <p:attrNameLst>
                                          <p:attrName>style.visibility</p:attrName>
                                        </p:attrNameLst>
                                      </p:cBhvr>
                                      <p:to>
                                        <p:strVal val="visible"/>
                                      </p:to>
                                    </p:set>
                                    <p:animEffect transition="in" filter="dissolve">
                                      <p:cBhvr>
                                        <p:cTn id="16" dur="500"/>
                                        <p:tgtEl>
                                          <p:spTgt spid="42"/>
                                        </p:tgtEl>
                                      </p:cBhvr>
                                    </p:animEffect>
                                  </p:childTnLst>
                                </p:cTn>
                              </p:par>
                            </p:childTnLst>
                          </p:cTn>
                        </p:par>
                        <p:par>
                          <p:cTn id="17" fill="hold">
                            <p:stCondLst>
                              <p:cond delay="500"/>
                            </p:stCondLst>
                            <p:childTnLst>
                              <p:par>
                                <p:cTn id="18" presetID="9" presetClass="entr" presetSubtype="0" fill="hold" nodeType="afterEffect">
                                  <p:stCondLst>
                                    <p:cond delay="0"/>
                                  </p:stCondLst>
                                  <p:childTnLst>
                                    <p:set>
                                      <p:cBhvr>
                                        <p:cTn id="19" dur="1" fill="hold">
                                          <p:stCondLst>
                                            <p:cond delay="0"/>
                                          </p:stCondLst>
                                        </p:cTn>
                                        <p:tgtEl>
                                          <p:spTgt spid="55"/>
                                        </p:tgtEl>
                                        <p:attrNameLst>
                                          <p:attrName>style.visibility</p:attrName>
                                        </p:attrNameLst>
                                      </p:cBhvr>
                                      <p:to>
                                        <p:strVal val="visible"/>
                                      </p:to>
                                    </p:set>
                                    <p:animEffect transition="in" filter="dissolve">
                                      <p:cBhvr>
                                        <p:cTn id="20" dur="500"/>
                                        <p:tgtEl>
                                          <p:spTgt spid="55"/>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48"/>
                                        </p:tgtEl>
                                        <p:attrNameLst>
                                          <p:attrName>style.visibility</p:attrName>
                                        </p:attrNameLst>
                                      </p:cBhvr>
                                      <p:to>
                                        <p:strVal val="visible"/>
                                      </p:to>
                                    </p:set>
                                    <p:animEffect transition="in" filter="dissolve">
                                      <p:cBhvr>
                                        <p:cTn id="25" dur="500"/>
                                        <p:tgtEl>
                                          <p:spTgt spid="48"/>
                                        </p:tgtEl>
                                      </p:cBhvr>
                                    </p:animEffect>
                                  </p:childTnLst>
                                </p:cTn>
                              </p:par>
                            </p:childTnLst>
                          </p:cTn>
                        </p:par>
                        <p:par>
                          <p:cTn id="26" fill="hold">
                            <p:stCondLst>
                              <p:cond delay="500"/>
                            </p:stCondLst>
                            <p:childTnLst>
                              <p:par>
                                <p:cTn id="27" presetID="9" presetClass="entr" presetSubtype="0" fill="hold" grpId="0" nodeType="afterEffect">
                                  <p:stCondLst>
                                    <p:cond delay="0"/>
                                  </p:stCondLst>
                                  <p:childTnLst>
                                    <p:set>
                                      <p:cBhvr>
                                        <p:cTn id="28" dur="1" fill="hold">
                                          <p:stCondLst>
                                            <p:cond delay="0"/>
                                          </p:stCondLst>
                                        </p:cTn>
                                        <p:tgtEl>
                                          <p:spTgt spid="49"/>
                                        </p:tgtEl>
                                        <p:attrNameLst>
                                          <p:attrName>style.visibility</p:attrName>
                                        </p:attrNameLst>
                                      </p:cBhvr>
                                      <p:to>
                                        <p:strVal val="visible"/>
                                      </p:to>
                                    </p:set>
                                    <p:animEffect transition="in" filter="dissolve">
                                      <p:cBhvr>
                                        <p:cTn id="29" dur="500"/>
                                        <p:tgtEl>
                                          <p:spTgt spid="49"/>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56"/>
                                        </p:tgtEl>
                                        <p:attrNameLst>
                                          <p:attrName>style.visibility</p:attrName>
                                        </p:attrNameLst>
                                      </p:cBhvr>
                                      <p:to>
                                        <p:strVal val="visible"/>
                                      </p:to>
                                    </p:set>
                                    <p:animEffect transition="in" filter="dissolve">
                                      <p:cBhvr>
                                        <p:cTn id="34"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8" grpId="0"/>
      <p:bldP spid="49" grpId="0" animBg="1"/>
      <p:bldP spid="56" grpId="0"/>
      <p:bldP spid="4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9532D-7B1D-4496-906D-F1887FE508D2}"/>
              </a:ext>
            </a:extLst>
          </p:cNvPr>
          <p:cNvSpPr>
            <a:spLocks noGrp="1"/>
          </p:cNvSpPr>
          <p:nvPr>
            <p:ph type="title"/>
          </p:nvPr>
        </p:nvSpPr>
        <p:spPr>
          <a:xfrm>
            <a:off x="314662" y="226852"/>
            <a:ext cx="1097585" cy="895927"/>
          </a:xfrm>
        </p:spPr>
        <p:txBody>
          <a:bodyPr>
            <a:normAutofit/>
          </a:bodyPr>
          <a:lstStyle/>
          <a:p>
            <a:pPr>
              <a:lnSpc>
                <a:spcPct val="100000"/>
              </a:lnSpc>
            </a:pPr>
            <a:r>
              <a:rPr lang="en-SG" dirty="0" err="1">
                <a:solidFill>
                  <a:schemeClr val="bg2">
                    <a:lumMod val="50000"/>
                  </a:schemeClr>
                </a:solidFill>
              </a:rPr>
              <a:t>Q9</a:t>
            </a:r>
            <a:r>
              <a:rPr lang="en-SG" dirty="0">
                <a:solidFill>
                  <a:schemeClr val="bg2">
                    <a:lumMod val="50000"/>
                  </a:schemeClr>
                </a:solidFill>
              </a:rPr>
              <a:t>.</a:t>
            </a:r>
            <a:endParaRPr lang="en-SG" dirty="0">
              <a:solidFill>
                <a:schemeClr val="bg2">
                  <a:lumMod val="50000"/>
                </a:schemeClr>
              </a:solidFill>
              <a:latin typeface="Cambria Math" panose="02040503050406030204" pitchFamily="18" charset="0"/>
              <a:ea typeface="Cambria Math" panose="02040503050406030204" pitchFamily="18" charset="0"/>
            </a:endParaRPr>
          </a:p>
        </p:txBody>
      </p:sp>
      <p:sp>
        <p:nvSpPr>
          <p:cNvPr id="10" name="Slide Number Placeholder 1"/>
          <p:cNvSpPr>
            <a:spLocks noGrp="1"/>
          </p:cNvSpPr>
          <p:nvPr>
            <p:ph type="sldNum" sz="quarter" idx="12"/>
          </p:nvPr>
        </p:nvSpPr>
        <p:spPr>
          <a:xfrm>
            <a:off x="10485783" y="6492875"/>
            <a:ext cx="1706217" cy="365125"/>
          </a:xfrm>
        </p:spPr>
        <p:txBody>
          <a:bodyPr/>
          <a:lstStyle/>
          <a:p>
            <a:fld id="{576A5E36-E009-4840-A577-F8CF29116582}" type="slidenum">
              <a:rPr lang="en-US" sz="1600" smtClean="0">
                <a:solidFill>
                  <a:schemeClr val="bg1"/>
                </a:solidFill>
              </a:rPr>
              <a:t>16</a:t>
            </a:fld>
            <a:endParaRPr lang="en-US" sz="1600" dirty="0">
              <a:solidFill>
                <a:schemeClr val="bg1"/>
              </a:solidFill>
            </a:endParaRPr>
          </a:p>
        </p:txBody>
      </p:sp>
      <p:sp>
        <p:nvSpPr>
          <p:cNvPr id="3" name="Rectangle 2">
            <a:extLst>
              <a:ext uri="{FF2B5EF4-FFF2-40B4-BE49-F238E27FC236}">
                <a16:creationId xmlns:a16="http://schemas.microsoft.com/office/drawing/2014/main" id="{030F0D61-9C20-451D-ABB1-6AE5B568F9A3}"/>
              </a:ext>
            </a:extLst>
          </p:cNvPr>
          <p:cNvSpPr/>
          <p:nvPr/>
        </p:nvSpPr>
        <p:spPr>
          <a:xfrm>
            <a:off x="1311564" y="2201023"/>
            <a:ext cx="3694537" cy="3588104"/>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cxnSp>
        <p:nvCxnSpPr>
          <p:cNvPr id="20" name="Straight Connector 19">
            <a:extLst>
              <a:ext uri="{FF2B5EF4-FFF2-40B4-BE49-F238E27FC236}">
                <a16:creationId xmlns:a16="http://schemas.microsoft.com/office/drawing/2014/main" id="{49842989-0E8D-4899-833E-48994C292F41}"/>
              </a:ext>
            </a:extLst>
          </p:cNvPr>
          <p:cNvCxnSpPr>
            <a:cxnSpLocks/>
          </p:cNvCxnSpPr>
          <p:nvPr/>
        </p:nvCxnSpPr>
        <p:spPr>
          <a:xfrm>
            <a:off x="1311564" y="3105666"/>
            <a:ext cx="3694537" cy="0"/>
          </a:xfrm>
          <a:prstGeom prst="line">
            <a:avLst/>
          </a:prstGeom>
          <a:ln w="28575">
            <a:solidFill>
              <a:srgbClr val="FF9933"/>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BAFBD79-6BFA-41DF-8DE8-84BDDF5947C3}"/>
              </a:ext>
            </a:extLst>
          </p:cNvPr>
          <p:cNvCxnSpPr>
            <a:cxnSpLocks/>
          </p:cNvCxnSpPr>
          <p:nvPr/>
        </p:nvCxnSpPr>
        <p:spPr>
          <a:xfrm>
            <a:off x="1284515" y="3986119"/>
            <a:ext cx="3694537" cy="0"/>
          </a:xfrm>
          <a:prstGeom prst="line">
            <a:avLst/>
          </a:prstGeom>
          <a:ln w="28575">
            <a:solidFill>
              <a:srgbClr val="FF9933"/>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649CD98-4F71-465F-BB45-7D9179387114}"/>
              </a:ext>
            </a:extLst>
          </p:cNvPr>
          <p:cNvCxnSpPr>
            <a:cxnSpLocks/>
          </p:cNvCxnSpPr>
          <p:nvPr/>
        </p:nvCxnSpPr>
        <p:spPr>
          <a:xfrm>
            <a:off x="1311564" y="4922947"/>
            <a:ext cx="3694537" cy="0"/>
          </a:xfrm>
          <a:prstGeom prst="line">
            <a:avLst/>
          </a:prstGeom>
          <a:ln w="28575">
            <a:solidFill>
              <a:srgbClr val="FF9933"/>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C61F82E-4E79-4286-881B-38D05569378B}"/>
              </a:ext>
            </a:extLst>
          </p:cNvPr>
          <p:cNvCxnSpPr>
            <a:cxnSpLocks/>
          </p:cNvCxnSpPr>
          <p:nvPr/>
        </p:nvCxnSpPr>
        <p:spPr>
          <a:xfrm flipH="1" flipV="1">
            <a:off x="4093781" y="2201023"/>
            <a:ext cx="2" cy="3588104"/>
          </a:xfrm>
          <a:prstGeom prst="line">
            <a:avLst/>
          </a:prstGeom>
          <a:ln w="28575">
            <a:solidFill>
              <a:srgbClr val="FF9933"/>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4BF80C76-8723-4D93-BE8E-1F71BBF95811}"/>
              </a:ext>
            </a:extLst>
          </p:cNvPr>
          <p:cNvCxnSpPr>
            <a:cxnSpLocks/>
          </p:cNvCxnSpPr>
          <p:nvPr/>
        </p:nvCxnSpPr>
        <p:spPr>
          <a:xfrm flipH="1" flipV="1">
            <a:off x="3153937" y="2201023"/>
            <a:ext cx="2" cy="3588104"/>
          </a:xfrm>
          <a:prstGeom prst="line">
            <a:avLst/>
          </a:prstGeom>
          <a:ln w="28575">
            <a:solidFill>
              <a:srgbClr val="FF9933"/>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69311EA3-AB1E-47A1-9245-5843A134549C}"/>
              </a:ext>
            </a:extLst>
          </p:cNvPr>
          <p:cNvCxnSpPr>
            <a:cxnSpLocks/>
          </p:cNvCxnSpPr>
          <p:nvPr/>
        </p:nvCxnSpPr>
        <p:spPr>
          <a:xfrm flipH="1" flipV="1">
            <a:off x="2237626" y="2201023"/>
            <a:ext cx="2" cy="3588104"/>
          </a:xfrm>
          <a:prstGeom prst="line">
            <a:avLst/>
          </a:prstGeom>
          <a:ln w="28575">
            <a:solidFill>
              <a:srgbClr val="FF9933"/>
            </a:solidFil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9FD5C05C-4AC5-4640-8089-888D9C5FD2F8}"/>
              </a:ext>
            </a:extLst>
          </p:cNvPr>
          <p:cNvSpPr txBox="1"/>
          <p:nvPr/>
        </p:nvSpPr>
        <p:spPr>
          <a:xfrm>
            <a:off x="5541818" y="2143209"/>
            <a:ext cx="6082146" cy="830997"/>
          </a:xfrm>
          <a:prstGeom prst="rect">
            <a:avLst/>
          </a:prstGeom>
          <a:noFill/>
        </p:spPr>
        <p:txBody>
          <a:bodyPr wrap="square" rtlCol="0">
            <a:spAutoFit/>
          </a:bodyPr>
          <a:lstStyle/>
          <a:p>
            <a:pPr marL="360363" indent="-360363"/>
            <a:r>
              <a:rPr lang="en-SG" sz="2400" dirty="0"/>
              <a:t>2.	Now, at least one of these small squares would contain at least 3 points. (Why?)</a:t>
            </a:r>
          </a:p>
        </p:txBody>
      </p:sp>
      <p:sp>
        <p:nvSpPr>
          <p:cNvPr id="44" name="TextBox 43">
            <a:extLst>
              <a:ext uri="{FF2B5EF4-FFF2-40B4-BE49-F238E27FC236}">
                <a16:creationId xmlns:a16="http://schemas.microsoft.com/office/drawing/2014/main" id="{75CDEDF6-9605-4839-B6B2-409397A4696A}"/>
              </a:ext>
            </a:extLst>
          </p:cNvPr>
          <p:cNvSpPr txBox="1"/>
          <p:nvPr/>
        </p:nvSpPr>
        <p:spPr>
          <a:xfrm>
            <a:off x="5541818" y="1356892"/>
            <a:ext cx="5999462" cy="830997"/>
          </a:xfrm>
          <a:prstGeom prst="rect">
            <a:avLst/>
          </a:prstGeom>
          <a:noFill/>
        </p:spPr>
        <p:txBody>
          <a:bodyPr wrap="square" rtlCol="0">
            <a:spAutoFit/>
          </a:bodyPr>
          <a:lstStyle/>
          <a:p>
            <a:pPr marL="360363" indent="-360363"/>
            <a:r>
              <a:rPr lang="en-SG" sz="2400" dirty="0"/>
              <a:t>1.	Divide the unit square into </a:t>
            </a:r>
            <a:r>
              <a:rPr lang="en-SG" sz="2400" dirty="0">
                <a:solidFill>
                  <a:srgbClr val="C00000"/>
                </a:solidFill>
              </a:rPr>
              <a:t>16</a:t>
            </a:r>
            <a:r>
              <a:rPr lang="en-SG" sz="2400" dirty="0"/>
              <a:t> equal smaller squares of side </a:t>
            </a:r>
            <a:r>
              <a:rPr lang="en-SG" sz="2400" dirty="0">
                <a:solidFill>
                  <a:srgbClr val="C00000"/>
                </a:solidFill>
              </a:rPr>
              <a:t>1/4</a:t>
            </a:r>
            <a:r>
              <a:rPr lang="en-SG" sz="2400" dirty="0"/>
              <a:t> each.</a:t>
            </a:r>
          </a:p>
        </p:txBody>
      </p:sp>
      <p:sp>
        <p:nvSpPr>
          <p:cNvPr id="48" name="TextBox 47">
            <a:extLst>
              <a:ext uri="{FF2B5EF4-FFF2-40B4-BE49-F238E27FC236}">
                <a16:creationId xmlns:a16="http://schemas.microsoft.com/office/drawing/2014/main" id="{DE7AD03B-AFE8-448B-9C40-67AF853AB601}"/>
              </a:ext>
            </a:extLst>
          </p:cNvPr>
          <p:cNvSpPr txBox="1"/>
          <p:nvPr/>
        </p:nvSpPr>
        <p:spPr>
          <a:xfrm>
            <a:off x="5368036" y="4133376"/>
            <a:ext cx="6082146" cy="1569660"/>
          </a:xfrm>
          <a:prstGeom prst="rect">
            <a:avLst/>
          </a:prstGeom>
          <a:noFill/>
        </p:spPr>
        <p:txBody>
          <a:bodyPr wrap="square" rtlCol="0">
            <a:spAutoFit/>
          </a:bodyPr>
          <a:lstStyle/>
          <a:p>
            <a:r>
              <a:rPr lang="en-SG" sz="2400" dirty="0">
                <a:solidFill>
                  <a:srgbClr val="C00000"/>
                </a:solidFill>
              </a:rPr>
              <a:t>Although the area of the small square &lt; area of the circle, the radius of the smallest circle that covers the small square completely is </a:t>
            </a:r>
          </a:p>
          <a:p>
            <a:endParaRPr lang="en-SG" sz="2400" dirty="0"/>
          </a:p>
        </p:txBody>
      </p:sp>
      <p:sp>
        <p:nvSpPr>
          <p:cNvPr id="49" name="Oval 48">
            <a:extLst>
              <a:ext uri="{FF2B5EF4-FFF2-40B4-BE49-F238E27FC236}">
                <a16:creationId xmlns:a16="http://schemas.microsoft.com/office/drawing/2014/main" id="{98CE6449-3B6F-4B69-A10B-3D49C4186198}"/>
              </a:ext>
            </a:extLst>
          </p:cNvPr>
          <p:cNvSpPr/>
          <p:nvPr/>
        </p:nvSpPr>
        <p:spPr>
          <a:xfrm>
            <a:off x="2951181" y="3796428"/>
            <a:ext cx="1323186" cy="1329749"/>
          </a:xfrm>
          <a:prstGeom prst="ellipse">
            <a:avLst/>
          </a:prstGeom>
          <a:no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dirty="0"/>
          </a:p>
        </p:txBody>
      </p:sp>
      <p:grpSp>
        <p:nvGrpSpPr>
          <p:cNvPr id="55" name="Group 54">
            <a:extLst>
              <a:ext uri="{FF2B5EF4-FFF2-40B4-BE49-F238E27FC236}">
                <a16:creationId xmlns:a16="http://schemas.microsoft.com/office/drawing/2014/main" id="{3210CE95-920F-484D-A12D-1AD67508F4AD}"/>
              </a:ext>
            </a:extLst>
          </p:cNvPr>
          <p:cNvGrpSpPr/>
          <p:nvPr/>
        </p:nvGrpSpPr>
        <p:grpSpPr>
          <a:xfrm>
            <a:off x="3515874" y="4252522"/>
            <a:ext cx="355956" cy="386494"/>
            <a:chOff x="3826111" y="4452730"/>
            <a:chExt cx="355956" cy="386494"/>
          </a:xfrm>
        </p:grpSpPr>
        <p:sp>
          <p:nvSpPr>
            <p:cNvPr id="50" name="Oval 49">
              <a:extLst>
                <a:ext uri="{FF2B5EF4-FFF2-40B4-BE49-F238E27FC236}">
                  <a16:creationId xmlns:a16="http://schemas.microsoft.com/office/drawing/2014/main" id="{E01963D2-3FFF-407D-93EC-574978449E0D}"/>
                </a:ext>
              </a:extLst>
            </p:cNvPr>
            <p:cNvSpPr/>
            <p:nvPr/>
          </p:nvSpPr>
          <p:spPr>
            <a:xfrm>
              <a:off x="3912042" y="4452730"/>
              <a:ext cx="45719" cy="6344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2" name="Oval 51">
              <a:extLst>
                <a:ext uri="{FF2B5EF4-FFF2-40B4-BE49-F238E27FC236}">
                  <a16:creationId xmlns:a16="http://schemas.microsoft.com/office/drawing/2014/main" id="{B8BF8C2D-F029-4B72-B54D-FDFDD8DBADFD}"/>
                </a:ext>
              </a:extLst>
            </p:cNvPr>
            <p:cNvSpPr/>
            <p:nvPr/>
          </p:nvSpPr>
          <p:spPr>
            <a:xfrm>
              <a:off x="3826111" y="4775781"/>
              <a:ext cx="45719" cy="6344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54" name="Oval 53">
              <a:extLst>
                <a:ext uri="{FF2B5EF4-FFF2-40B4-BE49-F238E27FC236}">
                  <a16:creationId xmlns:a16="http://schemas.microsoft.com/office/drawing/2014/main" id="{17D3B444-4A67-40EE-8D73-27679B347DD5}"/>
                </a:ext>
              </a:extLst>
            </p:cNvPr>
            <p:cNvSpPr/>
            <p:nvPr/>
          </p:nvSpPr>
          <p:spPr>
            <a:xfrm>
              <a:off x="4136348" y="4699581"/>
              <a:ext cx="45719" cy="6344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SG"/>
            </a:p>
          </p:txBody>
        </p:sp>
      </p:grp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F7E4D82E-7517-4A74-A183-98E796284E33}"/>
                  </a:ext>
                </a:extLst>
              </p:cNvPr>
              <p:cNvSpPr txBox="1"/>
              <p:nvPr/>
            </p:nvSpPr>
            <p:spPr>
              <a:xfrm>
                <a:off x="5452358" y="5392155"/>
                <a:ext cx="4851398" cy="91627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ad>
                        <m:radPr>
                          <m:degHide m:val="on"/>
                          <m:ctrlPr>
                            <a:rPr lang="en-SG" sz="2000" i="1" smtClean="0">
                              <a:latin typeface="Cambria Math" panose="02040503050406030204" pitchFamily="18" charset="0"/>
                            </a:rPr>
                          </m:ctrlPr>
                        </m:radPr>
                        <m:deg/>
                        <m:e>
                          <m:sSup>
                            <m:sSupPr>
                              <m:ctrlPr>
                                <a:rPr lang="en-SG" sz="2000" i="1" smtClean="0">
                                  <a:latin typeface="Cambria Math" panose="02040503050406030204" pitchFamily="18" charset="0"/>
                                </a:rPr>
                              </m:ctrlPr>
                            </m:sSupPr>
                            <m:e>
                              <m:d>
                                <m:dPr>
                                  <m:ctrlPr>
                                    <a:rPr lang="en-SG" sz="2000" b="0" i="1" smtClean="0">
                                      <a:latin typeface="Cambria Math" panose="02040503050406030204" pitchFamily="18" charset="0"/>
                                    </a:rPr>
                                  </m:ctrlPr>
                                </m:dPr>
                                <m:e>
                                  <m:f>
                                    <m:fPr>
                                      <m:ctrlPr>
                                        <a:rPr lang="en-SG" sz="2000" b="0" i="1" smtClean="0">
                                          <a:latin typeface="Cambria Math" panose="02040503050406030204" pitchFamily="18" charset="0"/>
                                        </a:rPr>
                                      </m:ctrlPr>
                                    </m:fPr>
                                    <m:num>
                                      <m:r>
                                        <a:rPr lang="en-SG" sz="2000" b="0" i="1" smtClean="0">
                                          <a:latin typeface="Cambria Math" panose="02040503050406030204" pitchFamily="18" charset="0"/>
                                        </a:rPr>
                                        <m:t>1</m:t>
                                      </m:r>
                                    </m:num>
                                    <m:den>
                                      <m:r>
                                        <a:rPr lang="en-SG" sz="2000" b="0" i="1" smtClean="0">
                                          <a:latin typeface="Cambria Math" panose="02040503050406030204" pitchFamily="18" charset="0"/>
                                        </a:rPr>
                                        <m:t>8</m:t>
                                      </m:r>
                                    </m:den>
                                  </m:f>
                                </m:e>
                              </m:d>
                            </m:e>
                            <m:sup>
                              <m:r>
                                <a:rPr lang="en-SG" sz="2000" b="0" i="1" smtClean="0">
                                  <a:latin typeface="Cambria Math" panose="02040503050406030204" pitchFamily="18" charset="0"/>
                                </a:rPr>
                                <m:t>2</m:t>
                              </m:r>
                            </m:sup>
                          </m:sSup>
                          <m:r>
                            <a:rPr lang="en-SG" sz="2000" b="0" i="1" smtClean="0">
                              <a:latin typeface="Cambria Math" panose="02040503050406030204" pitchFamily="18" charset="0"/>
                            </a:rPr>
                            <m:t>+</m:t>
                          </m:r>
                          <m:sSup>
                            <m:sSupPr>
                              <m:ctrlPr>
                                <a:rPr lang="en-SG" sz="2000" i="1">
                                  <a:latin typeface="Cambria Math" panose="02040503050406030204" pitchFamily="18" charset="0"/>
                                </a:rPr>
                              </m:ctrlPr>
                            </m:sSupPr>
                            <m:e>
                              <m:d>
                                <m:dPr>
                                  <m:ctrlPr>
                                    <a:rPr lang="en-SG" sz="2000" i="1">
                                      <a:latin typeface="Cambria Math" panose="02040503050406030204" pitchFamily="18" charset="0"/>
                                    </a:rPr>
                                  </m:ctrlPr>
                                </m:dPr>
                                <m:e>
                                  <m:f>
                                    <m:fPr>
                                      <m:ctrlPr>
                                        <a:rPr lang="en-SG" sz="2000" i="1">
                                          <a:latin typeface="Cambria Math" panose="02040503050406030204" pitchFamily="18" charset="0"/>
                                        </a:rPr>
                                      </m:ctrlPr>
                                    </m:fPr>
                                    <m:num>
                                      <m:r>
                                        <a:rPr lang="en-SG" sz="2000" i="1">
                                          <a:latin typeface="Cambria Math" panose="02040503050406030204" pitchFamily="18" charset="0"/>
                                        </a:rPr>
                                        <m:t>1</m:t>
                                      </m:r>
                                    </m:num>
                                    <m:den>
                                      <m:r>
                                        <a:rPr lang="en-SG" sz="2000" b="0" i="1" smtClean="0">
                                          <a:latin typeface="Cambria Math" panose="02040503050406030204" pitchFamily="18" charset="0"/>
                                        </a:rPr>
                                        <m:t>8</m:t>
                                      </m:r>
                                    </m:den>
                                  </m:f>
                                </m:e>
                              </m:d>
                            </m:e>
                            <m:sup>
                              <m:r>
                                <a:rPr lang="en-SG" sz="2000" i="1">
                                  <a:latin typeface="Cambria Math" panose="02040503050406030204" pitchFamily="18" charset="0"/>
                                </a:rPr>
                                <m:t>2</m:t>
                              </m:r>
                            </m:sup>
                          </m:sSup>
                        </m:e>
                      </m:rad>
                      <m:r>
                        <a:rPr lang="en-SG" sz="2000" b="0" i="1" smtClean="0">
                          <a:latin typeface="Cambria Math" panose="02040503050406030204" pitchFamily="18" charset="0"/>
                        </a:rPr>
                        <m:t>=</m:t>
                      </m:r>
                      <m:rad>
                        <m:radPr>
                          <m:degHide m:val="on"/>
                          <m:ctrlPr>
                            <a:rPr lang="en-SG" sz="2000" b="0" i="1" smtClean="0">
                              <a:latin typeface="Cambria Math" panose="02040503050406030204" pitchFamily="18" charset="0"/>
                            </a:rPr>
                          </m:ctrlPr>
                        </m:radPr>
                        <m:deg/>
                        <m:e>
                          <m:f>
                            <m:fPr>
                              <m:ctrlPr>
                                <a:rPr lang="en-SG" sz="2000" b="0" i="1" smtClean="0">
                                  <a:latin typeface="Cambria Math" panose="02040503050406030204" pitchFamily="18" charset="0"/>
                                </a:rPr>
                              </m:ctrlPr>
                            </m:fPr>
                            <m:num>
                              <m:r>
                                <a:rPr lang="en-SG" sz="2000" b="0" i="1" smtClean="0">
                                  <a:latin typeface="Cambria Math" panose="02040503050406030204" pitchFamily="18" charset="0"/>
                                </a:rPr>
                                <m:t>1</m:t>
                              </m:r>
                            </m:num>
                            <m:den>
                              <m:r>
                                <a:rPr lang="en-SG" sz="2000" b="0" i="1" smtClean="0">
                                  <a:latin typeface="Cambria Math" panose="02040503050406030204" pitchFamily="18" charset="0"/>
                                </a:rPr>
                                <m:t>32</m:t>
                              </m:r>
                            </m:den>
                          </m:f>
                        </m:e>
                      </m:rad>
                      <m:r>
                        <a:rPr lang="en-SG" sz="2000" b="0" i="1" smtClean="0">
                          <a:latin typeface="Cambria Math" panose="02040503050406030204" pitchFamily="18" charset="0"/>
                        </a:rPr>
                        <m:t>&gt;</m:t>
                      </m:r>
                      <m:f>
                        <m:fPr>
                          <m:ctrlPr>
                            <a:rPr lang="en-SG" sz="2000" b="0" i="1" smtClean="0">
                              <a:latin typeface="Cambria Math" panose="02040503050406030204" pitchFamily="18" charset="0"/>
                            </a:rPr>
                          </m:ctrlPr>
                        </m:fPr>
                        <m:num>
                          <m:r>
                            <a:rPr lang="en-SG" sz="2000" b="0" i="1" smtClean="0">
                              <a:latin typeface="Cambria Math" panose="02040503050406030204" pitchFamily="18" charset="0"/>
                            </a:rPr>
                            <m:t>1</m:t>
                          </m:r>
                        </m:num>
                        <m:den>
                          <m:r>
                            <a:rPr lang="en-SG" sz="2000" b="0" i="1" smtClean="0">
                              <a:latin typeface="Cambria Math" panose="02040503050406030204" pitchFamily="18" charset="0"/>
                            </a:rPr>
                            <m:t>7</m:t>
                          </m:r>
                        </m:den>
                      </m:f>
                    </m:oMath>
                  </m:oMathPara>
                </a14:m>
                <a:endParaRPr lang="en-SG" sz="2000" dirty="0"/>
              </a:p>
            </p:txBody>
          </p:sp>
        </mc:Choice>
        <mc:Fallback xmlns="">
          <p:sp>
            <p:nvSpPr>
              <p:cNvPr id="56" name="TextBox 55">
                <a:extLst>
                  <a:ext uri="{FF2B5EF4-FFF2-40B4-BE49-F238E27FC236}">
                    <a16:creationId xmlns:a16="http://schemas.microsoft.com/office/drawing/2014/main" id="{F7E4D82E-7517-4A74-A183-98E796284E33}"/>
                  </a:ext>
                </a:extLst>
              </p:cNvPr>
              <p:cNvSpPr txBox="1">
                <a:spLocks noRot="1" noChangeAspect="1" noMove="1" noResize="1" noEditPoints="1" noAdjustHandles="1" noChangeArrowheads="1" noChangeShapeType="1" noTextEdit="1"/>
              </p:cNvSpPr>
              <p:nvPr/>
            </p:nvSpPr>
            <p:spPr>
              <a:xfrm>
                <a:off x="5452358" y="5392155"/>
                <a:ext cx="4851398" cy="916276"/>
              </a:xfrm>
              <a:prstGeom prst="rect">
                <a:avLst/>
              </a:prstGeom>
              <a:blipFill>
                <a:blip r:embed="rId2"/>
                <a:stretch>
                  <a:fillRect/>
                </a:stretch>
              </a:blipFill>
            </p:spPr>
            <p:txBody>
              <a:bodyPr/>
              <a:lstStyle/>
              <a:p>
                <a:r>
                  <a:rPr lang="en-SG">
                    <a:noFill/>
                  </a:rPr>
                  <a:t> </a:t>
                </a:r>
              </a:p>
            </p:txBody>
          </p:sp>
        </mc:Fallback>
      </mc:AlternateContent>
      <p:sp>
        <p:nvSpPr>
          <p:cNvPr id="16" name="TextBox 15">
            <a:extLst>
              <a:ext uri="{FF2B5EF4-FFF2-40B4-BE49-F238E27FC236}">
                <a16:creationId xmlns:a16="http://schemas.microsoft.com/office/drawing/2014/main" id="{EB0DFBC8-AA41-4208-B68F-D289E4ACCA17}"/>
              </a:ext>
            </a:extLst>
          </p:cNvPr>
          <p:cNvSpPr txBox="1"/>
          <p:nvPr/>
        </p:nvSpPr>
        <p:spPr>
          <a:xfrm>
            <a:off x="2309090" y="1830743"/>
            <a:ext cx="3232728" cy="830997"/>
          </a:xfrm>
          <a:prstGeom prst="rect">
            <a:avLst/>
          </a:prstGeom>
          <a:solidFill>
            <a:srgbClr val="F9E1D3"/>
          </a:solidFill>
        </p:spPr>
        <p:txBody>
          <a:bodyPr wrap="square" rtlCol="0">
            <a:spAutoFit/>
          </a:bodyPr>
          <a:lstStyle/>
          <a:p>
            <a:pPr algn="ctr"/>
            <a:r>
              <a:rPr lang="en-SG" sz="2400" dirty="0">
                <a:solidFill>
                  <a:srgbClr val="C00000"/>
                </a:solidFill>
              </a:rPr>
              <a:t>WRONG ANSWER!</a:t>
            </a:r>
          </a:p>
          <a:p>
            <a:pPr algn="ctr"/>
            <a:r>
              <a:rPr lang="en-SG" sz="2400" dirty="0">
                <a:solidFill>
                  <a:srgbClr val="C00000"/>
                </a:solidFill>
              </a:rPr>
              <a:t>(Why?)</a:t>
            </a:r>
          </a:p>
        </p:txBody>
      </p:sp>
      <p:sp>
        <p:nvSpPr>
          <p:cNvPr id="17" name="TextBox 16">
            <a:extLst>
              <a:ext uri="{FF2B5EF4-FFF2-40B4-BE49-F238E27FC236}">
                <a16:creationId xmlns:a16="http://schemas.microsoft.com/office/drawing/2014/main" id="{F0E94F69-B11A-4E7D-ABF4-EF55A16F5D32}"/>
              </a:ext>
            </a:extLst>
          </p:cNvPr>
          <p:cNvSpPr txBox="1"/>
          <p:nvPr/>
        </p:nvSpPr>
        <p:spPr>
          <a:xfrm>
            <a:off x="5541818" y="2933047"/>
            <a:ext cx="6082146" cy="1200329"/>
          </a:xfrm>
          <a:prstGeom prst="rect">
            <a:avLst/>
          </a:prstGeom>
          <a:noFill/>
        </p:spPr>
        <p:txBody>
          <a:bodyPr wrap="square" rtlCol="0">
            <a:spAutoFit/>
          </a:bodyPr>
          <a:lstStyle/>
          <a:p>
            <a:pPr marL="360363" indent="-360363"/>
            <a:r>
              <a:rPr lang="en-SG" sz="2400" dirty="0"/>
              <a:t>3.	Now, the area of a small square is 1/16=0.0625, which is smaller than the area of a circle of radius 1/7 which is 0.0641.</a:t>
            </a:r>
          </a:p>
        </p:txBody>
      </p:sp>
      <p:sp>
        <p:nvSpPr>
          <p:cNvPr id="24" name="TextBox 23">
            <a:extLst>
              <a:ext uri="{FF2B5EF4-FFF2-40B4-BE49-F238E27FC236}">
                <a16:creationId xmlns:a16="http://schemas.microsoft.com/office/drawing/2014/main" id="{377F3A8B-1237-4F72-91E4-2A0C11E7C3BA}"/>
              </a:ext>
            </a:extLst>
          </p:cNvPr>
          <p:cNvSpPr txBox="1"/>
          <p:nvPr/>
        </p:nvSpPr>
        <p:spPr>
          <a:xfrm>
            <a:off x="1405777" y="372102"/>
            <a:ext cx="9945713" cy="954107"/>
          </a:xfrm>
          <a:prstGeom prst="rect">
            <a:avLst/>
          </a:prstGeom>
          <a:solidFill>
            <a:srgbClr val="CCECFF"/>
          </a:solidFill>
        </p:spPr>
        <p:txBody>
          <a:bodyPr wrap="square" rtlCol="0">
            <a:spAutoFit/>
          </a:bodyPr>
          <a:lstStyle/>
          <a:p>
            <a:r>
              <a:rPr lang="en-SG" sz="2800" dirty="0"/>
              <a:t>Prove that if you randomly put </a:t>
            </a:r>
            <a:r>
              <a:rPr lang="en-SG" sz="2800" dirty="0">
                <a:solidFill>
                  <a:srgbClr val="0000FF"/>
                </a:solidFill>
              </a:rPr>
              <a:t>51 points</a:t>
            </a:r>
            <a:r>
              <a:rPr lang="en-SG" sz="2800" dirty="0"/>
              <a:t> inside a unit square, there are always </a:t>
            </a:r>
            <a:r>
              <a:rPr lang="en-SG" sz="2800" dirty="0">
                <a:solidFill>
                  <a:srgbClr val="0000FF"/>
                </a:solidFill>
              </a:rPr>
              <a:t>3 points </a:t>
            </a:r>
            <a:r>
              <a:rPr lang="en-SG" sz="2800" dirty="0"/>
              <a:t>that can be covered by a circle of </a:t>
            </a:r>
            <a:r>
              <a:rPr lang="en-SG" sz="2800" dirty="0">
                <a:solidFill>
                  <a:srgbClr val="0000FF"/>
                </a:solidFill>
              </a:rPr>
              <a:t>radius 1/7</a:t>
            </a:r>
            <a:r>
              <a:rPr lang="en-SG" sz="2800" dirty="0"/>
              <a:t>.</a:t>
            </a:r>
          </a:p>
        </p:txBody>
      </p:sp>
    </p:spTree>
    <p:extLst>
      <p:ext uri="{BB962C8B-B14F-4D97-AF65-F5344CB8AC3E}">
        <p14:creationId xmlns:p14="http://schemas.microsoft.com/office/powerpoint/2010/main" val="2525256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9"/>
                                        </p:tgtEl>
                                        <p:attrNameLst>
                                          <p:attrName>style.visibility</p:attrName>
                                        </p:attrNameLst>
                                      </p:cBhvr>
                                      <p:to>
                                        <p:strVal val="visible"/>
                                      </p:to>
                                    </p:set>
                                    <p:animEffect transition="in" filter="dissolve">
                                      <p:cBhvr>
                                        <p:cTn id="12" dur="500"/>
                                        <p:tgtEl>
                                          <p:spTgt spid="49"/>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48"/>
                                        </p:tgtEl>
                                        <p:attrNameLst>
                                          <p:attrName>style.visibility</p:attrName>
                                        </p:attrNameLst>
                                      </p:cBhvr>
                                      <p:to>
                                        <p:strVal val="visible"/>
                                      </p:to>
                                    </p:set>
                                    <p:animEffect transition="in" filter="dissolve">
                                      <p:cBhvr>
                                        <p:cTn id="16" dur="500"/>
                                        <p:tgtEl>
                                          <p:spTgt spid="48"/>
                                        </p:tgtEl>
                                      </p:cBhvr>
                                    </p:animEffect>
                                  </p:childTnLst>
                                </p:cTn>
                              </p:par>
                            </p:childTnLst>
                          </p:cTn>
                        </p:par>
                        <p:par>
                          <p:cTn id="17" fill="hold">
                            <p:stCondLst>
                              <p:cond delay="1000"/>
                            </p:stCondLst>
                            <p:childTnLst>
                              <p:par>
                                <p:cTn id="18" presetID="9" presetClass="entr" presetSubtype="0" fill="hold" grpId="0" nodeType="afterEffect">
                                  <p:stCondLst>
                                    <p:cond delay="0"/>
                                  </p:stCondLst>
                                  <p:childTnLst>
                                    <p:set>
                                      <p:cBhvr>
                                        <p:cTn id="19" dur="1" fill="hold">
                                          <p:stCondLst>
                                            <p:cond delay="0"/>
                                          </p:stCondLst>
                                        </p:cTn>
                                        <p:tgtEl>
                                          <p:spTgt spid="56"/>
                                        </p:tgtEl>
                                        <p:attrNameLst>
                                          <p:attrName>style.visibility</p:attrName>
                                        </p:attrNameLst>
                                      </p:cBhvr>
                                      <p:to>
                                        <p:strVal val="visible"/>
                                      </p:to>
                                    </p:set>
                                    <p:animEffect transition="in" filter="dissolve">
                                      <p:cBhvr>
                                        <p:cTn id="20"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49" grpId="0" animBg="1"/>
      <p:bldP spid="56" grpId="0"/>
      <p:bldP spid="1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9532D-7B1D-4496-906D-F1887FE508D2}"/>
              </a:ext>
            </a:extLst>
          </p:cNvPr>
          <p:cNvSpPr>
            <a:spLocks noGrp="1"/>
          </p:cNvSpPr>
          <p:nvPr>
            <p:ph type="title"/>
          </p:nvPr>
        </p:nvSpPr>
        <p:spPr>
          <a:xfrm>
            <a:off x="314662" y="226852"/>
            <a:ext cx="1318424" cy="895927"/>
          </a:xfrm>
        </p:spPr>
        <p:txBody>
          <a:bodyPr>
            <a:normAutofit/>
          </a:bodyPr>
          <a:lstStyle/>
          <a:p>
            <a:pPr>
              <a:lnSpc>
                <a:spcPct val="100000"/>
              </a:lnSpc>
            </a:pPr>
            <a:r>
              <a:rPr lang="en-SG" dirty="0" err="1">
                <a:solidFill>
                  <a:schemeClr val="bg2">
                    <a:lumMod val="50000"/>
                  </a:schemeClr>
                </a:solidFill>
              </a:rPr>
              <a:t>Q10</a:t>
            </a:r>
            <a:r>
              <a:rPr lang="en-SG" dirty="0">
                <a:solidFill>
                  <a:schemeClr val="bg2">
                    <a:lumMod val="50000"/>
                  </a:schemeClr>
                </a:solidFill>
              </a:rPr>
              <a:t>.</a:t>
            </a:r>
            <a:endParaRPr lang="en-SG" dirty="0">
              <a:solidFill>
                <a:schemeClr val="bg2">
                  <a:lumMod val="50000"/>
                </a:schemeClr>
              </a:solidFill>
              <a:latin typeface="Cambria Math" panose="02040503050406030204" pitchFamily="18" charset="0"/>
              <a:ea typeface="Cambria Math" panose="02040503050406030204" pitchFamily="18" charset="0"/>
            </a:endParaRPr>
          </a:p>
        </p:txBody>
      </p:sp>
      <p:sp>
        <p:nvSpPr>
          <p:cNvPr id="10" name="Slide Number Placeholder 1"/>
          <p:cNvSpPr>
            <a:spLocks noGrp="1"/>
          </p:cNvSpPr>
          <p:nvPr>
            <p:ph type="sldNum" sz="quarter" idx="12"/>
          </p:nvPr>
        </p:nvSpPr>
        <p:spPr>
          <a:xfrm>
            <a:off x="10485783" y="6492875"/>
            <a:ext cx="1706217" cy="365125"/>
          </a:xfrm>
        </p:spPr>
        <p:txBody>
          <a:bodyPr/>
          <a:lstStyle/>
          <a:p>
            <a:fld id="{576A5E36-E009-4840-A577-F8CF29116582}" type="slidenum">
              <a:rPr lang="en-US" sz="1600" smtClean="0">
                <a:solidFill>
                  <a:schemeClr val="bg1"/>
                </a:solidFill>
              </a:rPr>
              <a:t>17</a:t>
            </a:fld>
            <a:endParaRPr lang="en-US" sz="1600" dirty="0">
              <a:solidFill>
                <a:schemeClr val="bg1"/>
              </a:solidFill>
            </a:endParaRPr>
          </a:p>
        </p:txBody>
      </p:sp>
      <p:sp>
        <p:nvSpPr>
          <p:cNvPr id="14" name="TextBox 13">
            <a:extLst>
              <a:ext uri="{FF2B5EF4-FFF2-40B4-BE49-F238E27FC236}">
                <a16:creationId xmlns:a16="http://schemas.microsoft.com/office/drawing/2014/main" id="{59FB7879-BCF9-4B1A-A2CC-BB0778FBDB53}"/>
              </a:ext>
            </a:extLst>
          </p:cNvPr>
          <p:cNvSpPr txBox="1"/>
          <p:nvPr/>
        </p:nvSpPr>
        <p:spPr>
          <a:xfrm>
            <a:off x="1633086" y="382427"/>
            <a:ext cx="8485275" cy="954107"/>
          </a:xfrm>
          <a:prstGeom prst="rect">
            <a:avLst/>
          </a:prstGeom>
          <a:noFill/>
        </p:spPr>
        <p:txBody>
          <a:bodyPr wrap="square" rtlCol="0">
            <a:spAutoFit/>
          </a:bodyPr>
          <a:lstStyle/>
          <a:p>
            <a:r>
              <a:rPr lang="en-US" sz="2800" dirty="0"/>
              <a:t>Show that given any 5 distinct non-negative integers, two of them have a difference that is divisible by 4</a:t>
            </a:r>
            <a:r>
              <a:rPr lang="en-SG" sz="2800" dirty="0"/>
              <a:t>.</a:t>
            </a:r>
            <a:endParaRPr lang="en-SG" sz="2800" dirty="0">
              <a:solidFill>
                <a:srgbClr val="0000FF"/>
              </a:solidFill>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2348F1F-111C-46D9-8566-4C09DE76762A}"/>
                  </a:ext>
                </a:extLst>
              </p:cNvPr>
              <p:cNvSpPr txBox="1"/>
              <p:nvPr/>
            </p:nvSpPr>
            <p:spPr>
              <a:xfrm>
                <a:off x="973874" y="1514285"/>
                <a:ext cx="9763462" cy="3724096"/>
              </a:xfrm>
              <a:prstGeom prst="rect">
                <a:avLst/>
              </a:prstGeom>
              <a:solidFill>
                <a:srgbClr val="FFFFCC"/>
              </a:solidFill>
            </p:spPr>
            <p:txBody>
              <a:bodyPr wrap="square" rtlCol="0">
                <a:spAutoFit/>
              </a:bodyPr>
              <a:lstStyle/>
              <a:p>
                <a:pPr marL="536575" indent="-536575">
                  <a:spcAft>
                    <a:spcPts val="600"/>
                  </a:spcAft>
                </a:pPr>
                <a:r>
                  <a:rPr lang="en-US" sz="2400" dirty="0"/>
                  <a:t>1.	</a:t>
                </a:r>
                <a:r>
                  <a:rPr lang="en-SG" sz="2400" dirty="0"/>
                  <a:t>Let </a:t>
                </a:r>
                <a14:m>
                  <m:oMath xmlns:m="http://schemas.openxmlformats.org/officeDocument/2006/math">
                    <m:sSub>
                      <m:sSubPr>
                        <m:ctrlPr>
                          <a:rPr lang="en-US" sz="2400" i="1">
                            <a:latin typeface="Cambria Math" panose="02040503050406030204" pitchFamily="18" charset="0"/>
                          </a:rPr>
                        </m:ctrlPr>
                      </m:sSubPr>
                      <m:e>
                        <m:r>
                          <a:rPr lang="en-SG" sz="2400" i="1">
                            <a:latin typeface="Cambria Math" panose="02040503050406030204" pitchFamily="18" charset="0"/>
                          </a:rPr>
                          <m:t>~</m:t>
                        </m:r>
                      </m:e>
                      <m:sub>
                        <m:r>
                          <a:rPr lang="en-SG" sz="2400" i="1">
                            <a:latin typeface="Cambria Math" panose="02040503050406030204" pitchFamily="18" charset="0"/>
                          </a:rPr>
                          <m:t>4</m:t>
                        </m:r>
                      </m:sub>
                    </m:sSub>
                  </m:oMath>
                </a14:m>
                <a:r>
                  <a:rPr lang="en-SG" sz="2400" dirty="0"/>
                  <a:t> denote the congruence-mod 4 relation on </a:t>
                </a:r>
                <a14:m>
                  <m:oMath xmlns:m="http://schemas.openxmlformats.org/officeDocument/2006/math">
                    <m:sSub>
                      <m:sSubPr>
                        <m:ctrlPr>
                          <a:rPr lang="en-US" sz="2400" i="1">
                            <a:latin typeface="Cambria Math" panose="02040503050406030204" pitchFamily="18" charset="0"/>
                          </a:rPr>
                        </m:ctrlPr>
                      </m:sSubPr>
                      <m:e>
                        <m:r>
                          <a:rPr lang="en-SG" sz="2400" i="1">
                            <a:latin typeface="Cambria Math" panose="02040503050406030204" pitchFamily="18" charset="0"/>
                          </a:rPr>
                          <m:t>ℤ</m:t>
                        </m:r>
                      </m:e>
                      <m:sub>
                        <m:r>
                          <a:rPr lang="en-SG" sz="2400" i="1">
                            <a:latin typeface="Cambria Math" panose="02040503050406030204" pitchFamily="18" charset="0"/>
                          </a:rPr>
                          <m:t>≥0</m:t>
                        </m:r>
                      </m:sub>
                    </m:sSub>
                  </m:oMath>
                </a14:m>
                <a:r>
                  <a:rPr lang="en-SG" sz="2400" dirty="0"/>
                  <a:t> and let the 4 pigeonholes be the equivalence classes </a:t>
                </a:r>
                <a14:m>
                  <m:oMath xmlns:m="http://schemas.openxmlformats.org/officeDocument/2006/math">
                    <m:d>
                      <m:dPr>
                        <m:begChr m:val="["/>
                        <m:endChr m:val="]"/>
                        <m:ctrlPr>
                          <a:rPr lang="en-US" sz="2400" i="1">
                            <a:latin typeface="Cambria Math" panose="02040503050406030204" pitchFamily="18" charset="0"/>
                          </a:rPr>
                        </m:ctrlPr>
                      </m:dPr>
                      <m:e>
                        <m:r>
                          <a:rPr lang="en-SG" sz="2400" i="1">
                            <a:latin typeface="Cambria Math" panose="02040503050406030204" pitchFamily="18" charset="0"/>
                          </a:rPr>
                          <m:t>0</m:t>
                        </m:r>
                      </m:e>
                    </m:d>
                    <m:r>
                      <a:rPr lang="en-SG" sz="2400" i="1">
                        <a:latin typeface="Cambria Math" panose="02040503050406030204" pitchFamily="18" charset="0"/>
                      </a:rPr>
                      <m:t>,</m:t>
                    </m:r>
                    <m:d>
                      <m:dPr>
                        <m:begChr m:val="["/>
                        <m:endChr m:val="]"/>
                        <m:ctrlPr>
                          <a:rPr lang="en-US" sz="2400" i="1">
                            <a:latin typeface="Cambria Math" panose="02040503050406030204" pitchFamily="18" charset="0"/>
                          </a:rPr>
                        </m:ctrlPr>
                      </m:dPr>
                      <m:e>
                        <m:r>
                          <a:rPr lang="en-SG" sz="2400" i="1">
                            <a:latin typeface="Cambria Math" panose="02040503050406030204" pitchFamily="18" charset="0"/>
                          </a:rPr>
                          <m:t>1</m:t>
                        </m:r>
                      </m:e>
                    </m:d>
                    <m:r>
                      <a:rPr lang="en-SG" sz="2400" i="1">
                        <a:latin typeface="Cambria Math" panose="02040503050406030204" pitchFamily="18" charset="0"/>
                      </a:rPr>
                      <m:t>,[2]</m:t>
                    </m:r>
                  </m:oMath>
                </a14:m>
                <a:r>
                  <a:rPr lang="en-SG" sz="2400" dirty="0"/>
                  <a:t> and </a:t>
                </a:r>
                <a14:m>
                  <m:oMath xmlns:m="http://schemas.openxmlformats.org/officeDocument/2006/math">
                    <m:r>
                      <a:rPr lang="en-SG" sz="2400" i="1">
                        <a:latin typeface="Cambria Math" panose="02040503050406030204" pitchFamily="18" charset="0"/>
                      </a:rPr>
                      <m:t>[3]</m:t>
                    </m:r>
                    <m:r>
                      <a:rPr lang="en-SG" sz="2400" b="0" i="1" smtClean="0">
                        <a:latin typeface="Cambria Math" panose="02040503050406030204" pitchFamily="18" charset="0"/>
                        <a:ea typeface="Cambria Math" panose="02040503050406030204" pitchFamily="18" charset="0"/>
                      </a:rPr>
                      <m:t>.</m:t>
                    </m:r>
                  </m:oMath>
                </a14:m>
                <a:endParaRPr lang="en-SG" sz="2400" b="0" dirty="0">
                  <a:ea typeface="Cambria Math" panose="02040503050406030204" pitchFamily="18" charset="0"/>
                </a:endParaRPr>
              </a:p>
              <a:p>
                <a:pPr marL="536575" indent="-536575">
                  <a:spcAft>
                    <a:spcPts val="600"/>
                  </a:spcAft>
                </a:pPr>
                <a:r>
                  <a:rPr lang="en-SG" sz="2400" dirty="0"/>
                  <a:t>2.	</a:t>
                </a:r>
                <a:r>
                  <a:rPr lang="en-US" sz="2400" dirty="0"/>
                  <a:t>Given any 5 distinct non-negative integers, two of them will be in </a:t>
                </a:r>
                <a14:m>
                  <m:oMath xmlns:m="http://schemas.openxmlformats.org/officeDocument/2006/math">
                    <m:r>
                      <a:rPr lang="en-US" sz="2400" i="1">
                        <a:latin typeface="Cambria Math" panose="02040503050406030204" pitchFamily="18" charset="0"/>
                      </a:rPr>
                      <m:t>[</m:t>
                    </m:r>
                    <m:r>
                      <a:rPr lang="en-US" sz="2400" i="1">
                        <a:latin typeface="Cambria Math" panose="02040503050406030204" pitchFamily="18" charset="0"/>
                      </a:rPr>
                      <m:t>𝑖</m:t>
                    </m:r>
                    <m:r>
                      <a:rPr lang="en-US" sz="2400" i="1">
                        <a:latin typeface="Cambria Math" panose="02040503050406030204" pitchFamily="18" charset="0"/>
                      </a:rPr>
                      <m:t>]</m:t>
                    </m:r>
                  </m:oMath>
                </a14:m>
                <a:r>
                  <a:rPr lang="en-US" sz="2400" dirty="0"/>
                  <a:t>, where </a:t>
                </a:r>
                <a14:m>
                  <m:oMath xmlns:m="http://schemas.openxmlformats.org/officeDocument/2006/math">
                    <m:r>
                      <a:rPr lang="en-US" sz="2400" i="1">
                        <a:latin typeface="Cambria Math" panose="02040503050406030204" pitchFamily="18" charset="0"/>
                      </a:rPr>
                      <m:t>𝑖</m:t>
                    </m:r>
                    <m:r>
                      <a:rPr lang="en-US" sz="2400" i="1">
                        <a:latin typeface="Cambria Math" panose="02040503050406030204" pitchFamily="18" charset="0"/>
                      </a:rPr>
                      <m:t>∈{0,1,2,3}</m:t>
                    </m:r>
                  </m:oMath>
                </a14:m>
                <a:r>
                  <a:rPr lang="en-US" sz="2400" dirty="0"/>
                  <a:t> </a:t>
                </a:r>
                <a:r>
                  <a:rPr lang="en-US" sz="2400" dirty="0">
                    <a:solidFill>
                      <a:srgbClr val="006600"/>
                    </a:solidFill>
                  </a:rPr>
                  <a:t>by the Pigeonhole Principle</a:t>
                </a:r>
                <a:r>
                  <a:rPr lang="en-SG" sz="2400" dirty="0"/>
                  <a:t>.</a:t>
                </a:r>
              </a:p>
              <a:p>
                <a:pPr marL="536575" indent="-536575">
                  <a:spcAft>
                    <a:spcPts val="600"/>
                  </a:spcAft>
                </a:pPr>
                <a:r>
                  <a:rPr lang="en-SG" sz="2400" dirty="0"/>
                  <a:t>3.	</a:t>
                </a:r>
                <a:r>
                  <a:rPr lang="en-US" sz="2400" dirty="0"/>
                  <a:t>Let these 2 numbers be </a:t>
                </a:r>
                <a14:m>
                  <m:oMath xmlns:m="http://schemas.openxmlformats.org/officeDocument/2006/math">
                    <m:r>
                      <a:rPr lang="en-US" sz="2400" i="1">
                        <a:latin typeface="Cambria Math" panose="02040503050406030204" pitchFamily="18" charset="0"/>
                      </a:rPr>
                      <m:t>𝑥</m:t>
                    </m:r>
                  </m:oMath>
                </a14:m>
                <a:r>
                  <a:rPr lang="en-US" sz="2400" dirty="0"/>
                  <a:t> and </a:t>
                </a:r>
                <a14:m>
                  <m:oMath xmlns:m="http://schemas.openxmlformats.org/officeDocument/2006/math">
                    <m:r>
                      <a:rPr lang="en-US" sz="2400" i="1">
                        <a:latin typeface="Cambria Math" panose="02040503050406030204" pitchFamily="18" charset="0"/>
                      </a:rPr>
                      <m:t>𝑦</m:t>
                    </m:r>
                  </m:oMath>
                </a14:m>
                <a:r>
                  <a:rPr lang="en-US" sz="2400" dirty="0"/>
                  <a:t>. Hence, </a:t>
                </a:r>
                <a14:m>
                  <m:oMath xmlns:m="http://schemas.openxmlformats.org/officeDocument/2006/math">
                    <m:r>
                      <a:rPr lang="en-US" sz="2400" i="1">
                        <a:latin typeface="Cambria Math" panose="02040503050406030204" pitchFamily="18" charset="0"/>
                      </a:rPr>
                      <m:t>𝑥</m:t>
                    </m:r>
                    <m:r>
                      <a:rPr lang="en-US" sz="2400" i="1">
                        <a:latin typeface="Cambria Math" panose="02040503050406030204" pitchFamily="18" charset="0"/>
                      </a:rPr>
                      <m:t>=4</m:t>
                    </m:r>
                    <m:r>
                      <a:rPr lang="en-US" sz="2400" i="1">
                        <a:latin typeface="Cambria Math" panose="02040503050406030204" pitchFamily="18" charset="0"/>
                      </a:rPr>
                      <m:t>𝑘</m:t>
                    </m:r>
                    <m:r>
                      <a:rPr lang="en-US" sz="2400" i="1">
                        <a:latin typeface="Cambria Math" panose="02040503050406030204" pitchFamily="18" charset="0"/>
                      </a:rPr>
                      <m:t>+</m:t>
                    </m:r>
                    <m:r>
                      <a:rPr lang="en-US" sz="2400" i="1">
                        <a:latin typeface="Cambria Math" panose="02040503050406030204" pitchFamily="18" charset="0"/>
                      </a:rPr>
                      <m:t>𝑖</m:t>
                    </m:r>
                  </m:oMath>
                </a14:m>
                <a:r>
                  <a:rPr lang="en-US" sz="2400" dirty="0"/>
                  <a:t> and </a:t>
                </a:r>
                <a14:m>
                  <m:oMath xmlns:m="http://schemas.openxmlformats.org/officeDocument/2006/math">
                    <m:r>
                      <a:rPr lang="en-US" sz="2400" i="1">
                        <a:latin typeface="Cambria Math" panose="02040503050406030204" pitchFamily="18" charset="0"/>
                      </a:rPr>
                      <m:t>𝑦</m:t>
                    </m:r>
                    <m:r>
                      <a:rPr lang="en-US" sz="2400" i="1">
                        <a:latin typeface="Cambria Math" panose="02040503050406030204" pitchFamily="18" charset="0"/>
                      </a:rPr>
                      <m:t>=4</m:t>
                    </m:r>
                    <m:r>
                      <a:rPr lang="en-US" sz="2400" i="1">
                        <a:latin typeface="Cambria Math" panose="02040503050406030204" pitchFamily="18" charset="0"/>
                      </a:rPr>
                      <m:t>𝑙</m:t>
                    </m:r>
                    <m:r>
                      <a:rPr lang="en-US" sz="2400" i="1">
                        <a:latin typeface="Cambria Math" panose="02040503050406030204" pitchFamily="18" charset="0"/>
                      </a:rPr>
                      <m:t>+</m:t>
                    </m:r>
                    <m:r>
                      <a:rPr lang="en-US" sz="2400" i="1">
                        <a:latin typeface="Cambria Math" panose="02040503050406030204" pitchFamily="18" charset="0"/>
                      </a:rPr>
                      <m:t>𝑖</m:t>
                    </m:r>
                  </m:oMath>
                </a14:m>
                <a:r>
                  <a:rPr lang="en-US" sz="2400" dirty="0"/>
                  <a:t>, for some integers </a:t>
                </a:r>
                <a14:m>
                  <m:oMath xmlns:m="http://schemas.openxmlformats.org/officeDocument/2006/math">
                    <m:r>
                      <a:rPr lang="en-US" sz="2400" i="1">
                        <a:latin typeface="Cambria Math" panose="02040503050406030204" pitchFamily="18" charset="0"/>
                      </a:rPr>
                      <m:t>𝑘</m:t>
                    </m:r>
                  </m:oMath>
                </a14:m>
                <a:r>
                  <a:rPr lang="en-US" sz="2400" dirty="0"/>
                  <a:t> and </a:t>
                </a:r>
                <a14:m>
                  <m:oMath xmlns:m="http://schemas.openxmlformats.org/officeDocument/2006/math">
                    <m:r>
                      <a:rPr lang="en-US" sz="2400" b="0" i="1" smtClean="0">
                        <a:latin typeface="Cambria Math" panose="02040503050406030204" pitchFamily="18" charset="0"/>
                      </a:rPr>
                      <m:t>𝑙</m:t>
                    </m:r>
                  </m:oMath>
                </a14:m>
                <a:r>
                  <a:rPr lang="en-SG" sz="2400" dirty="0"/>
                  <a:t>.</a:t>
                </a:r>
              </a:p>
              <a:p>
                <a:pPr marL="534988" indent="-534988">
                  <a:spcAft>
                    <a:spcPts val="600"/>
                  </a:spcAft>
                </a:pPr>
                <a:r>
                  <a:rPr lang="en-SG" sz="2400" dirty="0"/>
                  <a:t>4.	</a:t>
                </a:r>
                <a:r>
                  <a:rPr lang="en-US" sz="2400" dirty="0"/>
                  <a:t> Then </a:t>
                </a:r>
                <a14:m>
                  <m:oMath xmlns:m="http://schemas.openxmlformats.org/officeDocument/2006/math">
                    <m:r>
                      <a:rPr lang="en-US" sz="2400" i="1">
                        <a:latin typeface="Cambria Math" panose="02040503050406030204" pitchFamily="18" charset="0"/>
                      </a:rPr>
                      <m:t>𝑥</m:t>
                    </m:r>
                    <m:r>
                      <a:rPr lang="en-US" sz="2400" i="1">
                        <a:latin typeface="Cambria Math" panose="02040503050406030204" pitchFamily="18" charset="0"/>
                      </a:rPr>
                      <m:t>−</m:t>
                    </m:r>
                    <m:r>
                      <a:rPr lang="en-US" sz="2400" i="1">
                        <a:latin typeface="Cambria Math" panose="02040503050406030204" pitchFamily="18" charset="0"/>
                      </a:rPr>
                      <m:t>𝑦</m:t>
                    </m:r>
                    <m:r>
                      <a:rPr lang="en-US" sz="2400" i="1">
                        <a:latin typeface="Cambria Math" panose="02040503050406030204" pitchFamily="18" charset="0"/>
                      </a:rPr>
                      <m:t>=</m:t>
                    </m:r>
                    <m:d>
                      <m:dPr>
                        <m:ctrlPr>
                          <a:rPr lang="en-US" sz="2400" i="1">
                            <a:latin typeface="Cambria Math" panose="02040503050406030204" pitchFamily="18" charset="0"/>
                          </a:rPr>
                        </m:ctrlPr>
                      </m:dPr>
                      <m:e>
                        <m:r>
                          <a:rPr lang="en-US" sz="2400" i="1">
                            <a:latin typeface="Cambria Math" panose="02040503050406030204" pitchFamily="18" charset="0"/>
                          </a:rPr>
                          <m:t>4</m:t>
                        </m:r>
                        <m:r>
                          <a:rPr lang="en-US" sz="2400" i="1">
                            <a:latin typeface="Cambria Math" panose="02040503050406030204" pitchFamily="18" charset="0"/>
                          </a:rPr>
                          <m:t>𝑘</m:t>
                        </m:r>
                        <m:r>
                          <a:rPr lang="en-US" sz="2400" i="1">
                            <a:latin typeface="Cambria Math" panose="02040503050406030204" pitchFamily="18" charset="0"/>
                          </a:rPr>
                          <m:t>+</m:t>
                        </m:r>
                        <m:r>
                          <a:rPr lang="en-US" sz="2400" i="1">
                            <a:latin typeface="Cambria Math" panose="02040503050406030204" pitchFamily="18" charset="0"/>
                          </a:rPr>
                          <m:t>𝑖</m:t>
                        </m:r>
                      </m:e>
                    </m:d>
                    <m:r>
                      <a:rPr lang="en-US" sz="2400" i="1">
                        <a:latin typeface="Cambria Math" panose="02040503050406030204" pitchFamily="18" charset="0"/>
                      </a:rPr>
                      <m:t>−</m:t>
                    </m:r>
                    <m:d>
                      <m:dPr>
                        <m:ctrlPr>
                          <a:rPr lang="en-US" sz="2400" i="1">
                            <a:latin typeface="Cambria Math" panose="02040503050406030204" pitchFamily="18" charset="0"/>
                          </a:rPr>
                        </m:ctrlPr>
                      </m:dPr>
                      <m:e>
                        <m:r>
                          <a:rPr lang="en-US" sz="2400" i="1">
                            <a:latin typeface="Cambria Math" panose="02040503050406030204" pitchFamily="18" charset="0"/>
                          </a:rPr>
                          <m:t>4</m:t>
                        </m:r>
                        <m:r>
                          <a:rPr lang="en-US" sz="2400" i="1">
                            <a:latin typeface="Cambria Math" panose="02040503050406030204" pitchFamily="18" charset="0"/>
                          </a:rPr>
                          <m:t>𝑙</m:t>
                        </m:r>
                        <m:r>
                          <a:rPr lang="en-US" sz="2400" i="1">
                            <a:latin typeface="Cambria Math" panose="02040503050406030204" pitchFamily="18" charset="0"/>
                          </a:rPr>
                          <m:t>+</m:t>
                        </m:r>
                        <m:r>
                          <a:rPr lang="en-US" sz="2400" i="1">
                            <a:latin typeface="Cambria Math" panose="02040503050406030204" pitchFamily="18" charset="0"/>
                          </a:rPr>
                          <m:t>𝑖</m:t>
                        </m:r>
                      </m:e>
                    </m:d>
                    <m:r>
                      <a:rPr lang="en-US" sz="2400" i="1">
                        <a:latin typeface="Cambria Math" panose="02040503050406030204" pitchFamily="18" charset="0"/>
                      </a:rPr>
                      <m:t>=4(</m:t>
                    </m:r>
                    <m:r>
                      <a:rPr lang="en-US" sz="2400" i="1">
                        <a:latin typeface="Cambria Math" panose="02040503050406030204" pitchFamily="18" charset="0"/>
                      </a:rPr>
                      <m:t>𝑘</m:t>
                    </m:r>
                    <m:r>
                      <a:rPr lang="en-US" sz="2400" i="1">
                        <a:latin typeface="Cambria Math" panose="02040503050406030204" pitchFamily="18" charset="0"/>
                      </a:rPr>
                      <m:t>−</m:t>
                    </m:r>
                    <m:r>
                      <a:rPr lang="en-US" sz="2400" i="1">
                        <a:latin typeface="Cambria Math" panose="02040503050406030204" pitchFamily="18" charset="0"/>
                      </a:rPr>
                      <m:t>𝑙</m:t>
                    </m:r>
                    <m:r>
                      <a:rPr lang="en-US" sz="2400" i="1">
                        <a:latin typeface="Cambria Math" panose="02040503050406030204" pitchFamily="18" charset="0"/>
                      </a:rPr>
                      <m:t>)</m:t>
                    </m:r>
                  </m:oMath>
                </a14:m>
                <a:r>
                  <a:rPr lang="en-SG" sz="2400" dirty="0"/>
                  <a:t>.</a:t>
                </a:r>
              </a:p>
              <a:p>
                <a:pPr marL="536575" indent="-536575">
                  <a:spcAft>
                    <a:spcPts val="600"/>
                  </a:spcAft>
                </a:pPr>
                <a:r>
                  <a:rPr lang="en-SG" sz="2400" dirty="0"/>
                  <a:t>5.	</a:t>
                </a:r>
                <a:r>
                  <a:rPr lang="en-US" sz="2400" dirty="0"/>
                  <a:t> Since </a:t>
                </a:r>
                <a14:m>
                  <m:oMath xmlns:m="http://schemas.openxmlformats.org/officeDocument/2006/math">
                    <m:r>
                      <a:rPr lang="en-US" sz="2400" i="1">
                        <a:latin typeface="Cambria Math" panose="02040503050406030204" pitchFamily="18" charset="0"/>
                      </a:rPr>
                      <m:t>(</m:t>
                    </m:r>
                    <m:r>
                      <a:rPr lang="en-US" sz="2400" i="1">
                        <a:latin typeface="Cambria Math" panose="02040503050406030204" pitchFamily="18" charset="0"/>
                      </a:rPr>
                      <m:t>𝑘</m:t>
                    </m:r>
                    <m:r>
                      <a:rPr lang="en-US" sz="2400" i="1">
                        <a:latin typeface="Cambria Math" panose="02040503050406030204" pitchFamily="18" charset="0"/>
                      </a:rPr>
                      <m:t>−</m:t>
                    </m:r>
                    <m:r>
                      <a:rPr lang="en-US" sz="2400" i="1">
                        <a:latin typeface="Cambria Math" panose="02040503050406030204" pitchFamily="18" charset="0"/>
                      </a:rPr>
                      <m:t>𝑙</m:t>
                    </m:r>
                    <m:r>
                      <a:rPr lang="en-US" sz="2400" i="1">
                        <a:latin typeface="Cambria Math" panose="02040503050406030204" pitchFamily="18" charset="0"/>
                      </a:rPr>
                      <m:t>)∈</m:t>
                    </m:r>
                    <m:r>
                      <a:rPr lang="en-US" sz="2400" i="1">
                        <a:latin typeface="Cambria Math" panose="02040503050406030204" pitchFamily="18" charset="0"/>
                      </a:rPr>
                      <m:t>ℤ</m:t>
                    </m:r>
                  </m:oMath>
                </a14:m>
                <a:r>
                  <a:rPr lang="en-US" sz="2400" dirty="0"/>
                  <a:t> (by closure of integers under </a:t>
                </a:r>
                <a14:m>
                  <m:oMath xmlns:m="http://schemas.openxmlformats.org/officeDocument/2006/math">
                    <m:r>
                      <a:rPr lang="en-US" sz="2400" b="0" i="1" dirty="0" smtClean="0">
                        <a:latin typeface="Cambria Math" panose="02040503050406030204" pitchFamily="18" charset="0"/>
                      </a:rPr>
                      <m:t>−</m:t>
                    </m:r>
                  </m:oMath>
                </a14:m>
                <a:r>
                  <a:rPr lang="en-US" sz="2400" dirty="0"/>
                  <a:t>), </a:t>
                </a:r>
                <a14:m>
                  <m:oMath xmlns:m="http://schemas.openxmlformats.org/officeDocument/2006/math">
                    <m:r>
                      <a:rPr lang="en-US" sz="2400" i="1">
                        <a:latin typeface="Cambria Math" panose="02040503050406030204" pitchFamily="18" charset="0"/>
                      </a:rPr>
                      <m:t>𝑥</m:t>
                    </m:r>
                  </m:oMath>
                </a14:m>
                <a:r>
                  <a:rPr lang="en-US" sz="2400" dirty="0"/>
                  <a:t> and </a:t>
                </a:r>
                <a14:m>
                  <m:oMath xmlns:m="http://schemas.openxmlformats.org/officeDocument/2006/math">
                    <m:r>
                      <a:rPr lang="en-US" sz="2400" i="1">
                        <a:latin typeface="Cambria Math" panose="02040503050406030204" pitchFamily="18" charset="0"/>
                      </a:rPr>
                      <m:t>𝑦</m:t>
                    </m:r>
                  </m:oMath>
                </a14:m>
                <a:r>
                  <a:rPr lang="en-US" sz="2400" dirty="0"/>
                  <a:t> have a difference that is divisible by 4</a:t>
                </a:r>
                <a:r>
                  <a:rPr lang="en-SG" sz="2400" dirty="0"/>
                  <a:t>.</a:t>
                </a:r>
              </a:p>
            </p:txBody>
          </p:sp>
        </mc:Choice>
        <mc:Fallback xmlns="">
          <p:sp>
            <p:nvSpPr>
              <p:cNvPr id="17" name="TextBox 16">
                <a:extLst>
                  <a:ext uri="{FF2B5EF4-FFF2-40B4-BE49-F238E27FC236}">
                    <a16:creationId xmlns:a16="http://schemas.microsoft.com/office/drawing/2014/main" id="{E2348F1F-111C-46D9-8566-4C09DE76762A}"/>
                  </a:ext>
                </a:extLst>
              </p:cNvPr>
              <p:cNvSpPr txBox="1">
                <a:spLocks noRot="1" noChangeAspect="1" noMove="1" noResize="1" noEditPoints="1" noAdjustHandles="1" noChangeArrowheads="1" noChangeShapeType="1" noTextEdit="1"/>
              </p:cNvSpPr>
              <p:nvPr/>
            </p:nvSpPr>
            <p:spPr>
              <a:xfrm>
                <a:off x="973874" y="1514285"/>
                <a:ext cx="9763462" cy="3724096"/>
              </a:xfrm>
              <a:prstGeom prst="rect">
                <a:avLst/>
              </a:prstGeom>
              <a:blipFill>
                <a:blip r:embed="rId2"/>
                <a:stretch>
                  <a:fillRect l="-999" t="-1309" b="-2782"/>
                </a:stretch>
              </a:blipFill>
            </p:spPr>
            <p:txBody>
              <a:bodyPr/>
              <a:lstStyle/>
              <a:p>
                <a:r>
                  <a:rPr lang="en-US">
                    <a:noFill/>
                  </a:rPr>
                  <a:t> </a:t>
                </a:r>
              </a:p>
            </p:txBody>
          </p:sp>
        </mc:Fallback>
      </mc:AlternateContent>
    </p:spTree>
    <p:extLst>
      <p:ext uri="{BB962C8B-B14F-4D97-AF65-F5344CB8AC3E}">
        <p14:creationId xmlns:p14="http://schemas.microsoft.com/office/powerpoint/2010/main" val="3050911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
                                            <p:bg/>
                                          </p:spTgt>
                                        </p:tgtEl>
                                        <p:attrNameLst>
                                          <p:attrName>style.visibility</p:attrName>
                                        </p:attrNameLst>
                                      </p:cBhvr>
                                      <p:to>
                                        <p:strVal val="visible"/>
                                      </p:to>
                                    </p:set>
                                    <p:animEffect transition="in" filter="dissolve">
                                      <p:cBhvr>
                                        <p:cTn id="7" dur="500"/>
                                        <p:tgtEl>
                                          <p:spTgt spid="17">
                                            <p:bg/>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7">
                                            <p:txEl>
                                              <p:pRg st="0" end="0"/>
                                            </p:txEl>
                                          </p:spTgt>
                                        </p:tgtEl>
                                        <p:attrNameLst>
                                          <p:attrName>style.visibility</p:attrName>
                                        </p:attrNameLst>
                                      </p:cBhvr>
                                      <p:to>
                                        <p:strVal val="visible"/>
                                      </p:to>
                                    </p:set>
                                    <p:animEffect transition="in" filter="dissolve">
                                      <p:cBhvr>
                                        <p:cTn id="12" dur="500"/>
                                        <p:tgtEl>
                                          <p:spTgt spid="1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7">
                                            <p:txEl>
                                              <p:pRg st="1" end="1"/>
                                            </p:txEl>
                                          </p:spTgt>
                                        </p:tgtEl>
                                        <p:attrNameLst>
                                          <p:attrName>style.visibility</p:attrName>
                                        </p:attrNameLst>
                                      </p:cBhvr>
                                      <p:to>
                                        <p:strVal val="visible"/>
                                      </p:to>
                                    </p:set>
                                    <p:animEffect transition="in" filter="dissolve">
                                      <p:cBhvr>
                                        <p:cTn id="17" dur="500"/>
                                        <p:tgtEl>
                                          <p:spTgt spid="1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7">
                                            <p:txEl>
                                              <p:pRg st="2" end="2"/>
                                            </p:txEl>
                                          </p:spTgt>
                                        </p:tgtEl>
                                        <p:attrNameLst>
                                          <p:attrName>style.visibility</p:attrName>
                                        </p:attrNameLst>
                                      </p:cBhvr>
                                      <p:to>
                                        <p:strVal val="visible"/>
                                      </p:to>
                                    </p:set>
                                    <p:animEffect transition="in" filter="dissolve">
                                      <p:cBhvr>
                                        <p:cTn id="22" dur="500"/>
                                        <p:tgtEl>
                                          <p:spTgt spid="17">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7">
                                            <p:txEl>
                                              <p:pRg st="3" end="3"/>
                                            </p:txEl>
                                          </p:spTgt>
                                        </p:tgtEl>
                                        <p:attrNameLst>
                                          <p:attrName>style.visibility</p:attrName>
                                        </p:attrNameLst>
                                      </p:cBhvr>
                                      <p:to>
                                        <p:strVal val="visible"/>
                                      </p:to>
                                    </p:set>
                                    <p:animEffect transition="in" filter="dissolve">
                                      <p:cBhvr>
                                        <p:cTn id="27" dur="500"/>
                                        <p:tgtEl>
                                          <p:spTgt spid="17">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7">
                                            <p:txEl>
                                              <p:pRg st="4" end="4"/>
                                            </p:txEl>
                                          </p:spTgt>
                                        </p:tgtEl>
                                        <p:attrNameLst>
                                          <p:attrName>style.visibility</p:attrName>
                                        </p:attrNameLst>
                                      </p:cBhvr>
                                      <p:to>
                                        <p:strVal val="visible"/>
                                      </p:to>
                                    </p:set>
                                    <p:animEffect transition="in" filter="dissolve">
                                      <p:cBhvr>
                                        <p:cTn id="32" dur="500"/>
                                        <p:tgtEl>
                                          <p:spTgt spid="1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9532D-7B1D-4496-906D-F1887FE508D2}"/>
              </a:ext>
            </a:extLst>
          </p:cNvPr>
          <p:cNvSpPr>
            <a:spLocks noGrp="1"/>
          </p:cNvSpPr>
          <p:nvPr>
            <p:ph type="title"/>
          </p:nvPr>
        </p:nvSpPr>
        <p:spPr>
          <a:xfrm>
            <a:off x="314662" y="244492"/>
            <a:ext cx="1199476" cy="895927"/>
          </a:xfrm>
        </p:spPr>
        <p:txBody>
          <a:bodyPr>
            <a:normAutofit fontScale="90000"/>
          </a:bodyPr>
          <a:lstStyle/>
          <a:p>
            <a:pPr>
              <a:lnSpc>
                <a:spcPct val="100000"/>
              </a:lnSpc>
            </a:pPr>
            <a:r>
              <a:rPr lang="en-SG" dirty="0" err="1">
                <a:solidFill>
                  <a:schemeClr val="bg2">
                    <a:lumMod val="50000"/>
                  </a:schemeClr>
                </a:solidFill>
              </a:rPr>
              <a:t>Q11</a:t>
            </a:r>
            <a:r>
              <a:rPr lang="en-SG" dirty="0">
                <a:solidFill>
                  <a:schemeClr val="bg2">
                    <a:lumMod val="50000"/>
                  </a:schemeClr>
                </a:solidFill>
              </a:rPr>
              <a:t>.</a:t>
            </a:r>
            <a:endParaRPr lang="en-SG" dirty="0">
              <a:solidFill>
                <a:schemeClr val="bg2">
                  <a:lumMod val="50000"/>
                </a:schemeClr>
              </a:solidFill>
              <a:latin typeface="Cambria Math" panose="02040503050406030204" pitchFamily="18" charset="0"/>
              <a:ea typeface="Cambria Math" panose="02040503050406030204" pitchFamily="18" charset="0"/>
            </a:endParaRPr>
          </a:p>
        </p:txBody>
      </p:sp>
      <p:sp>
        <p:nvSpPr>
          <p:cNvPr id="10" name="Slide Number Placeholder 1"/>
          <p:cNvSpPr>
            <a:spLocks noGrp="1"/>
          </p:cNvSpPr>
          <p:nvPr>
            <p:ph type="sldNum" sz="quarter" idx="12"/>
          </p:nvPr>
        </p:nvSpPr>
        <p:spPr>
          <a:xfrm>
            <a:off x="10485783" y="6492875"/>
            <a:ext cx="1706217" cy="365125"/>
          </a:xfrm>
        </p:spPr>
        <p:txBody>
          <a:bodyPr/>
          <a:lstStyle/>
          <a:p>
            <a:fld id="{576A5E36-E009-4840-A577-F8CF29116582}" type="slidenum">
              <a:rPr lang="en-US" sz="1600" smtClean="0">
                <a:solidFill>
                  <a:schemeClr val="bg1"/>
                </a:solidFill>
              </a:rPr>
              <a:t>18</a:t>
            </a:fld>
            <a:endParaRPr lang="en-US" sz="1600" dirty="0">
              <a:solidFill>
                <a:schemeClr val="bg1"/>
              </a:solidFill>
            </a:endParaRPr>
          </a:p>
        </p:txBody>
      </p:sp>
      <p:sp>
        <p:nvSpPr>
          <p:cNvPr id="3" name="Rectangle 2">
            <a:extLst>
              <a:ext uri="{FF2B5EF4-FFF2-40B4-BE49-F238E27FC236}">
                <a16:creationId xmlns:a16="http://schemas.microsoft.com/office/drawing/2014/main" id="{AE9E79C7-1261-46B9-8DD4-DC35D1B5C965}"/>
              </a:ext>
            </a:extLst>
          </p:cNvPr>
          <p:cNvSpPr/>
          <p:nvPr/>
        </p:nvSpPr>
        <p:spPr>
          <a:xfrm>
            <a:off x="1514138" y="301728"/>
            <a:ext cx="10139922" cy="1938992"/>
          </a:xfrm>
          <a:prstGeom prst="rect">
            <a:avLst/>
          </a:prstGeom>
          <a:solidFill>
            <a:srgbClr val="CCECFF"/>
          </a:solidFill>
        </p:spPr>
        <p:txBody>
          <a:bodyPr wrap="square">
            <a:spAutoFit/>
          </a:bodyPr>
          <a:lstStyle/>
          <a:p>
            <a:r>
              <a:rPr lang="en-US" sz="2400" dirty="0">
                <a:effectLst/>
                <a:latin typeface="Calibri" panose="020F0502020204030204" pitchFamily="34" charset="0"/>
                <a:ea typeface="Times New Roman" panose="02020603050405020304" pitchFamily="18" charset="0"/>
                <a:cs typeface="Times New Roman" panose="02020603050405020304" pitchFamily="18" charset="0"/>
              </a:rPr>
              <a:t>A chess master who has 11 weeks to prepare for a tournament decides to play at least one game every day, but in order not to tire herself, she decides not to play more than 12 games during any one week. Show that </a:t>
            </a:r>
            <a:r>
              <a:rPr lang="en-US" sz="2400" dirty="0">
                <a:solidFill>
                  <a:srgbClr val="0000FF"/>
                </a:solidFill>
                <a:effectLst/>
                <a:latin typeface="Calibri" panose="020F0502020204030204" pitchFamily="34" charset="0"/>
                <a:ea typeface="Times New Roman" panose="02020603050405020304" pitchFamily="18" charset="0"/>
                <a:cs typeface="Times New Roman" panose="02020603050405020304" pitchFamily="18" charset="0"/>
              </a:rPr>
              <a:t>there exists a succession of consecutive days during which the chess master will have played exactly 21 games</a:t>
            </a:r>
            <a:r>
              <a:rPr lang="en-US" sz="2400" dirty="0">
                <a:effectLst/>
                <a:latin typeface="Calibri" panose="020F0502020204030204" pitchFamily="34" charset="0"/>
                <a:ea typeface="Times New Roman" panose="02020603050405020304" pitchFamily="18" charset="0"/>
                <a:cs typeface="Times New Roman" panose="02020603050405020304" pitchFamily="18" charset="0"/>
              </a:rPr>
              <a:t>.</a:t>
            </a:r>
            <a:endParaRPr lang="en-SG" sz="2400"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2348F1F-111C-46D9-8566-4C09DE76762A}"/>
                  </a:ext>
                </a:extLst>
              </p:cNvPr>
              <p:cNvSpPr txBox="1"/>
              <p:nvPr/>
            </p:nvSpPr>
            <p:spPr>
              <a:xfrm>
                <a:off x="464695" y="2297956"/>
                <a:ext cx="11377534" cy="4200124"/>
              </a:xfrm>
              <a:prstGeom prst="rect">
                <a:avLst/>
              </a:prstGeom>
              <a:solidFill>
                <a:srgbClr val="FFFFCC"/>
              </a:solidFill>
            </p:spPr>
            <p:txBody>
              <a:bodyPr wrap="square" rtlCol="0">
                <a:spAutoFit/>
              </a:bodyPr>
              <a:lstStyle/>
              <a:p>
                <a:pPr marL="465138" indent="-465138">
                  <a:spcAft>
                    <a:spcPts val="600"/>
                  </a:spcAft>
                </a:pPr>
                <a:r>
                  <a:rPr lang="en-US" sz="2400" dirty="0"/>
                  <a:t>1.	Define </a:t>
                </a:r>
                <a14:m>
                  <m:oMath xmlns:m="http://schemas.openxmlformats.org/officeDocument/2006/math">
                    <m:sSub>
                      <m:sSubPr>
                        <m:ctrlPr>
                          <a:rPr lang="en-US" sz="2400" i="1" smtClean="0">
                            <a:latin typeface="Cambria Math" panose="02040503050406030204" pitchFamily="18" charset="0"/>
                          </a:rPr>
                        </m:ctrlPr>
                      </m:sSubPr>
                      <m:e>
                        <m:r>
                          <a:rPr lang="en-SG" sz="2400" b="0" i="1" smtClean="0">
                            <a:latin typeface="Cambria Math" panose="02040503050406030204" pitchFamily="18" charset="0"/>
                          </a:rPr>
                          <m:t>𝑃</m:t>
                        </m:r>
                      </m:e>
                      <m:sub>
                        <m:r>
                          <a:rPr lang="en-SG" sz="2400" b="0" i="1" smtClean="0">
                            <a:latin typeface="Cambria Math" panose="02040503050406030204" pitchFamily="18" charset="0"/>
                          </a:rPr>
                          <m:t>𝑖</m:t>
                        </m:r>
                      </m:sub>
                    </m:sSub>
                  </m:oMath>
                </a14:m>
                <a:r>
                  <a:rPr lang="en-SG" sz="2400" dirty="0"/>
                  <a:t> as the total number of games played up to and including day </a:t>
                </a:r>
                <a14:m>
                  <m:oMath xmlns:m="http://schemas.openxmlformats.org/officeDocument/2006/math">
                    <m:r>
                      <a:rPr lang="en-SG" sz="2400" i="1" dirty="0" smtClean="0">
                        <a:latin typeface="Cambria Math" panose="02040503050406030204" pitchFamily="18" charset="0"/>
                      </a:rPr>
                      <m:t>𝑖</m:t>
                    </m:r>
                  </m:oMath>
                </a14:m>
                <a:r>
                  <a:rPr lang="en-SG" sz="2400" dirty="0"/>
                  <a:t>, </a:t>
                </a:r>
                <a:br>
                  <a:rPr lang="en-SG" sz="2400" dirty="0"/>
                </a:br>
                <a:r>
                  <a:rPr lang="en-SG" sz="2400" dirty="0"/>
                  <a:t>for </a:t>
                </a:r>
                <a14:m>
                  <m:oMath xmlns:m="http://schemas.openxmlformats.org/officeDocument/2006/math">
                    <m:r>
                      <a:rPr lang="en-SG" sz="2400" b="0" i="1" smtClean="0">
                        <a:latin typeface="Cambria Math" panose="02040503050406030204" pitchFamily="18" charset="0"/>
                      </a:rPr>
                      <m:t>1</m:t>
                    </m:r>
                    <m:r>
                      <a:rPr lang="en-SG" sz="2400" b="0" i="1" smtClean="0">
                        <a:latin typeface="Cambria Math" panose="02040503050406030204" pitchFamily="18" charset="0"/>
                        <a:ea typeface="Cambria Math" panose="02040503050406030204" pitchFamily="18" charset="0"/>
                      </a:rPr>
                      <m:t>≤</m:t>
                    </m:r>
                    <m:r>
                      <a:rPr lang="en-SG" sz="2400" b="0" i="1" smtClean="0">
                        <a:latin typeface="Cambria Math" panose="02040503050406030204" pitchFamily="18" charset="0"/>
                        <a:ea typeface="Cambria Math" panose="02040503050406030204" pitchFamily="18" charset="0"/>
                      </a:rPr>
                      <m:t>𝑖</m:t>
                    </m:r>
                    <m:r>
                      <a:rPr lang="en-SG" sz="2400" b="0" i="1" smtClean="0">
                        <a:latin typeface="Cambria Math" panose="02040503050406030204" pitchFamily="18" charset="0"/>
                        <a:ea typeface="Cambria Math" panose="02040503050406030204" pitchFamily="18" charset="0"/>
                      </a:rPr>
                      <m:t>≤77.</m:t>
                    </m:r>
                  </m:oMath>
                </a14:m>
                <a:endParaRPr lang="en-SG" sz="2400" b="0" dirty="0">
                  <a:ea typeface="Cambria Math" panose="02040503050406030204" pitchFamily="18" charset="0"/>
                </a:endParaRPr>
              </a:p>
              <a:p>
                <a:pPr marL="465138" indent="-465138">
                  <a:spcAft>
                    <a:spcPts val="600"/>
                  </a:spcAft>
                </a:pPr>
                <a:r>
                  <a:rPr lang="en-SG" sz="2400" dirty="0"/>
                  <a:t>2.	So </a:t>
                </a:r>
                <a14:m>
                  <m:oMath xmlns:m="http://schemas.openxmlformats.org/officeDocument/2006/math">
                    <m:r>
                      <a:rPr lang="en-SG" sz="2400" b="0" i="1" smtClean="0">
                        <a:solidFill>
                          <a:srgbClr val="0000FF"/>
                        </a:solidFill>
                        <a:latin typeface="Cambria Math" panose="02040503050406030204" pitchFamily="18" charset="0"/>
                      </a:rPr>
                      <m:t>1</m:t>
                    </m:r>
                    <m:r>
                      <a:rPr lang="en-SG" sz="2400" b="0" i="1" smtClean="0">
                        <a:solidFill>
                          <a:srgbClr val="0000FF"/>
                        </a:solidFill>
                        <a:latin typeface="Cambria Math" panose="02040503050406030204" pitchFamily="18" charset="0"/>
                        <a:ea typeface="Cambria Math" panose="02040503050406030204" pitchFamily="18" charset="0"/>
                      </a:rPr>
                      <m:t>≤</m:t>
                    </m:r>
                    <m:sSub>
                      <m:sSubPr>
                        <m:ctrlPr>
                          <a:rPr lang="en-SG" sz="2400" b="0" i="1" smtClean="0">
                            <a:solidFill>
                              <a:srgbClr val="0000FF"/>
                            </a:solidFill>
                            <a:latin typeface="Cambria Math" panose="02040503050406030204" pitchFamily="18" charset="0"/>
                            <a:ea typeface="Cambria Math" panose="02040503050406030204" pitchFamily="18" charset="0"/>
                          </a:rPr>
                        </m:ctrlPr>
                      </m:sSubPr>
                      <m:e>
                        <m:r>
                          <a:rPr lang="en-SG" sz="2400" b="0" i="1" smtClean="0">
                            <a:solidFill>
                              <a:srgbClr val="0000FF"/>
                            </a:solidFill>
                            <a:latin typeface="Cambria Math" panose="02040503050406030204" pitchFamily="18" charset="0"/>
                            <a:ea typeface="Cambria Math" panose="02040503050406030204" pitchFamily="18" charset="0"/>
                          </a:rPr>
                          <m:t>𝑃</m:t>
                        </m:r>
                      </m:e>
                      <m:sub>
                        <m:r>
                          <a:rPr lang="en-SG" sz="2400" b="0" i="1" smtClean="0">
                            <a:solidFill>
                              <a:srgbClr val="0000FF"/>
                            </a:solidFill>
                            <a:latin typeface="Cambria Math" panose="02040503050406030204" pitchFamily="18" charset="0"/>
                            <a:ea typeface="Cambria Math" panose="02040503050406030204" pitchFamily="18" charset="0"/>
                          </a:rPr>
                          <m:t>1</m:t>
                        </m:r>
                      </m:sub>
                    </m:sSub>
                    <m:r>
                      <a:rPr lang="en-SG" sz="2400" b="0" i="1" smtClean="0">
                        <a:solidFill>
                          <a:srgbClr val="0000FF"/>
                        </a:solidFill>
                        <a:latin typeface="Cambria Math" panose="02040503050406030204" pitchFamily="18" charset="0"/>
                        <a:ea typeface="Cambria Math" panose="02040503050406030204" pitchFamily="18" charset="0"/>
                      </a:rPr>
                      <m:t>&lt;</m:t>
                    </m:r>
                    <m:sSub>
                      <m:sSubPr>
                        <m:ctrlPr>
                          <a:rPr lang="en-SG" sz="2400" b="0" i="1" smtClean="0">
                            <a:solidFill>
                              <a:srgbClr val="0000FF"/>
                            </a:solidFill>
                            <a:latin typeface="Cambria Math" panose="02040503050406030204" pitchFamily="18" charset="0"/>
                            <a:ea typeface="Cambria Math" panose="02040503050406030204" pitchFamily="18" charset="0"/>
                          </a:rPr>
                        </m:ctrlPr>
                      </m:sSubPr>
                      <m:e>
                        <m:r>
                          <a:rPr lang="en-SG" sz="2400" b="0" i="1" smtClean="0">
                            <a:solidFill>
                              <a:srgbClr val="0000FF"/>
                            </a:solidFill>
                            <a:latin typeface="Cambria Math" panose="02040503050406030204" pitchFamily="18" charset="0"/>
                            <a:ea typeface="Cambria Math" panose="02040503050406030204" pitchFamily="18" charset="0"/>
                          </a:rPr>
                          <m:t>𝑃</m:t>
                        </m:r>
                      </m:e>
                      <m:sub>
                        <m:r>
                          <a:rPr lang="en-SG" sz="2400" b="0" i="1" smtClean="0">
                            <a:solidFill>
                              <a:srgbClr val="0000FF"/>
                            </a:solidFill>
                            <a:latin typeface="Cambria Math" panose="02040503050406030204" pitchFamily="18" charset="0"/>
                            <a:ea typeface="Cambria Math" panose="02040503050406030204" pitchFamily="18" charset="0"/>
                          </a:rPr>
                          <m:t>2</m:t>
                        </m:r>
                      </m:sub>
                    </m:sSub>
                    <m:r>
                      <a:rPr lang="en-SG" sz="2400" b="0" i="1" smtClean="0">
                        <a:solidFill>
                          <a:srgbClr val="0000FF"/>
                        </a:solidFill>
                        <a:latin typeface="Cambria Math" panose="02040503050406030204" pitchFamily="18" charset="0"/>
                        <a:ea typeface="Cambria Math" panose="02040503050406030204" pitchFamily="18" charset="0"/>
                      </a:rPr>
                      <m:t>&lt;⋯&lt;</m:t>
                    </m:r>
                    <m:sSub>
                      <m:sSubPr>
                        <m:ctrlPr>
                          <a:rPr lang="en-SG" sz="2400" b="0" i="1" smtClean="0">
                            <a:solidFill>
                              <a:srgbClr val="0000FF"/>
                            </a:solidFill>
                            <a:latin typeface="Cambria Math" panose="02040503050406030204" pitchFamily="18" charset="0"/>
                            <a:ea typeface="Cambria Math" panose="02040503050406030204" pitchFamily="18" charset="0"/>
                          </a:rPr>
                        </m:ctrlPr>
                      </m:sSubPr>
                      <m:e>
                        <m:r>
                          <a:rPr lang="en-SG" sz="2400" b="0" i="1" smtClean="0">
                            <a:solidFill>
                              <a:srgbClr val="0000FF"/>
                            </a:solidFill>
                            <a:latin typeface="Cambria Math" panose="02040503050406030204" pitchFamily="18" charset="0"/>
                            <a:ea typeface="Cambria Math" panose="02040503050406030204" pitchFamily="18" charset="0"/>
                          </a:rPr>
                          <m:t>𝑃</m:t>
                        </m:r>
                      </m:e>
                      <m:sub>
                        <m:r>
                          <a:rPr lang="en-SG" sz="2400" b="0" i="1" smtClean="0">
                            <a:solidFill>
                              <a:srgbClr val="0000FF"/>
                            </a:solidFill>
                            <a:latin typeface="Cambria Math" panose="02040503050406030204" pitchFamily="18" charset="0"/>
                            <a:ea typeface="Cambria Math" panose="02040503050406030204" pitchFamily="18" charset="0"/>
                          </a:rPr>
                          <m:t>77</m:t>
                        </m:r>
                      </m:sub>
                    </m:sSub>
                    <m:r>
                      <a:rPr lang="en-SG" sz="2400" b="0" i="1" smtClean="0">
                        <a:solidFill>
                          <a:srgbClr val="0000FF"/>
                        </a:solidFill>
                        <a:latin typeface="Cambria Math" panose="02040503050406030204" pitchFamily="18" charset="0"/>
                        <a:ea typeface="Cambria Math" panose="02040503050406030204" pitchFamily="18" charset="0"/>
                      </a:rPr>
                      <m:t>≤132</m:t>
                    </m:r>
                    <m:r>
                      <a:rPr lang="en-SG" sz="2400" b="0" i="0" smtClean="0">
                        <a:latin typeface="Cambria Math" panose="02040503050406030204" pitchFamily="18" charset="0"/>
                        <a:ea typeface="Cambria Math" panose="02040503050406030204" pitchFamily="18" charset="0"/>
                      </a:rPr>
                      <m:t>,</m:t>
                    </m:r>
                  </m:oMath>
                </a14:m>
                <a:r>
                  <a:rPr lang="en-SG" sz="2400" dirty="0"/>
                  <a:t> and all </a:t>
                </a:r>
                <a14:m>
                  <m:oMath xmlns:m="http://schemas.openxmlformats.org/officeDocument/2006/math">
                    <m:sSub>
                      <m:sSubPr>
                        <m:ctrlPr>
                          <a:rPr lang="en-SG" sz="2400" i="1" smtClean="0">
                            <a:latin typeface="Cambria Math" panose="02040503050406030204" pitchFamily="18" charset="0"/>
                          </a:rPr>
                        </m:ctrlPr>
                      </m:sSubPr>
                      <m:e>
                        <m:r>
                          <a:rPr lang="en-SG" sz="2400" b="0" i="1" smtClean="0">
                            <a:latin typeface="Cambria Math" panose="02040503050406030204" pitchFamily="18" charset="0"/>
                          </a:rPr>
                          <m:t>𝑃</m:t>
                        </m:r>
                      </m:e>
                      <m:sub>
                        <m:r>
                          <a:rPr lang="en-SG" sz="2400" b="0" i="1" smtClean="0">
                            <a:latin typeface="Cambria Math" panose="02040503050406030204" pitchFamily="18" charset="0"/>
                          </a:rPr>
                          <m:t>𝑖</m:t>
                        </m:r>
                      </m:sub>
                    </m:sSub>
                  </m:oMath>
                </a14:m>
                <a:r>
                  <a:rPr lang="en-SG" sz="2400" dirty="0"/>
                  <a:t>’s are distinct.</a:t>
                </a:r>
              </a:p>
              <a:p>
                <a:pPr marL="465138" indent="-465138">
                  <a:spcAft>
                    <a:spcPts val="600"/>
                  </a:spcAft>
                </a:pPr>
                <a:r>
                  <a:rPr lang="en-SG" sz="2400" dirty="0"/>
                  <a:t>3.	Define </a:t>
                </a:r>
                <a14:m>
                  <m:oMath xmlns:m="http://schemas.openxmlformats.org/officeDocument/2006/math">
                    <m:sSub>
                      <m:sSubPr>
                        <m:ctrlPr>
                          <a:rPr lang="en-US" sz="2400" i="1">
                            <a:latin typeface="Cambria Math" panose="02040503050406030204" pitchFamily="18" charset="0"/>
                          </a:rPr>
                        </m:ctrlPr>
                      </m:sSubPr>
                      <m:e>
                        <m:r>
                          <a:rPr lang="en-SG" sz="2400" b="0" i="1" smtClean="0">
                            <a:latin typeface="Cambria Math" panose="02040503050406030204" pitchFamily="18" charset="0"/>
                          </a:rPr>
                          <m:t>𝑄</m:t>
                        </m:r>
                      </m:e>
                      <m:sub>
                        <m:r>
                          <a:rPr lang="en-SG" sz="2400" i="1">
                            <a:latin typeface="Cambria Math" panose="02040503050406030204" pitchFamily="18" charset="0"/>
                          </a:rPr>
                          <m:t>𝑖</m:t>
                        </m:r>
                      </m:sub>
                    </m:sSub>
                    <m:r>
                      <a:rPr lang="en-SG" sz="2400" b="0" i="0" smtClean="0">
                        <a:latin typeface="Cambria Math" panose="02040503050406030204" pitchFamily="18" charset="0"/>
                      </a:rPr>
                      <m:t>=</m:t>
                    </m:r>
                    <m:sSub>
                      <m:sSubPr>
                        <m:ctrlPr>
                          <a:rPr lang="en-US" sz="2400" i="1">
                            <a:latin typeface="Cambria Math" panose="02040503050406030204" pitchFamily="18" charset="0"/>
                          </a:rPr>
                        </m:ctrlPr>
                      </m:sSubPr>
                      <m:e>
                        <m:r>
                          <a:rPr lang="en-SG" sz="2400" i="1">
                            <a:latin typeface="Cambria Math" panose="02040503050406030204" pitchFamily="18" charset="0"/>
                          </a:rPr>
                          <m:t>𝑃</m:t>
                        </m:r>
                      </m:e>
                      <m:sub>
                        <m:r>
                          <a:rPr lang="en-SG" sz="2400" i="1">
                            <a:latin typeface="Cambria Math" panose="02040503050406030204" pitchFamily="18" charset="0"/>
                          </a:rPr>
                          <m:t>𝑖</m:t>
                        </m:r>
                      </m:sub>
                    </m:sSub>
                    <m:r>
                      <a:rPr lang="en-SG" sz="2400" b="0" i="1" smtClean="0">
                        <a:latin typeface="Cambria Math" panose="02040503050406030204" pitchFamily="18" charset="0"/>
                      </a:rPr>
                      <m:t>+21</m:t>
                    </m:r>
                  </m:oMath>
                </a14:m>
                <a:r>
                  <a:rPr lang="en-SG" sz="2400" dirty="0"/>
                  <a:t>. All </a:t>
                </a:r>
                <a14:m>
                  <m:oMath xmlns:m="http://schemas.openxmlformats.org/officeDocument/2006/math">
                    <m:sSub>
                      <m:sSubPr>
                        <m:ctrlPr>
                          <a:rPr lang="en-SG" sz="2400" i="1">
                            <a:latin typeface="Cambria Math" panose="02040503050406030204" pitchFamily="18" charset="0"/>
                          </a:rPr>
                        </m:ctrlPr>
                      </m:sSubPr>
                      <m:e>
                        <m:r>
                          <a:rPr lang="en-SG" sz="2400" b="0" i="1" smtClean="0">
                            <a:latin typeface="Cambria Math" panose="02040503050406030204" pitchFamily="18" charset="0"/>
                          </a:rPr>
                          <m:t>𝑄</m:t>
                        </m:r>
                      </m:e>
                      <m:sub>
                        <m:r>
                          <a:rPr lang="en-SG" sz="2400" i="1">
                            <a:latin typeface="Cambria Math" panose="02040503050406030204" pitchFamily="18" charset="0"/>
                          </a:rPr>
                          <m:t>𝑖</m:t>
                        </m:r>
                      </m:sub>
                    </m:sSub>
                  </m:oMath>
                </a14:m>
                <a:r>
                  <a:rPr lang="en-SG" sz="2400" dirty="0"/>
                  <a:t>’s are distinct and the largest possible value for </a:t>
                </a:r>
                <a14:m>
                  <m:oMath xmlns:m="http://schemas.openxmlformats.org/officeDocument/2006/math">
                    <m:sSub>
                      <m:sSubPr>
                        <m:ctrlPr>
                          <a:rPr lang="en-SG" sz="2400" i="1">
                            <a:latin typeface="Cambria Math" panose="02040503050406030204" pitchFamily="18" charset="0"/>
                          </a:rPr>
                        </m:ctrlPr>
                      </m:sSubPr>
                      <m:e>
                        <m:r>
                          <a:rPr lang="en-SG" sz="2400" i="1">
                            <a:latin typeface="Cambria Math" panose="02040503050406030204" pitchFamily="18" charset="0"/>
                          </a:rPr>
                          <m:t>𝑄</m:t>
                        </m:r>
                      </m:e>
                      <m:sub>
                        <m:r>
                          <a:rPr lang="en-SG" sz="2400" i="1">
                            <a:latin typeface="Cambria Math" panose="02040503050406030204" pitchFamily="18" charset="0"/>
                          </a:rPr>
                          <m:t>𝑖</m:t>
                        </m:r>
                      </m:sub>
                    </m:sSub>
                  </m:oMath>
                </a14:m>
                <a:r>
                  <a:rPr lang="en-SG" sz="2400" dirty="0"/>
                  <a:t> is </a:t>
                </a:r>
                <a:br>
                  <a:rPr lang="en-SG" sz="2400" dirty="0"/>
                </a:br>
                <a14:m>
                  <m:oMath xmlns:m="http://schemas.openxmlformats.org/officeDocument/2006/math">
                    <m:r>
                      <a:rPr lang="en-SG" sz="2400" i="1" dirty="0" smtClean="0">
                        <a:latin typeface="Cambria Math" panose="02040503050406030204" pitchFamily="18" charset="0"/>
                      </a:rPr>
                      <m:t>132+21=153</m:t>
                    </m:r>
                  </m:oMath>
                </a14:m>
                <a:r>
                  <a:rPr lang="en-SG" sz="2400" dirty="0"/>
                  <a:t>, that is, </a:t>
                </a:r>
                <a14:m>
                  <m:oMath xmlns:m="http://schemas.openxmlformats.org/officeDocument/2006/math">
                    <m:r>
                      <a:rPr lang="en-SG" sz="2400" b="0" i="1" smtClean="0">
                        <a:solidFill>
                          <a:srgbClr val="0000FF"/>
                        </a:solidFill>
                        <a:latin typeface="Cambria Math" panose="02040503050406030204" pitchFamily="18" charset="0"/>
                      </a:rPr>
                      <m:t>22</m:t>
                    </m:r>
                    <m:r>
                      <a:rPr lang="en-SG" sz="2400" i="1">
                        <a:solidFill>
                          <a:srgbClr val="0000FF"/>
                        </a:solidFill>
                        <a:latin typeface="Cambria Math" panose="02040503050406030204" pitchFamily="18" charset="0"/>
                        <a:ea typeface="Cambria Math" panose="02040503050406030204" pitchFamily="18" charset="0"/>
                      </a:rPr>
                      <m:t>≤</m:t>
                    </m:r>
                    <m:sSub>
                      <m:sSubPr>
                        <m:ctrlPr>
                          <a:rPr lang="en-SG" sz="2400" i="1">
                            <a:solidFill>
                              <a:srgbClr val="0000FF"/>
                            </a:solidFill>
                            <a:latin typeface="Cambria Math" panose="02040503050406030204" pitchFamily="18" charset="0"/>
                            <a:ea typeface="Cambria Math" panose="02040503050406030204" pitchFamily="18" charset="0"/>
                          </a:rPr>
                        </m:ctrlPr>
                      </m:sSubPr>
                      <m:e>
                        <m:r>
                          <a:rPr lang="en-SG" sz="2400" b="0" i="1" smtClean="0">
                            <a:solidFill>
                              <a:srgbClr val="0000FF"/>
                            </a:solidFill>
                            <a:latin typeface="Cambria Math" panose="02040503050406030204" pitchFamily="18" charset="0"/>
                            <a:ea typeface="Cambria Math" panose="02040503050406030204" pitchFamily="18" charset="0"/>
                          </a:rPr>
                          <m:t>𝑄</m:t>
                        </m:r>
                      </m:e>
                      <m:sub>
                        <m:r>
                          <a:rPr lang="en-SG" sz="2400" i="1">
                            <a:solidFill>
                              <a:srgbClr val="0000FF"/>
                            </a:solidFill>
                            <a:latin typeface="Cambria Math" panose="02040503050406030204" pitchFamily="18" charset="0"/>
                            <a:ea typeface="Cambria Math" panose="02040503050406030204" pitchFamily="18" charset="0"/>
                          </a:rPr>
                          <m:t>1</m:t>
                        </m:r>
                      </m:sub>
                    </m:sSub>
                    <m:r>
                      <a:rPr lang="en-SG" sz="2400" i="1">
                        <a:solidFill>
                          <a:srgbClr val="0000FF"/>
                        </a:solidFill>
                        <a:latin typeface="Cambria Math" panose="02040503050406030204" pitchFamily="18" charset="0"/>
                        <a:ea typeface="Cambria Math" panose="02040503050406030204" pitchFamily="18" charset="0"/>
                      </a:rPr>
                      <m:t>&lt;</m:t>
                    </m:r>
                    <m:sSub>
                      <m:sSubPr>
                        <m:ctrlPr>
                          <a:rPr lang="en-SG" sz="2400" i="1">
                            <a:solidFill>
                              <a:srgbClr val="0000FF"/>
                            </a:solidFill>
                            <a:latin typeface="Cambria Math" panose="02040503050406030204" pitchFamily="18" charset="0"/>
                            <a:ea typeface="Cambria Math" panose="02040503050406030204" pitchFamily="18" charset="0"/>
                          </a:rPr>
                        </m:ctrlPr>
                      </m:sSubPr>
                      <m:e>
                        <m:r>
                          <a:rPr lang="en-SG" sz="2400" b="0" i="1" smtClean="0">
                            <a:solidFill>
                              <a:srgbClr val="0000FF"/>
                            </a:solidFill>
                            <a:latin typeface="Cambria Math" panose="02040503050406030204" pitchFamily="18" charset="0"/>
                            <a:ea typeface="Cambria Math" panose="02040503050406030204" pitchFamily="18" charset="0"/>
                          </a:rPr>
                          <m:t>𝑄</m:t>
                        </m:r>
                      </m:e>
                      <m:sub>
                        <m:r>
                          <a:rPr lang="en-SG" sz="2400" i="1">
                            <a:solidFill>
                              <a:srgbClr val="0000FF"/>
                            </a:solidFill>
                            <a:latin typeface="Cambria Math" panose="02040503050406030204" pitchFamily="18" charset="0"/>
                            <a:ea typeface="Cambria Math" panose="02040503050406030204" pitchFamily="18" charset="0"/>
                          </a:rPr>
                          <m:t>2</m:t>
                        </m:r>
                      </m:sub>
                    </m:sSub>
                    <m:r>
                      <a:rPr lang="en-SG" sz="2400" i="1">
                        <a:solidFill>
                          <a:srgbClr val="0000FF"/>
                        </a:solidFill>
                        <a:latin typeface="Cambria Math" panose="02040503050406030204" pitchFamily="18" charset="0"/>
                        <a:ea typeface="Cambria Math" panose="02040503050406030204" pitchFamily="18" charset="0"/>
                      </a:rPr>
                      <m:t>&lt;⋯&lt;</m:t>
                    </m:r>
                    <m:sSub>
                      <m:sSubPr>
                        <m:ctrlPr>
                          <a:rPr lang="en-SG" sz="2400" i="1">
                            <a:solidFill>
                              <a:srgbClr val="0000FF"/>
                            </a:solidFill>
                            <a:latin typeface="Cambria Math" panose="02040503050406030204" pitchFamily="18" charset="0"/>
                            <a:ea typeface="Cambria Math" panose="02040503050406030204" pitchFamily="18" charset="0"/>
                          </a:rPr>
                        </m:ctrlPr>
                      </m:sSubPr>
                      <m:e>
                        <m:r>
                          <a:rPr lang="en-SG" sz="2400" b="0" i="1" smtClean="0">
                            <a:solidFill>
                              <a:srgbClr val="0000FF"/>
                            </a:solidFill>
                            <a:latin typeface="Cambria Math" panose="02040503050406030204" pitchFamily="18" charset="0"/>
                            <a:ea typeface="Cambria Math" panose="02040503050406030204" pitchFamily="18" charset="0"/>
                          </a:rPr>
                          <m:t>𝑄</m:t>
                        </m:r>
                      </m:e>
                      <m:sub>
                        <m:r>
                          <a:rPr lang="en-SG" sz="2400" i="1">
                            <a:solidFill>
                              <a:srgbClr val="0000FF"/>
                            </a:solidFill>
                            <a:latin typeface="Cambria Math" panose="02040503050406030204" pitchFamily="18" charset="0"/>
                            <a:ea typeface="Cambria Math" panose="02040503050406030204" pitchFamily="18" charset="0"/>
                          </a:rPr>
                          <m:t>77</m:t>
                        </m:r>
                      </m:sub>
                    </m:sSub>
                    <m:r>
                      <a:rPr lang="en-SG" sz="2400" i="1">
                        <a:solidFill>
                          <a:srgbClr val="0000FF"/>
                        </a:solidFill>
                        <a:latin typeface="Cambria Math" panose="02040503050406030204" pitchFamily="18" charset="0"/>
                        <a:ea typeface="Cambria Math" panose="02040503050406030204" pitchFamily="18" charset="0"/>
                      </a:rPr>
                      <m:t>≤1</m:t>
                    </m:r>
                    <m:r>
                      <a:rPr lang="en-SG" sz="2400" b="0" i="1" smtClean="0">
                        <a:solidFill>
                          <a:srgbClr val="0000FF"/>
                        </a:solidFill>
                        <a:latin typeface="Cambria Math" panose="02040503050406030204" pitchFamily="18" charset="0"/>
                        <a:ea typeface="Cambria Math" panose="02040503050406030204" pitchFamily="18" charset="0"/>
                      </a:rPr>
                      <m:t>53</m:t>
                    </m:r>
                  </m:oMath>
                </a14:m>
                <a:r>
                  <a:rPr lang="en-SG" sz="2400" dirty="0"/>
                  <a:t>.</a:t>
                </a:r>
              </a:p>
              <a:p>
                <a:pPr marL="465138" indent="-465138">
                  <a:spcAft>
                    <a:spcPts val="600"/>
                  </a:spcAft>
                </a:pPr>
                <a:r>
                  <a:rPr lang="en-SG" sz="2400" dirty="0"/>
                  <a:t>4.	There are 154  numbers in the </a:t>
                </a:r>
                <a14:m>
                  <m:oMath xmlns:m="http://schemas.openxmlformats.org/officeDocument/2006/math">
                    <m:sSub>
                      <m:sSubPr>
                        <m:ctrlPr>
                          <a:rPr lang="en-SG" sz="2400" i="1">
                            <a:latin typeface="Cambria Math" panose="02040503050406030204" pitchFamily="18" charset="0"/>
                          </a:rPr>
                        </m:ctrlPr>
                      </m:sSubPr>
                      <m:e>
                        <m:r>
                          <a:rPr lang="en-SG" sz="2400" i="1">
                            <a:latin typeface="Cambria Math" panose="02040503050406030204" pitchFamily="18" charset="0"/>
                          </a:rPr>
                          <m:t>𝑃</m:t>
                        </m:r>
                      </m:e>
                      <m:sub>
                        <m:r>
                          <a:rPr lang="en-SG" sz="2400" i="1">
                            <a:latin typeface="Cambria Math" panose="02040503050406030204" pitchFamily="18" charset="0"/>
                          </a:rPr>
                          <m:t>𝑖</m:t>
                        </m:r>
                      </m:sub>
                    </m:sSub>
                  </m:oMath>
                </a14:m>
                <a:r>
                  <a:rPr lang="en-SG" sz="2400" dirty="0"/>
                  <a:t>’s and </a:t>
                </a:r>
                <a14:m>
                  <m:oMath xmlns:m="http://schemas.openxmlformats.org/officeDocument/2006/math">
                    <m:sSub>
                      <m:sSubPr>
                        <m:ctrlPr>
                          <a:rPr lang="en-SG" sz="2400" i="1">
                            <a:latin typeface="Cambria Math" panose="02040503050406030204" pitchFamily="18" charset="0"/>
                          </a:rPr>
                        </m:ctrlPr>
                      </m:sSubPr>
                      <m:e>
                        <m:r>
                          <a:rPr lang="en-SG" sz="2400" b="0" i="1" smtClean="0">
                            <a:latin typeface="Cambria Math" panose="02040503050406030204" pitchFamily="18" charset="0"/>
                          </a:rPr>
                          <m:t>𝑄</m:t>
                        </m:r>
                      </m:e>
                      <m:sub>
                        <m:r>
                          <a:rPr lang="en-SG" sz="2400" i="1">
                            <a:latin typeface="Cambria Math" panose="02040503050406030204" pitchFamily="18" charset="0"/>
                          </a:rPr>
                          <m:t>𝑖</m:t>
                        </m:r>
                      </m:sub>
                    </m:sSub>
                  </m:oMath>
                </a14:m>
                <a:r>
                  <a:rPr lang="en-SG" sz="2400" dirty="0"/>
                  <a:t>’s (in the sequence P1, P2, … P77, Q1, Q2, … Q77), but each </a:t>
                </a:r>
                <a14:m>
                  <m:oMath xmlns:m="http://schemas.openxmlformats.org/officeDocument/2006/math">
                    <m:sSub>
                      <m:sSubPr>
                        <m:ctrlPr>
                          <a:rPr lang="en-SG" sz="2400" i="1">
                            <a:latin typeface="Cambria Math" panose="02040503050406030204" pitchFamily="18" charset="0"/>
                          </a:rPr>
                        </m:ctrlPr>
                      </m:sSubPr>
                      <m:e>
                        <m:r>
                          <a:rPr lang="en-SG" sz="2400" i="1">
                            <a:latin typeface="Cambria Math" panose="02040503050406030204" pitchFamily="18" charset="0"/>
                          </a:rPr>
                          <m:t>𝑃</m:t>
                        </m:r>
                      </m:e>
                      <m:sub>
                        <m:r>
                          <a:rPr lang="en-SG" sz="2400" i="1">
                            <a:latin typeface="Cambria Math" panose="02040503050406030204" pitchFamily="18" charset="0"/>
                          </a:rPr>
                          <m:t>𝑖</m:t>
                        </m:r>
                      </m:sub>
                    </m:sSub>
                  </m:oMath>
                </a14:m>
                <a:r>
                  <a:rPr lang="en-SG" sz="2400" dirty="0"/>
                  <a:t> or </a:t>
                </a:r>
                <a14:m>
                  <m:oMath xmlns:m="http://schemas.openxmlformats.org/officeDocument/2006/math">
                    <m:sSub>
                      <m:sSubPr>
                        <m:ctrlPr>
                          <a:rPr lang="en-SG" sz="2400" i="1">
                            <a:latin typeface="Cambria Math" panose="02040503050406030204" pitchFamily="18" charset="0"/>
                          </a:rPr>
                        </m:ctrlPr>
                      </m:sSubPr>
                      <m:e>
                        <m:r>
                          <a:rPr lang="en-SG" sz="2400" b="0" i="1" smtClean="0">
                            <a:latin typeface="Cambria Math" panose="02040503050406030204" pitchFamily="18" charset="0"/>
                          </a:rPr>
                          <m:t>𝑄</m:t>
                        </m:r>
                      </m:e>
                      <m:sub>
                        <m:r>
                          <a:rPr lang="en-SG" sz="2400" i="1">
                            <a:latin typeface="Cambria Math" panose="02040503050406030204" pitchFamily="18" charset="0"/>
                          </a:rPr>
                          <m:t>𝑖</m:t>
                        </m:r>
                      </m:sub>
                    </m:sSub>
                  </m:oMath>
                </a14:m>
                <a:r>
                  <a:rPr lang="en-SG" sz="2400" dirty="0"/>
                  <a:t> can take a value in the range from 1 to 153 inclusive.</a:t>
                </a:r>
              </a:p>
              <a:p>
                <a:pPr marL="465138" indent="-465138">
                  <a:spcAft>
                    <a:spcPts val="600"/>
                  </a:spcAft>
                </a:pPr>
                <a:r>
                  <a:rPr lang="en-SG" sz="2400" dirty="0"/>
                  <a:t>5.	</a:t>
                </a:r>
                <a:r>
                  <a:rPr lang="en-SG" sz="2400" dirty="0">
                    <a:solidFill>
                      <a:srgbClr val="006600"/>
                    </a:solidFill>
                  </a:rPr>
                  <a:t>By PHP</a:t>
                </a:r>
                <a:r>
                  <a:rPr lang="en-SG" sz="2400" dirty="0"/>
                  <a:t>, two of the numbers must be equal. Hence, </a:t>
                </a:r>
                <a14:m>
                  <m:oMath xmlns:m="http://schemas.openxmlformats.org/officeDocument/2006/math">
                    <m:sSub>
                      <m:sSubPr>
                        <m:ctrlPr>
                          <a:rPr lang="en-SG" sz="2400" i="1" smtClean="0">
                            <a:solidFill>
                              <a:srgbClr val="C00000"/>
                            </a:solidFill>
                            <a:latin typeface="Cambria Math" panose="02040503050406030204" pitchFamily="18" charset="0"/>
                          </a:rPr>
                        </m:ctrlPr>
                      </m:sSubPr>
                      <m:e>
                        <m:r>
                          <a:rPr lang="en-SG" sz="2400" i="1">
                            <a:solidFill>
                              <a:srgbClr val="C00000"/>
                            </a:solidFill>
                            <a:latin typeface="Cambria Math" panose="02040503050406030204" pitchFamily="18" charset="0"/>
                          </a:rPr>
                          <m:t>𝑃</m:t>
                        </m:r>
                      </m:e>
                      <m:sub>
                        <m:r>
                          <a:rPr lang="en-SG" sz="2400" b="0" i="1" smtClean="0">
                            <a:solidFill>
                              <a:srgbClr val="C00000"/>
                            </a:solidFill>
                            <a:latin typeface="Cambria Math" panose="02040503050406030204" pitchFamily="18" charset="0"/>
                          </a:rPr>
                          <m:t>𝑗</m:t>
                        </m:r>
                      </m:sub>
                    </m:sSub>
                    <m:r>
                      <a:rPr lang="en-SG" sz="2400" b="0" i="1" smtClean="0">
                        <a:solidFill>
                          <a:srgbClr val="C00000"/>
                        </a:solidFill>
                        <a:latin typeface="Cambria Math" panose="02040503050406030204" pitchFamily="18" charset="0"/>
                      </a:rPr>
                      <m:t>=</m:t>
                    </m:r>
                    <m:sSub>
                      <m:sSubPr>
                        <m:ctrlPr>
                          <a:rPr lang="en-SG" sz="2400" i="1">
                            <a:solidFill>
                              <a:srgbClr val="C00000"/>
                            </a:solidFill>
                            <a:latin typeface="Cambria Math" panose="02040503050406030204" pitchFamily="18" charset="0"/>
                          </a:rPr>
                        </m:ctrlPr>
                      </m:sSubPr>
                      <m:e>
                        <m:r>
                          <a:rPr lang="en-SG" sz="2400" b="0" i="1" smtClean="0">
                            <a:solidFill>
                              <a:srgbClr val="C00000"/>
                            </a:solidFill>
                            <a:latin typeface="Cambria Math" panose="02040503050406030204" pitchFamily="18" charset="0"/>
                          </a:rPr>
                          <m:t>𝑄</m:t>
                        </m:r>
                      </m:e>
                      <m:sub>
                        <m:r>
                          <a:rPr lang="en-SG" sz="2400" i="1">
                            <a:solidFill>
                              <a:srgbClr val="C00000"/>
                            </a:solidFill>
                            <a:latin typeface="Cambria Math" panose="02040503050406030204" pitchFamily="18" charset="0"/>
                          </a:rPr>
                          <m:t>𝑖</m:t>
                        </m:r>
                      </m:sub>
                    </m:sSub>
                    <m:r>
                      <a:rPr lang="en-SG" sz="2400" b="0" i="1" smtClean="0">
                        <a:solidFill>
                          <a:srgbClr val="C00000"/>
                        </a:solidFill>
                        <a:latin typeface="Cambria Math" panose="02040503050406030204" pitchFamily="18" charset="0"/>
                      </a:rPr>
                      <m:t>=</m:t>
                    </m:r>
                    <m:sSub>
                      <m:sSubPr>
                        <m:ctrlPr>
                          <a:rPr lang="en-SG" sz="2400" i="1">
                            <a:solidFill>
                              <a:srgbClr val="C00000"/>
                            </a:solidFill>
                            <a:latin typeface="Cambria Math" panose="02040503050406030204" pitchFamily="18" charset="0"/>
                          </a:rPr>
                        </m:ctrlPr>
                      </m:sSubPr>
                      <m:e>
                        <m:r>
                          <a:rPr lang="en-SG" sz="2400" i="1">
                            <a:solidFill>
                              <a:srgbClr val="C00000"/>
                            </a:solidFill>
                            <a:latin typeface="Cambria Math" panose="02040503050406030204" pitchFamily="18" charset="0"/>
                          </a:rPr>
                          <m:t>𝑃</m:t>
                        </m:r>
                      </m:e>
                      <m:sub>
                        <m:r>
                          <a:rPr lang="en-SG" sz="2400" i="1">
                            <a:solidFill>
                              <a:srgbClr val="C00000"/>
                            </a:solidFill>
                            <a:latin typeface="Cambria Math" panose="02040503050406030204" pitchFamily="18" charset="0"/>
                          </a:rPr>
                          <m:t>𝑖</m:t>
                        </m:r>
                      </m:sub>
                    </m:sSub>
                    <m:r>
                      <a:rPr lang="en-SG" sz="2400" b="0" i="1" smtClean="0">
                        <a:solidFill>
                          <a:srgbClr val="C00000"/>
                        </a:solidFill>
                        <a:latin typeface="Cambria Math" panose="02040503050406030204" pitchFamily="18" charset="0"/>
                      </a:rPr>
                      <m:t>+21</m:t>
                    </m:r>
                  </m:oMath>
                </a14:m>
                <a:r>
                  <a:rPr lang="en-SG" sz="2400" dirty="0">
                    <a:solidFill>
                      <a:srgbClr val="C00000"/>
                    </a:solidFill>
                  </a:rPr>
                  <a:t> </a:t>
                </a:r>
                <a:r>
                  <a:rPr lang="en-SG" sz="2400" dirty="0"/>
                  <a:t>for some </a:t>
                </a:r>
                <a14:m>
                  <m:oMath xmlns:m="http://schemas.openxmlformats.org/officeDocument/2006/math">
                    <m:r>
                      <a:rPr lang="en-SG" sz="2400" i="1" dirty="0" smtClean="0">
                        <a:latin typeface="Cambria Math" panose="02040503050406030204" pitchFamily="18" charset="0"/>
                      </a:rPr>
                      <m:t>𝑖</m:t>
                    </m:r>
                    <m:r>
                      <a:rPr lang="en-SG" sz="2400" i="1" dirty="0" smtClean="0">
                        <a:latin typeface="Cambria Math" panose="02040503050406030204" pitchFamily="18" charset="0"/>
                      </a:rPr>
                      <m:t>,</m:t>
                    </m:r>
                    <m:r>
                      <a:rPr lang="en-SG" sz="2400" i="1" dirty="0" smtClean="0">
                        <a:latin typeface="Cambria Math" panose="02040503050406030204" pitchFamily="18" charset="0"/>
                      </a:rPr>
                      <m:t>𝑗</m:t>
                    </m:r>
                  </m:oMath>
                </a14:m>
                <a:r>
                  <a:rPr lang="en-SG" sz="2400" dirty="0"/>
                  <a:t>.</a:t>
                </a:r>
              </a:p>
              <a:p>
                <a:pPr marL="465138" indent="-465138">
                  <a:spcAft>
                    <a:spcPts val="600"/>
                  </a:spcAft>
                </a:pPr>
                <a:r>
                  <a:rPr lang="en-SG" sz="2400" dirty="0"/>
                  <a:t>6.	Therefore, the chess master has played exactly 21 games in the consecutive days </a:t>
                </a:r>
                <a:r>
                  <a:rPr lang="en-SG" sz="2400" dirty="0">
                    <a:solidFill>
                      <a:srgbClr val="0000FF"/>
                    </a:solidFill>
                  </a:rPr>
                  <a:t>from day </a:t>
                </a:r>
                <a14:m>
                  <m:oMath xmlns:m="http://schemas.openxmlformats.org/officeDocument/2006/math">
                    <m:r>
                      <a:rPr lang="en-SG" sz="2400" i="1" dirty="0" smtClean="0">
                        <a:solidFill>
                          <a:srgbClr val="0000FF"/>
                        </a:solidFill>
                        <a:latin typeface="Cambria Math" panose="02040503050406030204" pitchFamily="18" charset="0"/>
                      </a:rPr>
                      <m:t>𝑖</m:t>
                    </m:r>
                    <m:r>
                      <a:rPr lang="en-SG" sz="2400" i="1" dirty="0" smtClean="0">
                        <a:solidFill>
                          <a:srgbClr val="0000FF"/>
                        </a:solidFill>
                        <a:latin typeface="Cambria Math" panose="02040503050406030204" pitchFamily="18" charset="0"/>
                      </a:rPr>
                      <m:t>+1</m:t>
                    </m:r>
                  </m:oMath>
                </a14:m>
                <a:r>
                  <a:rPr lang="en-SG" sz="2400" dirty="0">
                    <a:solidFill>
                      <a:srgbClr val="0000FF"/>
                    </a:solidFill>
                  </a:rPr>
                  <a:t> to day </a:t>
                </a:r>
                <a14:m>
                  <m:oMath xmlns:m="http://schemas.openxmlformats.org/officeDocument/2006/math">
                    <m:r>
                      <a:rPr lang="en-SG" sz="2400" i="1" dirty="0" smtClean="0">
                        <a:solidFill>
                          <a:srgbClr val="0000FF"/>
                        </a:solidFill>
                        <a:latin typeface="Cambria Math" panose="02040503050406030204" pitchFamily="18" charset="0"/>
                      </a:rPr>
                      <m:t>𝑗</m:t>
                    </m:r>
                  </m:oMath>
                </a14:m>
                <a:r>
                  <a:rPr lang="en-SG" sz="2400" dirty="0"/>
                  <a:t> inclusive.</a:t>
                </a:r>
              </a:p>
            </p:txBody>
          </p:sp>
        </mc:Choice>
        <mc:Fallback xmlns="">
          <p:sp>
            <p:nvSpPr>
              <p:cNvPr id="7" name="TextBox 6">
                <a:extLst>
                  <a:ext uri="{FF2B5EF4-FFF2-40B4-BE49-F238E27FC236}">
                    <a16:creationId xmlns:a16="http://schemas.microsoft.com/office/drawing/2014/main" id="{E2348F1F-111C-46D9-8566-4C09DE76762A}"/>
                  </a:ext>
                </a:extLst>
              </p:cNvPr>
              <p:cNvSpPr txBox="1">
                <a:spLocks noRot="1" noChangeAspect="1" noMove="1" noResize="1" noEditPoints="1" noAdjustHandles="1" noChangeArrowheads="1" noChangeShapeType="1" noTextEdit="1"/>
              </p:cNvSpPr>
              <p:nvPr/>
            </p:nvSpPr>
            <p:spPr>
              <a:xfrm>
                <a:off x="464695" y="2297956"/>
                <a:ext cx="11377534" cy="4200124"/>
              </a:xfrm>
              <a:prstGeom prst="rect">
                <a:avLst/>
              </a:prstGeom>
              <a:blipFill>
                <a:blip r:embed="rId2"/>
                <a:stretch>
                  <a:fillRect l="-803" t="-1161" b="-2322"/>
                </a:stretch>
              </a:blipFill>
            </p:spPr>
            <p:txBody>
              <a:bodyPr/>
              <a:lstStyle/>
              <a:p>
                <a:r>
                  <a:rPr lang="en-GB">
                    <a:noFill/>
                  </a:rPr>
                  <a:t> </a:t>
                </a:r>
              </a:p>
            </p:txBody>
          </p:sp>
        </mc:Fallback>
      </mc:AlternateContent>
    </p:spTree>
    <p:extLst>
      <p:ext uri="{BB962C8B-B14F-4D97-AF65-F5344CB8AC3E}">
        <p14:creationId xmlns:p14="http://schemas.microsoft.com/office/powerpoint/2010/main" val="333002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bg/>
                                          </p:spTgt>
                                        </p:tgtEl>
                                        <p:attrNameLst>
                                          <p:attrName>style.visibility</p:attrName>
                                        </p:attrNameLst>
                                      </p:cBhvr>
                                      <p:to>
                                        <p:strVal val="visible"/>
                                      </p:to>
                                    </p:set>
                                    <p:animEffect transition="in" filter="dissolve">
                                      <p:cBhvr>
                                        <p:cTn id="7" dur="500"/>
                                        <p:tgtEl>
                                          <p:spTgt spid="7">
                                            <p:bg/>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dissolve">
                                      <p:cBhvr>
                                        <p:cTn id="12" dur="5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animEffect transition="in" filter="dissolve">
                                      <p:cBhvr>
                                        <p:cTn id="17" dur="500"/>
                                        <p:tgtEl>
                                          <p:spTgt spid="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7">
                                            <p:txEl>
                                              <p:pRg st="2" end="2"/>
                                            </p:txEl>
                                          </p:spTgt>
                                        </p:tgtEl>
                                        <p:attrNameLst>
                                          <p:attrName>style.visibility</p:attrName>
                                        </p:attrNameLst>
                                      </p:cBhvr>
                                      <p:to>
                                        <p:strVal val="visible"/>
                                      </p:to>
                                    </p:set>
                                    <p:animEffect transition="in" filter="dissolve">
                                      <p:cBhvr>
                                        <p:cTn id="22" dur="500"/>
                                        <p:tgtEl>
                                          <p:spTgt spid="7">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7">
                                            <p:txEl>
                                              <p:pRg st="3" end="3"/>
                                            </p:txEl>
                                          </p:spTgt>
                                        </p:tgtEl>
                                        <p:attrNameLst>
                                          <p:attrName>style.visibility</p:attrName>
                                        </p:attrNameLst>
                                      </p:cBhvr>
                                      <p:to>
                                        <p:strVal val="visible"/>
                                      </p:to>
                                    </p:set>
                                    <p:animEffect transition="in" filter="dissolve">
                                      <p:cBhvr>
                                        <p:cTn id="27" dur="500"/>
                                        <p:tgtEl>
                                          <p:spTgt spid="7">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7">
                                            <p:txEl>
                                              <p:pRg st="4" end="4"/>
                                            </p:txEl>
                                          </p:spTgt>
                                        </p:tgtEl>
                                        <p:attrNameLst>
                                          <p:attrName>style.visibility</p:attrName>
                                        </p:attrNameLst>
                                      </p:cBhvr>
                                      <p:to>
                                        <p:strVal val="visible"/>
                                      </p:to>
                                    </p:set>
                                    <p:animEffect transition="in" filter="dissolve">
                                      <p:cBhvr>
                                        <p:cTn id="32" dur="500"/>
                                        <p:tgtEl>
                                          <p:spTgt spid="7">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7">
                                            <p:txEl>
                                              <p:pRg st="5" end="5"/>
                                            </p:txEl>
                                          </p:spTgt>
                                        </p:tgtEl>
                                        <p:attrNameLst>
                                          <p:attrName>style.visibility</p:attrName>
                                        </p:attrNameLst>
                                      </p:cBhvr>
                                      <p:to>
                                        <p:strVal val="visible"/>
                                      </p:to>
                                    </p:set>
                                    <p:animEffect transition="in" filter="dissolve">
                                      <p:cBhvr>
                                        <p:cTn id="37"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D807A13-2327-4E5F-A79E-55A24B63E860}"/>
              </a:ext>
            </a:extLst>
          </p:cNvPr>
          <p:cNvSpPr txBox="1"/>
          <p:nvPr/>
        </p:nvSpPr>
        <p:spPr>
          <a:xfrm>
            <a:off x="1374371" y="2605697"/>
            <a:ext cx="9443258" cy="1461939"/>
          </a:xfrm>
          <a:prstGeom prst="rect">
            <a:avLst/>
          </a:prstGeom>
          <a:noFill/>
        </p:spPr>
        <p:txBody>
          <a:bodyPr wrap="square" rtlCol="0">
            <a:spAutoFit/>
          </a:bodyPr>
          <a:lstStyle/>
          <a:p>
            <a:pPr algn="ctr">
              <a:spcAft>
                <a:spcPts val="600"/>
              </a:spcAft>
            </a:pPr>
            <a:r>
              <a:rPr lang="en-SG" sz="4800" b="1" dirty="0"/>
              <a:t>End of Tutorial 9</a:t>
            </a:r>
          </a:p>
          <a:p>
            <a:pPr algn="ctr">
              <a:spcAft>
                <a:spcPts val="600"/>
              </a:spcAft>
            </a:pPr>
            <a:r>
              <a:rPr lang="en-SG" sz="3600" dirty="0"/>
              <a:t>Assignment 2 due on 3 November</a:t>
            </a:r>
          </a:p>
        </p:txBody>
      </p:sp>
      <p:sp>
        <p:nvSpPr>
          <p:cNvPr id="4" name="Slide Number Placeholder 1"/>
          <p:cNvSpPr>
            <a:spLocks noGrp="1"/>
          </p:cNvSpPr>
          <p:nvPr>
            <p:ph type="sldNum" sz="quarter" idx="12"/>
          </p:nvPr>
        </p:nvSpPr>
        <p:spPr>
          <a:xfrm>
            <a:off x="10485783" y="6492875"/>
            <a:ext cx="1706217" cy="365125"/>
          </a:xfrm>
        </p:spPr>
        <p:txBody>
          <a:bodyPr/>
          <a:lstStyle/>
          <a:p>
            <a:fld id="{576A5E36-E009-4840-A577-F8CF29116582}" type="slidenum">
              <a:rPr lang="en-US" sz="1600" smtClean="0">
                <a:solidFill>
                  <a:schemeClr val="bg1"/>
                </a:solidFill>
              </a:rPr>
              <a:t>19</a:t>
            </a:fld>
            <a:endParaRPr lang="en-US" sz="1600" dirty="0">
              <a:solidFill>
                <a:schemeClr val="bg1"/>
              </a:solidFill>
            </a:endParaRPr>
          </a:p>
        </p:txBody>
      </p:sp>
    </p:spTree>
    <p:extLst>
      <p:ext uri="{BB962C8B-B14F-4D97-AF65-F5344CB8AC3E}">
        <p14:creationId xmlns:p14="http://schemas.microsoft.com/office/powerpoint/2010/main" val="12475704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69F4C-C8D6-1712-98BB-451698861E9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07B97B0-B5F1-FFCD-A51C-8694FCF32E78}"/>
              </a:ext>
            </a:extLst>
          </p:cNvPr>
          <p:cNvSpPr txBox="1"/>
          <p:nvPr/>
        </p:nvSpPr>
        <p:spPr>
          <a:xfrm>
            <a:off x="612371" y="596787"/>
            <a:ext cx="9443258" cy="830997"/>
          </a:xfrm>
          <a:prstGeom prst="rect">
            <a:avLst/>
          </a:prstGeom>
          <a:noFill/>
        </p:spPr>
        <p:txBody>
          <a:bodyPr wrap="square" rtlCol="0">
            <a:spAutoFit/>
          </a:bodyPr>
          <a:lstStyle/>
          <a:p>
            <a:pPr>
              <a:spcAft>
                <a:spcPts val="600"/>
              </a:spcAft>
            </a:pPr>
            <a:r>
              <a:rPr lang="en-SG" sz="4800" b="1" dirty="0"/>
              <a:t>Notes for Assignment 2:</a:t>
            </a:r>
            <a:endParaRPr lang="en-SG" sz="3600" dirty="0"/>
          </a:p>
        </p:txBody>
      </p:sp>
      <p:sp>
        <p:nvSpPr>
          <p:cNvPr id="4" name="Slide Number Placeholder 1">
            <a:extLst>
              <a:ext uri="{FF2B5EF4-FFF2-40B4-BE49-F238E27FC236}">
                <a16:creationId xmlns:a16="http://schemas.microsoft.com/office/drawing/2014/main" id="{0E4D8A36-0E6E-7D03-9567-991A16DCD331}"/>
              </a:ext>
            </a:extLst>
          </p:cNvPr>
          <p:cNvSpPr>
            <a:spLocks noGrp="1"/>
          </p:cNvSpPr>
          <p:nvPr>
            <p:ph type="sldNum" sz="quarter" idx="12"/>
          </p:nvPr>
        </p:nvSpPr>
        <p:spPr>
          <a:xfrm>
            <a:off x="10485783" y="6492875"/>
            <a:ext cx="1706217" cy="365125"/>
          </a:xfrm>
        </p:spPr>
        <p:txBody>
          <a:bodyPr/>
          <a:lstStyle/>
          <a:p>
            <a:fld id="{576A5E36-E009-4840-A577-F8CF29116582}" type="slidenum">
              <a:rPr lang="en-US" sz="1600" smtClean="0">
                <a:solidFill>
                  <a:schemeClr val="bg1"/>
                </a:solidFill>
              </a:rPr>
              <a:t>20</a:t>
            </a:fld>
            <a:endParaRPr lang="en-US" sz="1600" dirty="0">
              <a:solidFill>
                <a:schemeClr val="bg1"/>
              </a:solidFill>
            </a:endParaRPr>
          </a:p>
        </p:txBody>
      </p:sp>
      <p:sp>
        <p:nvSpPr>
          <p:cNvPr id="2" name="TextBox 1">
            <a:extLst>
              <a:ext uri="{FF2B5EF4-FFF2-40B4-BE49-F238E27FC236}">
                <a16:creationId xmlns:a16="http://schemas.microsoft.com/office/drawing/2014/main" id="{ED12625D-70D0-7C99-1445-DC2CF7D1DAFE}"/>
              </a:ext>
            </a:extLst>
          </p:cNvPr>
          <p:cNvSpPr txBox="1"/>
          <p:nvPr/>
        </p:nvSpPr>
        <p:spPr>
          <a:xfrm>
            <a:off x="748145" y="1530927"/>
            <a:ext cx="10785764" cy="2554545"/>
          </a:xfrm>
          <a:prstGeom prst="rect">
            <a:avLst/>
          </a:prstGeom>
          <a:noFill/>
        </p:spPr>
        <p:txBody>
          <a:bodyPr wrap="square" rtlCol="0">
            <a:spAutoFit/>
          </a:bodyPr>
          <a:lstStyle/>
          <a:p>
            <a:pPr marL="285750" indent="-285750">
              <a:buFont typeface="Arial" panose="020B0604020202020204" pitchFamily="34" charset="0"/>
              <a:buChar char="•"/>
            </a:pPr>
            <a:r>
              <a:rPr lang="en-SG" sz="2000" dirty="0"/>
              <a:t>Don’t forget to still write out everything rigorously, </a:t>
            </a:r>
            <a:r>
              <a:rPr lang="en-SG" sz="2000" b="1" dirty="0"/>
              <a:t>especially MI questions.</a:t>
            </a:r>
            <a:endParaRPr lang="en-GB" sz="2000" b="1" dirty="0"/>
          </a:p>
          <a:p>
            <a:r>
              <a:rPr lang="en-SG" sz="2000" b="1" dirty="0"/>
              <a:t>Follow the usual format exactly, otherwise you may miss marks.</a:t>
            </a:r>
          </a:p>
          <a:p>
            <a:endParaRPr lang="en-SG" sz="2000" b="1" dirty="0"/>
          </a:p>
          <a:p>
            <a:pPr marL="285750" indent="-285750">
              <a:buFont typeface="Arial" panose="020B0604020202020204" pitchFamily="34" charset="0"/>
              <a:buChar char="•"/>
            </a:pPr>
            <a:r>
              <a:rPr lang="en-SG" sz="2000" dirty="0"/>
              <a:t>Lots of the questions are true/false questions -&gt; proving whether they are true/false.</a:t>
            </a:r>
          </a:p>
          <a:p>
            <a:r>
              <a:rPr lang="en-GB" sz="2000" dirty="0"/>
              <a:t>As you can expect, you will lose a *lot* of marks if you choose the wrong answer, so </a:t>
            </a:r>
            <a:r>
              <a:rPr lang="en-GB" sz="2000" b="1" dirty="0"/>
              <a:t>double check.</a:t>
            </a:r>
          </a:p>
          <a:p>
            <a:r>
              <a:rPr lang="en-GB" sz="2000" dirty="0"/>
              <a:t>(Of course, the bulk of the marks will still be in the proof, so randomly guessing is not useful)</a:t>
            </a:r>
          </a:p>
          <a:p>
            <a:endParaRPr lang="en-GB" sz="2000" dirty="0"/>
          </a:p>
          <a:p>
            <a:r>
              <a:rPr lang="en-GB" sz="2000" b="1" dirty="0"/>
              <a:t>Don’t just rely on common sense, research and verify.</a:t>
            </a:r>
            <a:endParaRPr lang="en-SG" sz="2000" b="1" dirty="0"/>
          </a:p>
        </p:txBody>
      </p:sp>
    </p:spTree>
    <p:extLst>
      <p:ext uri="{BB962C8B-B14F-4D97-AF65-F5344CB8AC3E}">
        <p14:creationId xmlns:p14="http://schemas.microsoft.com/office/powerpoint/2010/main" val="403932510"/>
      </p:ext>
    </p:extLst>
  </p:cSld>
  <p:clrMapOvr>
    <a:masterClrMapping/>
  </p:clrMapOvr>
</p:sld>
</file>

<file path=ppt/theme/theme1.xml><?xml version="1.0" encoding="utf-8"?>
<a:theme xmlns:a="http://schemas.openxmlformats.org/drawingml/2006/main" name="Theme1">
  <a:themeElements>
    <a:clrScheme name="Custom 1">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Theme1" id="{0C403805-0F28-0D4B-9A9D-D07C3B5073D2}" vid="{C6A40526-DE8D-994A-A983-BBF5A3AC017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3136</TotalTime>
  <Words>2146</Words>
  <Application>Microsoft Office PowerPoint</Application>
  <PresentationFormat>Widescreen</PresentationFormat>
  <Paragraphs>214</Paragraphs>
  <Slides>20</Slides>
  <Notes>0</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CMR10</vt:lpstr>
      <vt:lpstr>Arial</vt:lpstr>
      <vt:lpstr>Calibri</vt:lpstr>
      <vt:lpstr>Cambria Math</vt:lpstr>
      <vt:lpstr>Corbel</vt:lpstr>
      <vt:lpstr>Times New Roman</vt:lpstr>
      <vt:lpstr>Theme1</vt:lpstr>
      <vt:lpstr>Cs1231S tutorial #9</vt:lpstr>
      <vt:lpstr>Learning objectives of this tutorial</vt:lpstr>
      <vt:lpstr>Q1. </vt:lpstr>
      <vt:lpstr>Q1. </vt:lpstr>
      <vt:lpstr>Q2.</vt:lpstr>
      <vt:lpstr>Q3.</vt:lpstr>
      <vt:lpstr>Q4.</vt:lpstr>
      <vt:lpstr>Q5.</vt:lpstr>
      <vt:lpstr>Q5.</vt:lpstr>
      <vt:lpstr>Q5.</vt:lpstr>
      <vt:lpstr>Q6.</vt:lpstr>
      <vt:lpstr>Q7. </vt:lpstr>
      <vt:lpstr>Q7. </vt:lpstr>
      <vt:lpstr>Q8.</vt:lpstr>
      <vt:lpstr>Q9.</vt:lpstr>
      <vt:lpstr>Q9.</vt:lpstr>
      <vt:lpstr>Q10.</vt:lpstr>
      <vt:lpstr>Q11.</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Cs1231S tutorial #3</dc:title>
  <dc:creator>Eng Cheong Teo</dc:creator>
  <cp:lastModifiedBy>Gary Axel Muliyono</cp:lastModifiedBy>
  <cp:revision>312</cp:revision>
  <dcterms:created xsi:type="dcterms:W3CDTF">2020-08-29T13:48:12Z</dcterms:created>
  <dcterms:modified xsi:type="dcterms:W3CDTF">2025-10-29T01:45:22Z</dcterms:modified>
</cp:coreProperties>
</file>